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5" r:id="rId1"/>
  </p:sldMasterIdLst>
  <p:sldIdLst>
    <p:sldId id="256" r:id="rId2"/>
    <p:sldId id="257" r:id="rId3"/>
    <p:sldId id="258" r:id="rId4"/>
    <p:sldId id="288" r:id="rId5"/>
    <p:sldId id="291" r:id="rId6"/>
    <p:sldId id="259" r:id="rId7"/>
    <p:sldId id="260" r:id="rId8"/>
    <p:sldId id="261" r:id="rId9"/>
    <p:sldId id="262" r:id="rId10"/>
    <p:sldId id="297" r:id="rId11"/>
    <p:sldId id="263" r:id="rId12"/>
    <p:sldId id="265" r:id="rId13"/>
    <p:sldId id="266" r:id="rId14"/>
    <p:sldId id="267" r:id="rId15"/>
    <p:sldId id="268" r:id="rId16"/>
    <p:sldId id="269" r:id="rId17"/>
    <p:sldId id="270" r:id="rId18"/>
    <p:sldId id="293" r:id="rId19"/>
    <p:sldId id="271" r:id="rId20"/>
    <p:sldId id="272" r:id="rId21"/>
    <p:sldId id="273" r:id="rId22"/>
    <p:sldId id="274" r:id="rId23"/>
    <p:sldId id="294" r:id="rId24"/>
    <p:sldId id="275" r:id="rId25"/>
    <p:sldId id="276" r:id="rId26"/>
    <p:sldId id="295" r:id="rId27"/>
    <p:sldId id="277" r:id="rId28"/>
    <p:sldId id="278" r:id="rId29"/>
    <p:sldId id="296" r:id="rId30"/>
    <p:sldId id="279" r:id="rId31"/>
    <p:sldId id="280" r:id="rId32"/>
    <p:sldId id="281" r:id="rId33"/>
    <p:sldId id="282" r:id="rId34"/>
    <p:sldId id="289"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D648B"/>
    <a:srgbClr val="308FB9"/>
    <a:srgbClr val="1778CF"/>
    <a:srgbClr val="8556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5" d="100"/>
          <a:sy n="85" d="100"/>
        </p:scale>
        <p:origin x="59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8337742-DB5D-4F37-8E06-FDC5AA19FBCA}"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58A5A-0A56-467E-ADF8-734E35BB63BE}"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00705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337742-DB5D-4F37-8E06-FDC5AA19FBCA}"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58A5A-0A56-467E-ADF8-734E35BB63BE}" type="slidenum">
              <a:rPr lang="en-US" smtClean="0"/>
              <a:t>‹#›</a:t>
            </a:fld>
            <a:endParaRPr lang="en-US"/>
          </a:p>
        </p:txBody>
      </p:sp>
    </p:spTree>
    <p:extLst>
      <p:ext uri="{BB962C8B-B14F-4D97-AF65-F5344CB8AC3E}">
        <p14:creationId xmlns:p14="http://schemas.microsoft.com/office/powerpoint/2010/main" val="4114078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8337742-DB5D-4F37-8E06-FDC5AA19FBCA}"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58A5A-0A56-467E-ADF8-734E35BB63BE}" type="slidenum">
              <a:rPr lang="en-US" smtClean="0"/>
              <a:t>‹#›</a:t>
            </a:fld>
            <a:endParaRPr lang="en-US"/>
          </a:p>
        </p:txBody>
      </p:sp>
    </p:spTree>
    <p:extLst>
      <p:ext uri="{BB962C8B-B14F-4D97-AF65-F5344CB8AC3E}">
        <p14:creationId xmlns:p14="http://schemas.microsoft.com/office/powerpoint/2010/main" val="1544868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8337742-DB5D-4F37-8E06-FDC5AA19FBCA}" type="datetimeFigureOut">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D58A5A-0A56-467E-ADF8-734E35BB63BE}" type="slidenum">
              <a:rPr lang="en-US" smtClean="0"/>
              <a:t>‹#›</a:t>
            </a:fld>
            <a:endParaRPr lang="en-US"/>
          </a:p>
        </p:txBody>
      </p:sp>
    </p:spTree>
    <p:extLst>
      <p:ext uri="{BB962C8B-B14F-4D97-AF65-F5344CB8AC3E}">
        <p14:creationId xmlns:p14="http://schemas.microsoft.com/office/powerpoint/2010/main" val="40391847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8337742-DB5D-4F37-8E06-FDC5AA19FBCA}" type="datetimeFigureOut">
              <a:rPr lang="en-US" smtClean="0"/>
              <a:t>10/9/2025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D58A5A-0A56-467E-ADF8-734E35BB63BE}" type="slidenum">
              <a:rPr lang="en-US" smtClean="0"/>
              <a:t>‹#›</a:t>
            </a:fld>
            <a:endParaRPr lang="en-US"/>
          </a:p>
        </p:txBody>
      </p:sp>
    </p:spTree>
    <p:extLst>
      <p:ext uri="{BB962C8B-B14F-4D97-AF65-F5344CB8AC3E}">
        <p14:creationId xmlns:p14="http://schemas.microsoft.com/office/powerpoint/2010/main" val="741041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8337742-DB5D-4F37-8E06-FDC5AA19FBCA}" type="datetimeFigureOut">
              <a:rPr lang="en-US" smtClean="0"/>
              <a:t>10/9/2025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D58A5A-0A56-467E-ADF8-734E35BB63BE}" type="slidenum">
              <a:rPr lang="en-US" smtClean="0"/>
              <a:t>‹#›</a:t>
            </a:fld>
            <a:endParaRPr lang="en-US"/>
          </a:p>
        </p:txBody>
      </p:sp>
    </p:spTree>
    <p:extLst>
      <p:ext uri="{BB962C8B-B14F-4D97-AF65-F5344CB8AC3E}">
        <p14:creationId xmlns:p14="http://schemas.microsoft.com/office/powerpoint/2010/main" val="2346342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337742-DB5D-4F37-8E06-FDC5AA19FBCA}" type="datetimeFigureOut">
              <a:rPr lang="en-US" smtClean="0"/>
              <a:t>10/9/2025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D58A5A-0A56-467E-ADF8-734E35BB63BE}" type="slidenum">
              <a:rPr lang="en-US" smtClean="0"/>
              <a:t>‹#›</a:t>
            </a:fld>
            <a:endParaRPr lang="en-US"/>
          </a:p>
        </p:txBody>
      </p:sp>
    </p:spTree>
    <p:extLst>
      <p:ext uri="{BB962C8B-B14F-4D97-AF65-F5344CB8AC3E}">
        <p14:creationId xmlns:p14="http://schemas.microsoft.com/office/powerpoint/2010/main" val="9383139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68337742-DB5D-4F37-8E06-FDC5AA19FBCA}" type="datetimeFigureOut">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D58A5A-0A56-467E-ADF8-734E35BB63BE}" type="slidenum">
              <a:rPr lang="en-US" smtClean="0"/>
              <a:t>‹#›</a:t>
            </a:fld>
            <a:endParaRPr lang="en-US"/>
          </a:p>
        </p:txBody>
      </p:sp>
    </p:spTree>
    <p:extLst>
      <p:ext uri="{BB962C8B-B14F-4D97-AF65-F5344CB8AC3E}">
        <p14:creationId xmlns:p14="http://schemas.microsoft.com/office/powerpoint/2010/main" val="1570327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68337742-DB5D-4F37-8E06-FDC5AA19FBCA}" type="datetimeFigureOut">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D58A5A-0A56-467E-ADF8-734E35BB63BE}" type="slidenum">
              <a:rPr lang="en-US" smtClean="0"/>
              <a:t>‹#›</a:t>
            </a:fld>
            <a:endParaRPr lang="en-US"/>
          </a:p>
        </p:txBody>
      </p:sp>
    </p:spTree>
    <p:extLst>
      <p:ext uri="{BB962C8B-B14F-4D97-AF65-F5344CB8AC3E}">
        <p14:creationId xmlns:p14="http://schemas.microsoft.com/office/powerpoint/2010/main" val="356269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Date Placeholder 2"/>
          <p:cNvSpPr>
            <a:spLocks noGrp="1"/>
          </p:cNvSpPr>
          <p:nvPr>
            <p:ph type="dt" sz="half" idx="10"/>
          </p:nvPr>
        </p:nvSpPr>
        <p:spPr/>
        <p:txBody>
          <a:bodyPr/>
          <a:lstStyle/>
          <a:p>
            <a:fld id="{68337742-DB5D-4F37-8E06-FDC5AA19FBCA}" type="datetimeFigureOut">
              <a:rPr lang="en-US" smtClean="0"/>
              <a:t>10/9/2025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D58A5A-0A56-467E-ADF8-734E35BB63BE}" type="slidenum">
              <a:rPr lang="en-US" smtClean="0"/>
              <a:t>‹#›</a:t>
            </a:fld>
            <a:endParaRPr lang="en-US"/>
          </a:p>
        </p:txBody>
      </p:sp>
    </p:spTree>
    <p:extLst>
      <p:ext uri="{BB962C8B-B14F-4D97-AF65-F5344CB8AC3E}">
        <p14:creationId xmlns:p14="http://schemas.microsoft.com/office/powerpoint/2010/main" val="326767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8337742-DB5D-4F37-8E06-FDC5AA19FBCA}"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58A5A-0A56-467E-ADF8-734E35BB63BE}" type="slidenum">
              <a:rPr lang="en-US" smtClean="0"/>
              <a:t>‹#›</a:t>
            </a:fld>
            <a:endParaRPr lang="en-US"/>
          </a:p>
        </p:txBody>
      </p:sp>
    </p:spTree>
    <p:extLst>
      <p:ext uri="{BB962C8B-B14F-4D97-AF65-F5344CB8AC3E}">
        <p14:creationId xmlns:p14="http://schemas.microsoft.com/office/powerpoint/2010/main" val="12282126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8337742-DB5D-4F37-8E06-FDC5AA19FBCA}"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58A5A-0A56-467E-ADF8-734E35BB63BE}" type="slidenum">
              <a:rPr lang="en-US" smtClean="0"/>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1176991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8337742-DB5D-4F37-8E06-FDC5AA19FBCA}"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58A5A-0A56-467E-ADF8-734E35BB63BE}" type="slidenum">
              <a:rPr lang="en-US" smtClean="0"/>
              <a:t>‹#›</a:t>
            </a:fld>
            <a:endParaRPr lang="en-US"/>
          </a:p>
        </p:txBody>
      </p:sp>
    </p:spTree>
    <p:extLst>
      <p:ext uri="{BB962C8B-B14F-4D97-AF65-F5344CB8AC3E}">
        <p14:creationId xmlns:p14="http://schemas.microsoft.com/office/powerpoint/2010/main" val="32497301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8337742-DB5D-4F37-8E06-FDC5AA19FBCA}"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58A5A-0A56-467E-ADF8-734E35BB63BE}" type="slidenum">
              <a:rPr lang="en-US" smtClean="0"/>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0231874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8337742-DB5D-4F37-8E06-FDC5AA19FBCA}"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58A5A-0A56-467E-ADF8-734E35BB63BE}" type="slidenum">
              <a:rPr lang="en-US" smtClean="0"/>
              <a:t>‹#›</a:t>
            </a:fld>
            <a:endParaRPr lang="en-US"/>
          </a:p>
        </p:txBody>
      </p:sp>
    </p:spTree>
    <p:extLst>
      <p:ext uri="{BB962C8B-B14F-4D97-AF65-F5344CB8AC3E}">
        <p14:creationId xmlns:p14="http://schemas.microsoft.com/office/powerpoint/2010/main" val="35408110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337742-DB5D-4F37-8E06-FDC5AA19FBCA}"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58A5A-0A56-467E-ADF8-734E35BB63BE}" type="slidenum">
              <a:rPr lang="en-US" smtClean="0"/>
              <a:t>‹#›</a:t>
            </a:fld>
            <a:endParaRPr lang="en-US"/>
          </a:p>
        </p:txBody>
      </p:sp>
    </p:spTree>
    <p:extLst>
      <p:ext uri="{BB962C8B-B14F-4D97-AF65-F5344CB8AC3E}">
        <p14:creationId xmlns:p14="http://schemas.microsoft.com/office/powerpoint/2010/main" val="23290035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337742-DB5D-4F37-8E06-FDC5AA19FBCA}"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58A5A-0A56-467E-ADF8-734E35BB63BE}" type="slidenum">
              <a:rPr lang="en-US" smtClean="0"/>
              <a:t>‹#›</a:t>
            </a:fld>
            <a:endParaRPr lang="en-US"/>
          </a:p>
        </p:txBody>
      </p:sp>
    </p:spTree>
    <p:extLst>
      <p:ext uri="{BB962C8B-B14F-4D97-AF65-F5344CB8AC3E}">
        <p14:creationId xmlns:p14="http://schemas.microsoft.com/office/powerpoint/2010/main" val="3305847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68337742-DB5D-4F37-8E06-FDC5AA19FBCA}" type="datetimeFigureOut">
              <a:rPr lang="en-US" smtClean="0"/>
              <a:t>10/9/2025</a:t>
            </a:fld>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9BD58A5A-0A56-467E-ADF8-734E35BB63BE}" type="slidenum">
              <a:rPr lang="en-US" smtClean="0"/>
              <a:t>‹#›</a:t>
            </a:fld>
            <a:endParaRPr lang="en-US"/>
          </a:p>
        </p:txBody>
      </p:sp>
    </p:spTree>
    <p:extLst>
      <p:ext uri="{BB962C8B-B14F-4D97-AF65-F5344CB8AC3E}">
        <p14:creationId xmlns:p14="http://schemas.microsoft.com/office/powerpoint/2010/main" val="1317958648"/>
      </p:ext>
    </p:extLst>
  </p:cSld>
  <p:clrMap bg1="dk1" tx1="lt1" bg2="dk2" tx2="lt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 id="2147483768" r:id="rId13"/>
    <p:sldLayoutId id="2147483769" r:id="rId14"/>
    <p:sldLayoutId id="2147483770" r:id="rId15"/>
    <p:sldLayoutId id="2147483771" r:id="rId16"/>
    <p:sldLayoutId id="2147483772"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electronicspost.com/wp-content/uploads/2015/09/vi-characteristics-of-pn-junction.png"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775CD-7F7E-4DE7-92AF-72CC3E5849BD}"/>
              </a:ext>
            </a:extLst>
          </p:cNvPr>
          <p:cNvSpPr>
            <a:spLocks noGrp="1"/>
          </p:cNvSpPr>
          <p:nvPr>
            <p:ph type="ctrTitle"/>
          </p:nvPr>
        </p:nvSpPr>
        <p:spPr/>
        <p:txBody>
          <a:bodyPr>
            <a:noAutofit/>
          </a:bodyPr>
          <a:lstStyle/>
          <a:p>
            <a:r>
              <a:rPr lang="en-US" sz="6600" b="1" dirty="0"/>
              <a:t>General Viva Presentation</a:t>
            </a:r>
          </a:p>
        </p:txBody>
      </p:sp>
      <p:sp>
        <p:nvSpPr>
          <p:cNvPr id="3" name="Subtitle 2">
            <a:extLst>
              <a:ext uri="{FF2B5EF4-FFF2-40B4-BE49-F238E27FC236}">
                <a16:creationId xmlns:a16="http://schemas.microsoft.com/office/drawing/2014/main" id="{6C14008D-2303-42F8-B985-92839BCBC82E}"/>
              </a:ext>
            </a:extLst>
          </p:cNvPr>
          <p:cNvSpPr>
            <a:spLocks noGrp="1"/>
          </p:cNvSpPr>
          <p:nvPr>
            <p:ph type="subTitle" idx="1"/>
          </p:nvPr>
        </p:nvSpPr>
        <p:spPr/>
        <p:txBody>
          <a:bodyPr>
            <a:normAutofit/>
          </a:bodyPr>
          <a:lstStyle/>
          <a:p>
            <a:r>
              <a:rPr lang="en-US" sz="5400" dirty="0"/>
              <a:t>CCE-4832</a:t>
            </a:r>
          </a:p>
          <a:p>
            <a:endParaRPr lang="en-US" sz="5400" dirty="0"/>
          </a:p>
        </p:txBody>
      </p:sp>
    </p:spTree>
    <p:extLst>
      <p:ext uri="{BB962C8B-B14F-4D97-AF65-F5344CB8AC3E}">
        <p14:creationId xmlns:p14="http://schemas.microsoft.com/office/powerpoint/2010/main" val="24653151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846F7-48D3-4196-8E27-F2EEDC35D39D}"/>
              </a:ext>
            </a:extLst>
          </p:cNvPr>
          <p:cNvSpPr>
            <a:spLocks noGrp="1"/>
          </p:cNvSpPr>
          <p:nvPr>
            <p:ph type="title"/>
          </p:nvPr>
        </p:nvSpPr>
        <p:spPr>
          <a:xfrm>
            <a:off x="857251" y="0"/>
            <a:ext cx="10376346" cy="1847849"/>
          </a:xfrm>
        </p:spPr>
        <p:txBody>
          <a:bodyPr>
            <a:normAutofit/>
          </a:bodyPr>
          <a:lstStyle/>
          <a:p>
            <a:pPr algn="ctr"/>
            <a:r>
              <a:rPr lang="en-US" sz="5000" b="1" u="sng" dirty="0">
                <a:latin typeface="Times New Roman" panose="02020603050405020304" pitchFamily="18" charset="0"/>
                <a:cs typeface="Times New Roman" panose="02020603050405020304" pitchFamily="18" charset="0"/>
              </a:rPr>
              <a:t>Group-04</a:t>
            </a:r>
          </a:p>
        </p:txBody>
      </p:sp>
      <p:sp>
        <p:nvSpPr>
          <p:cNvPr id="5" name="Content Placeholder 4">
            <a:extLst>
              <a:ext uri="{FF2B5EF4-FFF2-40B4-BE49-F238E27FC236}">
                <a16:creationId xmlns:a16="http://schemas.microsoft.com/office/drawing/2014/main" id="{F8A1F832-BDCD-4B5D-94A1-8B152B2C717A}"/>
              </a:ext>
            </a:extLst>
          </p:cNvPr>
          <p:cNvSpPr>
            <a:spLocks noGrp="1"/>
          </p:cNvSpPr>
          <p:nvPr>
            <p:ph idx="1"/>
          </p:nvPr>
        </p:nvSpPr>
        <p:spPr>
          <a:xfrm>
            <a:off x="717997" y="1847849"/>
            <a:ext cx="5699975" cy="2984343"/>
          </a:xfrm>
        </p:spPr>
        <p:txBody>
          <a:bodyPr>
            <a:noAutofit/>
          </a:bodyPr>
          <a:lstStyle/>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3200" b="1" u="sng" dirty="0">
                <a:solidFill>
                  <a:schemeClr val="bg1">
                    <a:lumMod val="85000"/>
                    <a:lumOff val="15000"/>
                  </a:schemeClr>
                </a:solidFill>
                <a:latin typeface="Times New Roman" panose="02020603050405020304" pitchFamily="18" charset="0"/>
                <a:cs typeface="Times New Roman" panose="02020603050405020304" pitchFamily="18" charset="0"/>
              </a:rPr>
              <a:t>Submitted By:</a:t>
            </a:r>
          </a:p>
          <a:p>
            <a:pPr marL="0" indent="0" algn="just">
              <a:buNone/>
            </a:pPr>
            <a:r>
              <a:rPr lang="en-US" sz="2400" dirty="0">
                <a:solidFill>
                  <a:schemeClr val="bg1">
                    <a:lumMod val="85000"/>
                    <a:lumOff val="15000"/>
                  </a:schemeClr>
                </a:solidFill>
                <a:latin typeface="Times New Roman" panose="02020603050405020304" pitchFamily="18" charset="0"/>
                <a:cs typeface="Times New Roman" panose="02020603050405020304" pitchFamily="18" charset="0"/>
              </a:rPr>
              <a:t>E193009   Zia Ul Hassan Chowdhury</a:t>
            </a:r>
          </a:p>
          <a:p>
            <a:pPr algn="just"/>
            <a:endParaRPr lang="en-US" sz="2400" dirty="0">
              <a:solidFill>
                <a:schemeClr val="bg1">
                  <a:lumMod val="85000"/>
                  <a:lumOff val="15000"/>
                </a:schemeClr>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65C0080F-CF96-4175-BCF9-67758A789D74}"/>
              </a:ext>
            </a:extLst>
          </p:cNvPr>
          <p:cNvSpPr/>
          <p:nvPr/>
        </p:nvSpPr>
        <p:spPr>
          <a:xfrm>
            <a:off x="6417972" y="2932776"/>
            <a:ext cx="4237149" cy="1384995"/>
          </a:xfrm>
          <a:prstGeom prst="rect">
            <a:avLst/>
          </a:prstGeom>
        </p:spPr>
        <p:txBody>
          <a:bodyPr wrap="square">
            <a:spAutoFit/>
          </a:bodyPr>
          <a:lstStyle/>
          <a:p>
            <a:r>
              <a:rPr lang="en-US" sz="2400" b="1" u="sng" dirty="0">
                <a:latin typeface="Times New Roman" panose="02020603050405020304" pitchFamily="18" charset="0"/>
                <a:cs typeface="Times New Roman" panose="02020603050405020304" pitchFamily="18" charset="0"/>
              </a:rPr>
              <a:t>Submitted To: </a:t>
            </a:r>
          </a:p>
          <a:p>
            <a:r>
              <a:rPr lang="en-US" sz="2000" dirty="0">
                <a:latin typeface="Times New Roman" panose="02020603050405020304" pitchFamily="18" charset="0"/>
                <a:cs typeface="Times New Roman" panose="02020603050405020304" pitchFamily="18" charset="0"/>
              </a:rPr>
              <a:t>Engr. Md. Razu Ahmed </a:t>
            </a:r>
          </a:p>
          <a:p>
            <a:r>
              <a:rPr lang="en-US" sz="2000" dirty="0">
                <a:latin typeface="Times New Roman" panose="02020603050405020304" pitchFamily="18" charset="0"/>
                <a:cs typeface="Times New Roman" panose="02020603050405020304" pitchFamily="18" charset="0"/>
              </a:rPr>
              <a:t>Professor &amp; Chairman Department Of CCE IIUC</a:t>
            </a:r>
          </a:p>
        </p:txBody>
      </p:sp>
    </p:spTree>
    <p:extLst>
      <p:ext uri="{BB962C8B-B14F-4D97-AF65-F5344CB8AC3E}">
        <p14:creationId xmlns:p14="http://schemas.microsoft.com/office/powerpoint/2010/main" val="4032796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203096-0133-4D62-B8A0-B4075AF7D791}"/>
              </a:ext>
            </a:extLst>
          </p:cNvPr>
          <p:cNvSpPr>
            <a:spLocks noGrp="1"/>
          </p:cNvSpPr>
          <p:nvPr>
            <p:ph idx="1"/>
          </p:nvPr>
        </p:nvSpPr>
        <p:spPr>
          <a:xfrm>
            <a:off x="409575" y="1962150"/>
            <a:ext cx="11401425" cy="3638550"/>
          </a:xfrm>
        </p:spPr>
        <p:txBody>
          <a:bodyPr>
            <a:normAutofit/>
          </a:bodyPr>
          <a:lstStyle/>
          <a:p>
            <a:pPr marL="0" indent="0" algn="ctr">
              <a:buNone/>
            </a:pPr>
            <a:r>
              <a:rPr lang="en-US" sz="8000" dirty="0">
                <a:solidFill>
                  <a:schemeClr val="tx1"/>
                </a:solidFill>
                <a:latin typeface="Times New Roman" panose="02020603050405020304" pitchFamily="18" charset="0"/>
                <a:cs typeface="Times New Roman" panose="02020603050405020304" pitchFamily="18" charset="0"/>
              </a:rPr>
              <a:t>Course: </a:t>
            </a:r>
            <a:r>
              <a:rPr lang="en-US" sz="8000" b="1" dirty="0">
                <a:solidFill>
                  <a:schemeClr val="tx1"/>
                </a:solidFill>
                <a:latin typeface="Times New Roman" panose="02020603050405020304" pitchFamily="18" charset="0"/>
                <a:cs typeface="Times New Roman" panose="02020603050405020304" pitchFamily="18" charset="0"/>
              </a:rPr>
              <a:t>Basic Electronics</a:t>
            </a:r>
          </a:p>
          <a:p>
            <a:pPr marL="0" indent="0" algn="ctr">
              <a:buNone/>
            </a:pPr>
            <a:r>
              <a:rPr lang="en-US" sz="8000" dirty="0">
                <a:solidFill>
                  <a:schemeClr val="tx1"/>
                </a:solidFill>
                <a:latin typeface="Times New Roman" panose="02020603050405020304" pitchFamily="18" charset="0"/>
                <a:cs typeface="Times New Roman" panose="02020603050405020304" pitchFamily="18" charset="0"/>
              </a:rPr>
              <a:t>CCE-1203</a:t>
            </a:r>
          </a:p>
          <a:p>
            <a:pPr marL="0" indent="0" algn="ctr">
              <a:buNone/>
            </a:pPr>
            <a:endParaRPr lang="en-US" sz="5400" dirty="0"/>
          </a:p>
        </p:txBody>
      </p:sp>
    </p:spTree>
    <p:extLst>
      <p:ext uri="{BB962C8B-B14F-4D97-AF65-F5344CB8AC3E}">
        <p14:creationId xmlns:p14="http://schemas.microsoft.com/office/powerpoint/2010/main" val="4890161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397F4-9FCC-4C03-AA13-C2CF755C6917}"/>
              </a:ext>
            </a:extLst>
          </p:cNvPr>
          <p:cNvSpPr>
            <a:spLocks noGrp="1"/>
          </p:cNvSpPr>
          <p:nvPr>
            <p:ph type="title"/>
          </p:nvPr>
        </p:nvSpPr>
        <p:spPr>
          <a:xfrm>
            <a:off x="838200" y="323850"/>
            <a:ext cx="10515600" cy="1666875"/>
          </a:xfrm>
        </p:spPr>
        <p:txBody>
          <a:bodyPr>
            <a:normAutofit/>
          </a:bodyPr>
          <a:lstStyle/>
          <a:p>
            <a:pPr algn="ctr"/>
            <a:r>
              <a:rPr lang="en-US" sz="4400" b="1" u="sng" dirty="0">
                <a:latin typeface="Times New Roman" panose="02020603050405020304" pitchFamily="18" charset="0"/>
                <a:cs typeface="Times New Roman" panose="02020603050405020304" pitchFamily="18" charset="0"/>
              </a:rPr>
              <a:t>Contents</a:t>
            </a:r>
            <a:endParaRPr lang="en-US" sz="5400"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53CFD57-741F-48F9-8F00-E802A91C464B}"/>
              </a:ext>
            </a:extLst>
          </p:cNvPr>
          <p:cNvSpPr>
            <a:spLocks noGrp="1"/>
          </p:cNvSpPr>
          <p:nvPr>
            <p:ph idx="1"/>
          </p:nvPr>
        </p:nvSpPr>
        <p:spPr>
          <a:xfrm>
            <a:off x="990600" y="1990725"/>
            <a:ext cx="8534400" cy="3615267"/>
          </a:xfrm>
        </p:spPr>
        <p:txBody>
          <a:bodyPr>
            <a:normAutofit/>
          </a:bodyPr>
          <a:lstStyle/>
          <a:p>
            <a:r>
              <a:rPr lang="en-US" sz="2400" b="1" dirty="0">
                <a:solidFill>
                  <a:schemeClr val="bg1">
                    <a:lumMod val="75000"/>
                    <a:lumOff val="25000"/>
                  </a:schemeClr>
                </a:solidFill>
                <a:latin typeface="Times New Roman" panose="02020603050405020304" pitchFamily="18" charset="0"/>
                <a:cs typeface="Times New Roman" panose="02020603050405020304" pitchFamily="18" charset="0"/>
              </a:rPr>
              <a:t>Semiconductor</a:t>
            </a:r>
          </a:p>
          <a:p>
            <a:r>
              <a:rPr lang="en-US" sz="2400" b="1">
                <a:solidFill>
                  <a:schemeClr val="bg1">
                    <a:lumMod val="75000"/>
                    <a:lumOff val="25000"/>
                  </a:schemeClr>
                </a:solidFill>
                <a:latin typeface="Times New Roman" panose="02020603050405020304" pitchFamily="18" charset="0"/>
                <a:cs typeface="Times New Roman" panose="02020603050405020304" pitchFamily="18" charset="0"/>
              </a:rPr>
              <a:t>P-N Junction</a:t>
            </a:r>
          </a:p>
          <a:p>
            <a:r>
              <a:rPr lang="en-GB" sz="2400" b="1">
                <a:solidFill>
                  <a:schemeClr val="bg1">
                    <a:lumMod val="75000"/>
                    <a:lumOff val="25000"/>
                  </a:schemeClr>
                </a:solidFill>
                <a:latin typeface="Times New Roman" panose="02020603050405020304" pitchFamily="18" charset="0"/>
                <a:cs typeface="Times New Roman" panose="02020603050405020304" pitchFamily="18" charset="0"/>
              </a:rPr>
              <a:t>Applications </a:t>
            </a:r>
            <a:r>
              <a:rPr lang="en-GB" sz="2400" b="1" dirty="0">
                <a:solidFill>
                  <a:schemeClr val="bg1">
                    <a:lumMod val="75000"/>
                    <a:lumOff val="25000"/>
                  </a:schemeClr>
                </a:solidFill>
                <a:latin typeface="Times New Roman" panose="02020603050405020304" pitchFamily="18" charset="0"/>
                <a:cs typeface="Times New Roman" panose="02020603050405020304" pitchFamily="18" charset="0"/>
              </a:rPr>
              <a:t>of diode</a:t>
            </a:r>
          </a:p>
          <a:p>
            <a:r>
              <a:rPr lang="en-US" sz="2400" b="1" dirty="0">
                <a:solidFill>
                  <a:schemeClr val="bg1">
                    <a:lumMod val="75000"/>
                    <a:lumOff val="25000"/>
                  </a:schemeClr>
                </a:solidFill>
                <a:latin typeface="Times New Roman" panose="02020603050405020304" pitchFamily="18" charset="0"/>
                <a:cs typeface="Times New Roman" panose="02020603050405020304" pitchFamily="18" charset="0"/>
              </a:rPr>
              <a:t>Bipolar Junction transistor</a:t>
            </a:r>
          </a:p>
          <a:p>
            <a:r>
              <a:rPr lang="en-US" sz="2400" b="1" dirty="0">
                <a:solidFill>
                  <a:schemeClr val="bg1">
                    <a:lumMod val="75000"/>
                    <a:lumOff val="25000"/>
                  </a:schemeClr>
                </a:solidFill>
                <a:latin typeface="Times New Roman" panose="02020603050405020304" pitchFamily="18" charset="0"/>
                <a:cs typeface="Times New Roman" panose="02020603050405020304" pitchFamily="18" charset="0"/>
              </a:rPr>
              <a:t>Field Effect Transistor</a:t>
            </a:r>
          </a:p>
          <a:p>
            <a:r>
              <a:rPr lang="en-US" sz="2400" b="1">
                <a:solidFill>
                  <a:schemeClr val="bg1">
                    <a:lumMod val="75000"/>
                    <a:lumOff val="25000"/>
                  </a:schemeClr>
                </a:solidFill>
                <a:latin typeface="Times New Roman" panose="02020603050405020304" pitchFamily="18" charset="0"/>
                <a:cs typeface="Times New Roman" panose="02020603050405020304" pitchFamily="18" charset="0"/>
              </a:rPr>
              <a:t>Transistor Biasing</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1036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828800" y="2362201"/>
            <a:ext cx="5191125" cy="1762124"/>
          </a:xfrm>
        </p:spPr>
        <p:txBody>
          <a:bodyPr>
            <a:noAutofit/>
          </a:bodyPr>
          <a:lstStyle/>
          <a:p>
            <a:r>
              <a:rPr lang="en-US" sz="4000" b="1">
                <a:solidFill>
                  <a:schemeClr val="bg1"/>
                </a:solidFill>
                <a:latin typeface="Times New Roman" panose="02020603050405020304" pitchFamily="18" charset="0"/>
                <a:cs typeface="Times New Roman" panose="02020603050405020304" pitchFamily="18" charset="0"/>
              </a:rPr>
              <a:t>Semiconductor</a:t>
            </a:r>
            <a:endParaRPr lang="en-US" sz="4000">
              <a:solidFill>
                <a:schemeClr val="bg1"/>
              </a:solidFill>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00849" y="1947707"/>
            <a:ext cx="4081661" cy="3443443"/>
          </a:xfrm>
          <a:prstGeom prst="ellipse">
            <a:avLst/>
          </a:prstGeom>
          <a:ln>
            <a:noFill/>
          </a:ln>
          <a:effectLst>
            <a:softEdge rad="112500"/>
          </a:effectLst>
        </p:spPr>
      </p:pic>
    </p:spTree>
    <p:extLst>
      <p:ext uri="{BB962C8B-B14F-4D97-AF65-F5344CB8AC3E}">
        <p14:creationId xmlns:p14="http://schemas.microsoft.com/office/powerpoint/2010/main" val="2984547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3F4089-01E1-41FD-B3F7-459C054A5560}"/>
              </a:ext>
            </a:extLst>
          </p:cNvPr>
          <p:cNvSpPr>
            <a:spLocks noGrp="1"/>
          </p:cNvSpPr>
          <p:nvPr>
            <p:ph idx="4294967295"/>
          </p:nvPr>
        </p:nvSpPr>
        <p:spPr>
          <a:xfrm>
            <a:off x="714375" y="323849"/>
            <a:ext cx="10944225" cy="6334125"/>
          </a:xfrm>
        </p:spPr>
        <p:txBody>
          <a:bodyPr>
            <a:normAutofit/>
          </a:bodyPr>
          <a:lstStyle/>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1. What is a semiconductor?</a:t>
            </a:r>
            <a:endParaRPr lang="en-US" sz="2400"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A semiconductor is a material with electrical conductivity between a conductor and an insulator. Semiconductors are typically made from silicon or </a:t>
            </a:r>
            <a:r>
              <a:rPr lang="en-US" sz="2400">
                <a:solidFill>
                  <a:schemeClr val="bg1"/>
                </a:solidFill>
                <a:latin typeface="Times New Roman" panose="02020603050405020304" pitchFamily="18" charset="0"/>
                <a:cs typeface="Times New Roman" panose="02020603050405020304" pitchFamily="18" charset="0"/>
              </a:rPr>
              <a:t>germanium</a:t>
            </a:r>
            <a:r>
              <a:rPr lang="en-US" sz="2400" b="1">
                <a:solidFill>
                  <a:schemeClr val="bg1"/>
                </a:solidFill>
                <a:latin typeface="Times New Roman" panose="02020603050405020304" pitchFamily="18" charset="0"/>
                <a:cs typeface="Times New Roman" panose="02020603050405020304" pitchFamily="18" charset="0"/>
              </a:rPr>
              <a:t>.</a:t>
            </a:r>
            <a:endParaRPr lang="en-US" sz="2400" b="1" dirty="0">
              <a:solidFill>
                <a:schemeClr val="bg1"/>
              </a:solidFill>
              <a:latin typeface="Times New Roman" panose="02020603050405020304" pitchFamily="18" charset="0"/>
              <a:cs typeface="Times New Roman" panose="02020603050405020304" pitchFamily="18" charset="0"/>
            </a:endParaRPr>
          </a:p>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2. Some useful Properties of semiconductors.</a:t>
            </a:r>
            <a:endParaRPr lang="en-US" sz="2400" dirty="0">
              <a:solidFill>
                <a:schemeClr val="tx1"/>
              </a:solidFill>
              <a:latin typeface="Times New Roman" panose="02020603050405020304" pitchFamily="18" charset="0"/>
              <a:cs typeface="Times New Roman" panose="02020603050405020304" pitchFamily="18" charset="0"/>
            </a:endParaRPr>
          </a:p>
          <a:p>
            <a:pPr lvl="0" algn="just">
              <a:buClr>
                <a:schemeClr val="bg1"/>
              </a:buClr>
              <a:buFont typeface="Courier New" panose="02070309020205020404" pitchFamily="49" charset="0"/>
              <a:buChar char="o"/>
            </a:pPr>
            <a:r>
              <a:rPr lang="en-US" sz="2400" dirty="0">
                <a:solidFill>
                  <a:schemeClr val="bg1"/>
                </a:solidFill>
                <a:latin typeface="Times New Roman" panose="02020603050405020304" pitchFamily="18" charset="0"/>
                <a:cs typeface="Times New Roman" panose="02020603050405020304" pitchFamily="18" charset="0"/>
              </a:rPr>
              <a:t>Semiconductors have high electron mobility.</a:t>
            </a:r>
          </a:p>
          <a:p>
            <a:pPr algn="just">
              <a:buClr>
                <a:schemeClr val="bg1"/>
              </a:buClr>
              <a:buFont typeface="Courier New" panose="02070309020205020404" pitchFamily="49" charset="0"/>
              <a:buChar char="o"/>
            </a:pPr>
            <a:r>
              <a:rPr lang="en-US" sz="2400" dirty="0">
                <a:solidFill>
                  <a:schemeClr val="bg1"/>
                </a:solidFill>
                <a:latin typeface="Times New Roman" panose="02020603050405020304" pitchFamily="18" charset="0"/>
                <a:cs typeface="Times New Roman" panose="02020603050405020304" pitchFamily="18" charset="0"/>
              </a:rPr>
              <a:t>Semiconductors have a relatively low electrical conductivity compared to conductors like copper and gold, but higher than insulators like glass and rubber.</a:t>
            </a:r>
          </a:p>
          <a:p>
            <a:pPr lvl="0" algn="just">
              <a:buClr>
                <a:schemeClr val="bg1"/>
              </a:buClr>
              <a:buFont typeface="Courier New" panose="02070309020205020404" pitchFamily="49" charset="0"/>
              <a:buChar char="o"/>
            </a:pPr>
            <a:r>
              <a:rPr lang="en-US" sz="2400" dirty="0">
                <a:solidFill>
                  <a:schemeClr val="bg1"/>
                </a:solidFill>
                <a:latin typeface="Times New Roman" panose="02020603050405020304" pitchFamily="18" charset="0"/>
                <a:cs typeface="Times New Roman" panose="02020603050405020304" pitchFamily="18" charset="0"/>
              </a:rPr>
              <a:t>Semiconductors are sensitive to light </a:t>
            </a:r>
            <a:r>
              <a:rPr lang="en-US" sz="2400">
                <a:solidFill>
                  <a:schemeClr val="bg1"/>
                </a:solidFill>
                <a:latin typeface="Times New Roman" panose="02020603050405020304" pitchFamily="18" charset="0"/>
                <a:cs typeface="Times New Roman" panose="02020603050405020304" pitchFamily="18" charset="0"/>
              </a:rPr>
              <a:t>and heat</a:t>
            </a:r>
            <a:endParaRPr lang="en-US" sz="2400" b="1" dirty="0">
              <a:solidFill>
                <a:schemeClr val="bg1"/>
              </a:solidFill>
              <a:latin typeface="Times New Roman" panose="02020603050405020304" pitchFamily="18" charset="0"/>
              <a:cs typeface="Times New Roman" panose="02020603050405020304" pitchFamily="18" charset="0"/>
            </a:endParaRPr>
          </a:p>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3. Which are the most commonly used semiconductors and why?</a:t>
            </a:r>
            <a:endParaRPr lang="en-US" sz="2400"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The most commonly used semiconductors are silicon and germanium. These materials are used primarily because they have a high electron mobility, which means that they allow electrical current to flow through them </a:t>
            </a:r>
            <a:r>
              <a:rPr lang="en-US" sz="2400">
                <a:solidFill>
                  <a:schemeClr val="bg1"/>
                </a:solidFill>
                <a:latin typeface="Times New Roman" panose="02020603050405020304" pitchFamily="18" charset="0"/>
                <a:cs typeface="Times New Roman" panose="02020603050405020304" pitchFamily="18" charset="0"/>
              </a:rPr>
              <a:t>easily.</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05040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94B1E6-D2AF-4A35-A65F-A27BEFD9F345}"/>
              </a:ext>
            </a:extLst>
          </p:cNvPr>
          <p:cNvSpPr>
            <a:spLocks noGrp="1"/>
          </p:cNvSpPr>
          <p:nvPr>
            <p:ph idx="4294967295"/>
          </p:nvPr>
        </p:nvSpPr>
        <p:spPr>
          <a:xfrm>
            <a:off x="714375" y="209549"/>
            <a:ext cx="10810875" cy="7153275"/>
          </a:xfrm>
        </p:spPr>
        <p:txBody>
          <a:bodyPr>
            <a:normAutofit/>
          </a:bodyPr>
          <a:lstStyle/>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4. The energy band description of semiconductors.</a:t>
            </a:r>
            <a:endParaRPr lang="en-US" sz="2400"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The energy band description of semiconductors is that they have a partially filled valence band and an empty conduction band. The valence band is the uppermost band that is filled with electrons and is responsible for chemical bonding in the material. The conduction band is the band just above the valence band that is mostly empty and is responsible for electrical conductivity. The bandgap, or energy gap, is the separation between these </a:t>
            </a:r>
            <a:r>
              <a:rPr lang="en-US" sz="2400">
                <a:solidFill>
                  <a:schemeClr val="bg1"/>
                </a:solidFill>
                <a:latin typeface="Times New Roman" panose="02020603050405020304" pitchFamily="18" charset="0"/>
                <a:cs typeface="Times New Roman" panose="02020603050405020304" pitchFamily="18" charset="0"/>
              </a:rPr>
              <a:t>two bands</a:t>
            </a:r>
            <a:endParaRPr lang="en-US" sz="2400" dirty="0">
              <a:solidFill>
                <a:schemeClr val="bg1"/>
              </a:solidFill>
              <a:latin typeface="Times New Roman" panose="02020603050405020304" pitchFamily="18" charset="0"/>
              <a:cs typeface="Times New Roman" panose="02020603050405020304" pitchFamily="18" charset="0"/>
            </a:endParaRPr>
          </a:p>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5. What is Doping?</a:t>
            </a: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The process of adding impurities to semiconductors is called doping. Doping can be done by introducing impurities such as boron, phosphorus, or arsenic into the semiconductor </a:t>
            </a:r>
            <a:r>
              <a:rPr lang="en-US" sz="2400">
                <a:solidFill>
                  <a:schemeClr val="bg1"/>
                </a:solidFill>
                <a:latin typeface="Times New Roman" panose="02020603050405020304" pitchFamily="18" charset="0"/>
                <a:cs typeface="Times New Roman" panose="02020603050405020304" pitchFamily="18" charset="0"/>
              </a:rPr>
              <a:t>material.</a:t>
            </a:r>
            <a:endParaRPr lang="en-US" sz="2400" dirty="0">
              <a:solidFill>
                <a:schemeClr val="bg1"/>
              </a:solidFill>
              <a:latin typeface="Times New Roman" panose="02020603050405020304" pitchFamily="18" charset="0"/>
              <a:cs typeface="Times New Roman" panose="02020603050405020304" pitchFamily="18" charset="0"/>
            </a:endParaRPr>
          </a:p>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6. Effect of temperature </a:t>
            </a:r>
            <a:r>
              <a:rPr lang="en-US" sz="2400" b="1">
                <a:solidFill>
                  <a:schemeClr val="tx1"/>
                </a:solidFill>
                <a:latin typeface="Times New Roman" panose="02020603050405020304" pitchFamily="18" charset="0"/>
                <a:cs typeface="Times New Roman" panose="02020603050405020304" pitchFamily="18" charset="0"/>
              </a:rPr>
              <a:t>on semiconductors.</a:t>
            </a:r>
          </a:p>
          <a:p>
            <a:pPr marL="0" indent="0" algn="just">
              <a:buNone/>
            </a:pPr>
            <a:r>
              <a:rPr lang="en-US" sz="2400">
                <a:solidFill>
                  <a:schemeClr val="bg1"/>
                </a:solidFill>
                <a:latin typeface="Times New Roman" panose="02020603050405020304" pitchFamily="18" charset="0"/>
                <a:cs typeface="Times New Roman" panose="02020603050405020304" pitchFamily="18" charset="0"/>
              </a:rPr>
              <a:t>The </a:t>
            </a:r>
            <a:r>
              <a:rPr lang="en-US" sz="2400" dirty="0">
                <a:solidFill>
                  <a:schemeClr val="bg1"/>
                </a:solidFill>
                <a:latin typeface="Times New Roman" panose="02020603050405020304" pitchFamily="18" charset="0"/>
                <a:cs typeface="Times New Roman" panose="02020603050405020304" pitchFamily="18" charset="0"/>
              </a:rPr>
              <a:t>effect of temperature on semiconductors is complex and depends on the specific material and application. In general, as the temperature of a semiconductor increases, its electrical conductivity also increases.</a:t>
            </a:r>
          </a:p>
          <a:p>
            <a:pPr marL="0" indent="0" algn="just">
              <a:buNone/>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041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F8B7A8EA-08AC-4D3A-BA4A-875A93130F4D}"/>
              </a:ext>
            </a:extLst>
          </p:cNvPr>
          <p:cNvSpPr>
            <a:spLocks noGrp="1"/>
          </p:cNvSpPr>
          <p:nvPr>
            <p:ph idx="1"/>
          </p:nvPr>
        </p:nvSpPr>
        <p:spPr>
          <a:xfrm>
            <a:off x="687812" y="222474"/>
            <a:ext cx="11027938" cy="6302151"/>
          </a:xfrm>
        </p:spPr>
        <p:txBody>
          <a:bodyPr>
            <a:normAutofit/>
          </a:bodyPr>
          <a:lstStyle/>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7. What is a hole in a semiconductor?</a:t>
            </a:r>
            <a:endParaRPr lang="en-US" sz="2400"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A hole in a semiconductor is a region where there is a lack of an electron, resulting in a positive </a:t>
            </a:r>
            <a:r>
              <a:rPr lang="en-US" sz="2400">
                <a:solidFill>
                  <a:schemeClr val="bg1"/>
                </a:solidFill>
                <a:latin typeface="Times New Roman" panose="02020603050405020304" pitchFamily="18" charset="0"/>
                <a:cs typeface="Times New Roman" panose="02020603050405020304" pitchFamily="18" charset="0"/>
              </a:rPr>
              <a:t>charge.</a:t>
            </a:r>
            <a:endParaRPr lang="en-US" sz="2400" b="1" dirty="0">
              <a:latin typeface="Times New Roman" panose="02020603050405020304" pitchFamily="18" charset="0"/>
              <a:cs typeface="Times New Roman" panose="02020603050405020304" pitchFamily="18" charset="0"/>
            </a:endParaRPr>
          </a:p>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8. What do you understand by intrinsic and extrinsic semiconductors?</a:t>
            </a: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Intrinsic semiconductors are semiconductors in their pure, undoped form. They are made of a single element, such as silicon or germanium, and have an equal number of electrons and holes in the material.</a:t>
            </a: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Extrinsic semiconductors are semiconductors that have been doped or had impurities added to </a:t>
            </a:r>
            <a:r>
              <a:rPr lang="en-US" sz="2400">
                <a:solidFill>
                  <a:schemeClr val="bg1"/>
                </a:solidFill>
                <a:latin typeface="Times New Roman" panose="02020603050405020304" pitchFamily="18" charset="0"/>
                <a:cs typeface="Times New Roman" panose="02020603050405020304" pitchFamily="18" charset="0"/>
              </a:rPr>
              <a:t>them.</a:t>
            </a:r>
            <a:endParaRPr lang="en-US" sz="2400" b="1" dirty="0">
              <a:latin typeface="Times New Roman" panose="02020603050405020304" pitchFamily="18" charset="0"/>
              <a:cs typeface="Times New Roman" panose="02020603050405020304" pitchFamily="18" charset="0"/>
            </a:endParaRPr>
          </a:p>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9. What is PN Junction?</a:t>
            </a: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A p-n junction is a type of semiconductor device formed by combining p-type and n-type semiconductor materials, creating a junction where electrical charges can flow. This is the basic building block of diodes, transistors, and other electronic devices.</a:t>
            </a:r>
          </a:p>
          <a:p>
            <a:pPr marL="0" indent="0"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66915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3D27DC92-FAA5-4F22-993A-65D6D9215A28}"/>
              </a:ext>
            </a:extLst>
          </p:cNvPr>
          <p:cNvSpPr>
            <a:spLocks noGrp="1"/>
          </p:cNvSpPr>
          <p:nvPr>
            <p:ph idx="1"/>
          </p:nvPr>
        </p:nvSpPr>
        <p:spPr>
          <a:xfrm>
            <a:off x="737716" y="316896"/>
            <a:ext cx="10844684" cy="6347653"/>
          </a:xfrm>
        </p:spPr>
        <p:txBody>
          <a:bodyPr>
            <a:normAutofit fontScale="85000" lnSpcReduction="10000"/>
          </a:bodyPr>
          <a:lstStyle/>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10. The behavior of a p-n junction under forward and reverse biasing.</a:t>
            </a:r>
            <a:endParaRPr lang="en-US" sz="2400"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In forward biasing, a positive voltage is applied to the p-type side of the junction, and a negative voltage is applied to the n-type side, reducing the built-in potential and allowing for current flow. In reverse biasing, a negative voltage is applied to the p-type side and a positive voltage is applied to the n-type side, increasing the built-in potential and inhibiting current </a:t>
            </a:r>
            <a:r>
              <a:rPr lang="en-US" sz="2400">
                <a:solidFill>
                  <a:schemeClr val="bg1"/>
                </a:solidFill>
                <a:latin typeface="Times New Roman" panose="02020603050405020304" pitchFamily="18" charset="0"/>
                <a:cs typeface="Times New Roman" panose="02020603050405020304" pitchFamily="18" charset="0"/>
              </a:rPr>
              <a:t>flow.</a:t>
            </a:r>
            <a:endParaRPr lang="en-US" sz="2400" b="1" dirty="0">
              <a:solidFill>
                <a:schemeClr val="bg1"/>
              </a:solidFill>
              <a:latin typeface="Times New Roman" panose="02020603050405020304" pitchFamily="18" charset="0"/>
              <a:cs typeface="Times New Roman" panose="02020603050405020304" pitchFamily="18" charset="0"/>
            </a:endParaRPr>
          </a:p>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11. Write short notes on the following:</a:t>
            </a:r>
            <a:endParaRPr lang="en-US" sz="2400"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(i) Breakdown voltage </a:t>
            </a: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(ii) Knee voltage </a:t>
            </a: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(iii) Limitations in the operating conditions of </a:t>
            </a:r>
            <a:r>
              <a:rPr lang="en-US" sz="2400">
                <a:solidFill>
                  <a:schemeClr val="bg1"/>
                </a:solidFill>
                <a:latin typeface="Times New Roman" panose="02020603050405020304" pitchFamily="18" charset="0"/>
                <a:cs typeface="Times New Roman" panose="02020603050405020304" pitchFamily="18" charset="0"/>
              </a:rPr>
              <a:t>p-n junction</a:t>
            </a:r>
            <a:endParaRPr lang="en-US" sz="2400" dirty="0">
              <a:solidFill>
                <a:schemeClr val="bg1"/>
              </a:solidFill>
              <a:latin typeface="Times New Roman" panose="02020603050405020304" pitchFamily="18" charset="0"/>
              <a:cs typeface="Times New Roman" panose="02020603050405020304" pitchFamily="18" charset="0"/>
            </a:endParaRPr>
          </a:p>
          <a:p>
            <a:pPr marL="0" indent="0" algn="just">
              <a:buNone/>
            </a:pPr>
            <a:r>
              <a:rPr lang="en-US" sz="2600" b="1" dirty="0">
                <a:solidFill>
                  <a:schemeClr val="bg1"/>
                </a:solidFill>
                <a:latin typeface="Times New Roman" panose="02020603050405020304" pitchFamily="18" charset="0"/>
                <a:cs typeface="Times New Roman" panose="02020603050405020304" pitchFamily="18" charset="0"/>
              </a:rPr>
              <a:t>(</a:t>
            </a:r>
            <a:r>
              <a:rPr lang="en-US" sz="2400" b="1" dirty="0">
                <a:solidFill>
                  <a:schemeClr val="bg1"/>
                </a:solidFill>
                <a:latin typeface="Times New Roman" panose="02020603050405020304" pitchFamily="18" charset="0"/>
                <a:cs typeface="Times New Roman" panose="02020603050405020304" pitchFamily="18" charset="0"/>
              </a:rPr>
              <a:t>i) Breakdown voltage</a:t>
            </a:r>
            <a:r>
              <a:rPr lang="en-US" sz="2600" b="1" dirty="0">
                <a:solidFill>
                  <a:schemeClr val="bg1"/>
                </a:solidFill>
                <a:latin typeface="Times New Roman" panose="02020603050405020304" pitchFamily="18" charset="0"/>
                <a:cs typeface="Times New Roman" panose="02020603050405020304" pitchFamily="18" charset="0"/>
              </a:rPr>
              <a:t>: </a:t>
            </a:r>
            <a:r>
              <a:rPr lang="en-US" sz="2600" dirty="0">
                <a:solidFill>
                  <a:schemeClr val="bg1"/>
                </a:solidFill>
                <a:latin typeface="Times New Roman" panose="02020603050405020304" pitchFamily="18" charset="0"/>
                <a:cs typeface="Times New Roman" panose="02020603050405020304" pitchFamily="18" charset="0"/>
              </a:rPr>
              <a:t>It is the voltage at which the p-n junction suddenly allows a large increase in current, leading to damage or destruction of the </a:t>
            </a:r>
            <a:r>
              <a:rPr lang="en-US" sz="2600">
                <a:solidFill>
                  <a:schemeClr val="bg1"/>
                </a:solidFill>
                <a:latin typeface="Times New Roman" panose="02020603050405020304" pitchFamily="18" charset="0"/>
                <a:cs typeface="Times New Roman" panose="02020603050405020304" pitchFamily="18" charset="0"/>
              </a:rPr>
              <a:t>device.</a:t>
            </a:r>
            <a:endParaRPr lang="en-US" sz="2600" dirty="0">
              <a:solidFill>
                <a:schemeClr val="bg1"/>
              </a:solidFill>
              <a:latin typeface="Times New Roman" panose="02020603050405020304" pitchFamily="18" charset="0"/>
              <a:cs typeface="Times New Roman" panose="02020603050405020304" pitchFamily="18" charset="0"/>
            </a:endParaRPr>
          </a:p>
          <a:p>
            <a:pPr marL="0" indent="0" algn="just">
              <a:buNone/>
            </a:pPr>
            <a:r>
              <a:rPr lang="en-US" sz="1900" b="1" dirty="0">
                <a:solidFill>
                  <a:schemeClr val="bg1"/>
                </a:solidFill>
                <a:latin typeface="Times New Roman" panose="02020603050405020304" pitchFamily="18" charset="0"/>
                <a:cs typeface="Times New Roman" panose="02020603050405020304" pitchFamily="18" charset="0"/>
              </a:rPr>
              <a:t>(</a:t>
            </a:r>
            <a:r>
              <a:rPr lang="en-US" sz="2400" b="1" dirty="0">
                <a:solidFill>
                  <a:schemeClr val="bg1"/>
                </a:solidFill>
                <a:latin typeface="Times New Roman" panose="02020603050405020304" pitchFamily="18" charset="0"/>
                <a:cs typeface="Times New Roman" panose="02020603050405020304" pitchFamily="18" charset="0"/>
              </a:rPr>
              <a:t>ii) Knee voltage: </a:t>
            </a:r>
            <a:r>
              <a:rPr lang="en-US" sz="2600" dirty="0">
                <a:solidFill>
                  <a:schemeClr val="bg1"/>
                </a:solidFill>
                <a:latin typeface="Times New Roman" panose="02020603050405020304" pitchFamily="18" charset="0"/>
                <a:cs typeface="Times New Roman" panose="02020603050405020304" pitchFamily="18" charset="0"/>
              </a:rPr>
              <a:t>It is the voltage at which the current flow through the </a:t>
            </a:r>
            <a:r>
              <a:rPr lang="en-US" sz="2600" dirty="0" err="1">
                <a:solidFill>
                  <a:schemeClr val="bg1"/>
                </a:solidFill>
                <a:latin typeface="Times New Roman" panose="02020603050405020304" pitchFamily="18" charset="0"/>
                <a:cs typeface="Times New Roman" panose="02020603050405020304" pitchFamily="18" charset="0"/>
              </a:rPr>
              <a:t>pn</a:t>
            </a:r>
            <a:r>
              <a:rPr lang="en-US" sz="2600" dirty="0">
                <a:solidFill>
                  <a:schemeClr val="bg1"/>
                </a:solidFill>
                <a:latin typeface="Times New Roman" panose="02020603050405020304" pitchFamily="18" charset="0"/>
                <a:cs typeface="Times New Roman" panose="02020603050405020304" pitchFamily="18" charset="0"/>
              </a:rPr>
              <a:t> junction starts to increase </a:t>
            </a:r>
            <a:r>
              <a:rPr lang="en-US" sz="2600">
                <a:solidFill>
                  <a:schemeClr val="bg1"/>
                </a:solidFill>
                <a:latin typeface="Times New Roman" panose="02020603050405020304" pitchFamily="18" charset="0"/>
                <a:cs typeface="Times New Roman" panose="02020603050405020304" pitchFamily="18" charset="0"/>
              </a:rPr>
              <a:t>rapidly.</a:t>
            </a:r>
            <a:endParaRPr lang="en-US" sz="2600" b="1" dirty="0">
              <a:solidFill>
                <a:schemeClr val="bg1"/>
              </a:solidFill>
              <a:latin typeface="Times New Roman" panose="02020603050405020304" pitchFamily="18" charset="0"/>
              <a:cs typeface="Times New Roman" panose="02020603050405020304" pitchFamily="18" charset="0"/>
            </a:endParaRPr>
          </a:p>
          <a:p>
            <a:pPr marL="0" indent="0" algn="just">
              <a:buNone/>
            </a:pPr>
            <a:r>
              <a:rPr lang="en-US" sz="2400" b="1" dirty="0">
                <a:solidFill>
                  <a:schemeClr val="bg1"/>
                </a:solidFill>
                <a:latin typeface="Times New Roman" panose="02020603050405020304" pitchFamily="18" charset="0"/>
                <a:cs typeface="Times New Roman" panose="02020603050405020304" pitchFamily="18" charset="0"/>
              </a:rPr>
              <a:t>(iii) Limitations in operating conditions of p-n junction: </a:t>
            </a:r>
            <a:r>
              <a:rPr lang="en-US" sz="2600" dirty="0">
                <a:solidFill>
                  <a:schemeClr val="bg1"/>
                </a:solidFill>
                <a:latin typeface="Times New Roman" panose="02020603050405020304" pitchFamily="18" charset="0"/>
                <a:cs typeface="Times New Roman" panose="02020603050405020304" pitchFamily="18" charset="0"/>
              </a:rPr>
              <a:t>The p-n junction has limitations in its operating temperature range, high </a:t>
            </a:r>
            <a:r>
              <a:rPr lang="en-US" sz="2600">
                <a:solidFill>
                  <a:schemeClr val="bg1"/>
                </a:solidFill>
                <a:latin typeface="Times New Roman" panose="02020603050405020304" pitchFamily="18" charset="0"/>
                <a:cs typeface="Times New Roman" panose="02020603050405020304" pitchFamily="18" charset="0"/>
              </a:rPr>
              <a:t>reverse voltage, </a:t>
            </a:r>
            <a:r>
              <a:rPr lang="en-US" sz="2600" dirty="0">
                <a:solidFill>
                  <a:schemeClr val="bg1"/>
                </a:solidFill>
                <a:latin typeface="Times New Roman" panose="02020603050405020304" pitchFamily="18" charset="0"/>
                <a:cs typeface="Times New Roman" panose="02020603050405020304" pitchFamily="18" charset="0"/>
              </a:rPr>
              <a:t>and high forward current, which can lead to thermal breakdown and device degradation. The junction also has a limited frequency response, making it unsuitable for high-speed applications.</a:t>
            </a:r>
          </a:p>
          <a:p>
            <a:pPr marL="0" indent="0" algn="just">
              <a:buNone/>
            </a:pP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1664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812" y="2629957"/>
            <a:ext cx="3983038" cy="1507067"/>
          </a:xfrm>
        </p:spPr>
        <p:txBody>
          <a:bodyPr>
            <a:normAutofit/>
          </a:bodyPr>
          <a:lstStyle/>
          <a:p>
            <a:r>
              <a:rPr lang="en-US" sz="4000" b="1">
                <a:solidFill>
                  <a:schemeClr val="bg1"/>
                </a:solidFill>
                <a:latin typeface="Times New Roman" panose="02020603050405020304" pitchFamily="18" charset="0"/>
                <a:cs typeface="Times New Roman" panose="02020603050405020304" pitchFamily="18" charset="0"/>
              </a:rPr>
              <a:t>P-N Junction</a:t>
            </a:r>
            <a:endParaRPr lang="en-US" sz="4000"/>
          </a:p>
        </p:txBody>
      </p:sp>
      <p:pic>
        <p:nvPicPr>
          <p:cNvPr id="4" name="Content Placeholder 3">
            <a:extLst>
              <a:ext uri="{FF2B5EF4-FFF2-40B4-BE49-F238E27FC236}">
                <a16:creationId xmlns:a16="http://schemas.microsoft.com/office/drawing/2014/main" id="{CC616E3A-99C2-4B38-945C-6AEED0ACDEA3}"/>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67424" y="2239432"/>
            <a:ext cx="4056063" cy="2458774"/>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3340593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4EC9DD-C4C5-4007-8C66-45D6D81074F2}"/>
              </a:ext>
            </a:extLst>
          </p:cNvPr>
          <p:cNvSpPr>
            <a:spLocks noGrp="1"/>
          </p:cNvSpPr>
          <p:nvPr>
            <p:ph idx="1"/>
          </p:nvPr>
        </p:nvSpPr>
        <p:spPr>
          <a:xfrm>
            <a:off x="676276" y="590550"/>
            <a:ext cx="10801350" cy="6819901"/>
          </a:xfrm>
        </p:spPr>
        <p:txBody>
          <a:bodyPr>
            <a:normAutofit/>
          </a:bodyPr>
          <a:lstStyle/>
          <a:p>
            <a:pPr marL="0" indent="0" algn="just" fontAlgn="base">
              <a:buNone/>
            </a:pPr>
            <a:r>
              <a:rPr lang="en-US" b="1" dirty="0">
                <a:solidFill>
                  <a:schemeClr val="tx1"/>
                </a:solidFill>
                <a:latin typeface="Times New Roman" panose="02020603050405020304" pitchFamily="18" charset="0"/>
                <a:cs typeface="Times New Roman" panose="02020603050405020304" pitchFamily="18" charset="0"/>
              </a:rPr>
              <a:t>12. What Are P-N Junctions?</a:t>
            </a:r>
          </a:p>
          <a:p>
            <a:pPr marL="0" indent="0" algn="just" fontAlgn="base">
              <a:buNone/>
            </a:pPr>
            <a:r>
              <a:rPr lang="en-US" dirty="0">
                <a:solidFill>
                  <a:schemeClr val="bg1"/>
                </a:solidFill>
                <a:latin typeface="Times New Roman" panose="02020603050405020304" pitchFamily="18" charset="0"/>
                <a:cs typeface="Times New Roman" panose="02020603050405020304" pitchFamily="18" charset="0"/>
              </a:rPr>
              <a:t>A p-n junction is an interface between p-type and n-type semiconductor materials within a single semiconductor </a:t>
            </a:r>
            <a:r>
              <a:rPr lang="en-US">
                <a:solidFill>
                  <a:schemeClr val="bg1"/>
                </a:solidFill>
                <a:latin typeface="Times New Roman" panose="02020603050405020304" pitchFamily="18" charset="0"/>
                <a:cs typeface="Times New Roman" panose="02020603050405020304" pitchFamily="18" charset="0"/>
              </a:rPr>
              <a:t>crystal.</a:t>
            </a:r>
            <a:endParaRPr lang="en-US" dirty="0">
              <a:solidFill>
                <a:schemeClr val="bg1"/>
              </a:solidFill>
              <a:latin typeface="Times New Roman" panose="02020603050405020304" pitchFamily="18" charset="0"/>
              <a:cs typeface="Times New Roman" panose="02020603050405020304" pitchFamily="18" charset="0"/>
            </a:endParaRPr>
          </a:p>
          <a:p>
            <a:pPr marL="0" indent="0" algn="just" fontAlgn="base">
              <a:buNone/>
            </a:pPr>
            <a:r>
              <a:rPr lang="en-US" b="1" dirty="0">
                <a:solidFill>
                  <a:schemeClr val="tx1"/>
                </a:solidFill>
                <a:latin typeface="Times New Roman" panose="02020603050405020304" pitchFamily="18" charset="0"/>
                <a:cs typeface="Times New Roman" panose="02020603050405020304" pitchFamily="18" charset="0"/>
              </a:rPr>
              <a:t>13. How P-N Junctions Work?</a:t>
            </a:r>
          </a:p>
          <a:p>
            <a:pPr marL="0" indent="0" algn="just" fontAlgn="base">
              <a:buNone/>
            </a:pPr>
            <a:r>
              <a:rPr lang="en-US" dirty="0">
                <a:solidFill>
                  <a:schemeClr val="bg1"/>
                </a:solidFill>
                <a:latin typeface="Times New Roman" panose="02020603050405020304" pitchFamily="18" charset="0"/>
                <a:cs typeface="Times New Roman" panose="02020603050405020304" pitchFamily="18" charset="0"/>
              </a:rPr>
              <a:t>P-N junctions are what you get when you combine a p-type semiconductor and an n-type semiconductor, back to back, in a single crystal, with no boundaries between them.</a:t>
            </a:r>
          </a:p>
          <a:p>
            <a:pPr marL="0" indent="0" algn="just" fontAlgn="base">
              <a:buNone/>
            </a:pPr>
            <a:r>
              <a:rPr lang="en-US" dirty="0">
                <a:solidFill>
                  <a:schemeClr val="bg1"/>
                </a:solidFill>
                <a:latin typeface="Times New Roman" panose="02020603050405020304" pitchFamily="18" charset="0"/>
                <a:cs typeface="Times New Roman" panose="02020603050405020304" pitchFamily="18" charset="0"/>
              </a:rPr>
              <a:t>It might seem simple, but some surprising things happen as a result. Let’s take a look at a p-n junction to learn how they </a:t>
            </a:r>
            <a:r>
              <a:rPr lang="en-US">
                <a:solidFill>
                  <a:schemeClr val="bg1"/>
                </a:solidFill>
                <a:latin typeface="Times New Roman" panose="02020603050405020304" pitchFamily="18" charset="0"/>
                <a:cs typeface="Times New Roman" panose="02020603050405020304" pitchFamily="18" charset="0"/>
              </a:rPr>
              <a:t>work.</a:t>
            </a:r>
          </a:p>
          <a:p>
            <a:pPr marL="0" indent="0" algn="just" fontAlgn="base">
              <a:buNone/>
            </a:pPr>
            <a:r>
              <a:rPr lang="en-US">
                <a:solidFill>
                  <a:schemeClr val="bg1"/>
                </a:solidFill>
                <a:latin typeface="Times New Roman" panose="02020603050405020304" pitchFamily="18" charset="0"/>
                <a:cs typeface="Times New Roman" panose="02020603050405020304" pitchFamily="18" charset="0"/>
              </a:rPr>
              <a:t>The p-side contains a plethora of free holes and the n-side contains free electrons. Both sides are electrically neutral, as the charged atoms (ions) on either side balance out the charge of the free electrons and holes.</a:t>
            </a:r>
          </a:p>
          <a:p>
            <a:pPr marL="0" indent="0" algn="just" fontAlgn="base">
              <a:buNone/>
            </a:pPr>
            <a:r>
              <a:rPr lang="en-US">
                <a:solidFill>
                  <a:schemeClr val="bg1"/>
                </a:solidFill>
                <a:latin typeface="Times New Roman" panose="02020603050405020304" pitchFamily="18" charset="0"/>
                <a:cs typeface="Times New Roman" panose="02020603050405020304" pitchFamily="18" charset="0"/>
              </a:rPr>
              <a:t>On the p-side of the junction, negatively charged ions balance the charge of the free (positively charged) holes. On the n-side, positively charged ions balance the charge of the free (negatively charged) electrons.</a:t>
            </a:r>
          </a:p>
          <a:p>
            <a:pPr marL="0" indent="0" algn="just" fontAlgn="base">
              <a:buNone/>
            </a:pPr>
            <a:endParaRPr lang="en-US" dirty="0">
              <a:solidFill>
                <a:schemeClr val="bg1"/>
              </a:solidFill>
              <a:latin typeface="Times New Roman" panose="02020603050405020304" pitchFamily="18" charset="0"/>
              <a:cs typeface="Times New Roman" panose="02020603050405020304" pitchFamily="18" charset="0"/>
            </a:endParaRPr>
          </a:p>
          <a:p>
            <a:pPr marL="0" indent="0" algn="just" fontAlgn="base">
              <a:buNone/>
            </a:pPr>
            <a:endParaRPr lang="en-US" b="1" dirty="0">
              <a:solidFill>
                <a:schemeClr val="bg1"/>
              </a:solidFill>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05472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2B980B-C840-413A-83A7-714FAB5860E7}"/>
              </a:ext>
            </a:extLst>
          </p:cNvPr>
          <p:cNvSpPr>
            <a:spLocks noGrp="1"/>
          </p:cNvSpPr>
          <p:nvPr>
            <p:ph idx="1"/>
          </p:nvPr>
        </p:nvSpPr>
        <p:spPr>
          <a:xfrm>
            <a:off x="801041" y="589842"/>
            <a:ext cx="6552260" cy="4982283"/>
          </a:xfrm>
        </p:spPr>
        <p:txBody>
          <a:bodyPr>
            <a:normAutofit/>
          </a:bodyPr>
          <a:lstStyle/>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14. What is the formation of depletion layer in diode?</a:t>
            </a:r>
            <a:endParaRPr lang="en-US" sz="2400"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Formation of Depletion Layer in Diode. There is greater concentration of holes in P-region and electrons in N-region. This difference in concentration establishes a density mismatch across the junction resulting in majority carrier diffusion Holes diffuse from P to N and electrons from N to P regions causing the recombination.</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B632BAF-B76E-41C3-81ED-5DFCC530E8B5}"/>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7667623" y="1387966"/>
            <a:ext cx="3781425" cy="2869709"/>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5" name="Rectangle 4">
            <a:extLst>
              <a:ext uri="{FF2B5EF4-FFF2-40B4-BE49-F238E27FC236}">
                <a16:creationId xmlns:a16="http://schemas.microsoft.com/office/drawing/2014/main" id="{020CCE01-E0F7-44B3-B143-19E88CCE966A}"/>
              </a:ext>
            </a:extLst>
          </p:cNvPr>
          <p:cNvSpPr/>
          <p:nvPr/>
        </p:nvSpPr>
        <p:spPr>
          <a:xfrm>
            <a:off x="7856092" y="4584513"/>
            <a:ext cx="3404489" cy="400110"/>
          </a:xfrm>
          <a:prstGeom prst="rect">
            <a:avLst/>
          </a:prstGeom>
        </p:spPr>
        <p:txBody>
          <a:bodyPr wrap="square">
            <a:spAutoFit/>
          </a:bodyPr>
          <a:lstStyle/>
          <a:p>
            <a:pPr algn="ctr" fontAlgn="base">
              <a:spcAft>
                <a:spcPts val="1920"/>
              </a:spcAft>
            </a:pPr>
            <a:r>
              <a:rPr lang="en-US" sz="2000" dirty="0">
                <a:latin typeface="Times New Roman" panose="02020603050405020304" pitchFamily="18" charset="0"/>
                <a:ea typeface="Times New Roman" panose="02020603050405020304" pitchFamily="18" charset="0"/>
              </a:rPr>
              <a:t>Fig: depletion layer formation</a:t>
            </a:r>
          </a:p>
        </p:txBody>
      </p:sp>
    </p:spTree>
    <p:extLst>
      <p:ext uri="{BB962C8B-B14F-4D97-AF65-F5344CB8AC3E}">
        <p14:creationId xmlns:p14="http://schemas.microsoft.com/office/powerpoint/2010/main" val="5532079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404B0D-3506-4EE7-AC28-0E645B6AA4DA}"/>
              </a:ext>
            </a:extLst>
          </p:cNvPr>
          <p:cNvSpPr>
            <a:spLocks noGrp="1"/>
          </p:cNvSpPr>
          <p:nvPr>
            <p:ph idx="1"/>
          </p:nvPr>
        </p:nvSpPr>
        <p:spPr>
          <a:xfrm>
            <a:off x="743755" y="746750"/>
            <a:ext cx="10933895" cy="4844425"/>
          </a:xfrm>
        </p:spPr>
        <p:txBody>
          <a:bodyPr>
            <a:normAutofit/>
          </a:bodyPr>
          <a:lstStyle/>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15. What is PIV rating in a diode?</a:t>
            </a: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PIV stands for </a:t>
            </a:r>
            <a:r>
              <a:rPr lang="en-US" sz="2400" b="1" dirty="0">
                <a:solidFill>
                  <a:schemeClr val="bg1"/>
                </a:solidFill>
                <a:latin typeface="Times New Roman" panose="02020603050405020304" pitchFamily="18" charset="0"/>
                <a:cs typeface="Times New Roman" panose="02020603050405020304" pitchFamily="18" charset="0"/>
              </a:rPr>
              <a:t>‘Peak Inverse Voltage’</a:t>
            </a:r>
            <a:r>
              <a:rPr lang="en-US" sz="2400" dirty="0">
                <a:solidFill>
                  <a:schemeClr val="bg1"/>
                </a:solidFill>
                <a:latin typeface="Times New Roman" panose="02020603050405020304" pitchFamily="18" charset="0"/>
                <a:cs typeface="Times New Roman" panose="02020603050405020304" pitchFamily="18" charset="0"/>
              </a:rPr>
              <a:t>. It refers to the maximum reverse bias voltage a semiconductor diode or other semiconductor devices can withstand without damaging themselves. The peak inverse voltage is also known as </a:t>
            </a:r>
            <a:r>
              <a:rPr lang="en-US" sz="2400" b="1" dirty="0">
                <a:solidFill>
                  <a:schemeClr val="bg1"/>
                </a:solidFill>
                <a:latin typeface="Times New Roman" panose="02020603050405020304" pitchFamily="18" charset="0"/>
                <a:cs typeface="Times New Roman" panose="02020603050405020304" pitchFamily="18" charset="0"/>
              </a:rPr>
              <a:t>peak reverse </a:t>
            </a:r>
            <a:r>
              <a:rPr lang="en-US" sz="2400" b="1">
                <a:solidFill>
                  <a:schemeClr val="bg1"/>
                </a:solidFill>
                <a:latin typeface="Times New Roman" panose="02020603050405020304" pitchFamily="18" charset="0"/>
                <a:cs typeface="Times New Roman" panose="02020603050405020304" pitchFamily="18" charset="0"/>
              </a:rPr>
              <a:t>voltage.</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PIV rating of a diode is temperature-dependent. It increases with an increase in temperature and decreases with a decrease in temperature. Peak Inverse voltage rating is determined by the manufacturer. A typical diode used in rectifiers has a PIV rating of at least 50Vdc at room temperature. However, diodes with high peak inverse voltage ratings of thousands of volts are also available in the market.</a:t>
            </a:r>
          </a:p>
          <a:p>
            <a:pPr marL="0" indent="0" algn="just">
              <a:buNone/>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74232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D3F431-6303-4185-A3F9-CF6D910622F0}"/>
              </a:ext>
            </a:extLst>
          </p:cNvPr>
          <p:cNvSpPr>
            <a:spLocks noGrp="1"/>
          </p:cNvSpPr>
          <p:nvPr>
            <p:ph idx="1"/>
          </p:nvPr>
        </p:nvSpPr>
        <p:spPr>
          <a:xfrm>
            <a:off x="803909" y="558532"/>
            <a:ext cx="7116329" cy="6185034"/>
          </a:xfrm>
        </p:spPr>
        <p:txBody>
          <a:bodyPr>
            <a:normAutofit/>
          </a:bodyPr>
          <a:lstStyle/>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16. Describe V-I Characteristics of PN Junction Diode?</a:t>
            </a:r>
          </a:p>
          <a:p>
            <a:pPr marL="0" indent="0" algn="just" fontAlgn="base">
              <a:buNone/>
            </a:pPr>
            <a:r>
              <a:rPr lang="en-US" sz="2400" dirty="0">
                <a:solidFill>
                  <a:schemeClr val="bg1"/>
                </a:solidFill>
                <a:latin typeface="Times New Roman" panose="02020603050405020304" pitchFamily="18" charset="0"/>
                <a:cs typeface="Times New Roman" panose="02020603050405020304" pitchFamily="18" charset="0"/>
              </a:rPr>
              <a:t>Volt-ampere (V-I) characteristics of a p-n junction or semiconductor diode is the curve between voltage across the junction and the current through the circuit. Normally the voltage is taken along the x-axis and current along y-axis.</a:t>
            </a:r>
          </a:p>
          <a:p>
            <a:pPr marL="0" indent="0" algn="just" fontAlgn="base">
              <a:buNone/>
            </a:pPr>
            <a:endParaRPr lang="en-US" sz="2400" dirty="0">
              <a:solidFill>
                <a:schemeClr val="bg1"/>
              </a:solidFill>
              <a:latin typeface="Times New Roman" panose="02020603050405020304" pitchFamily="18" charset="0"/>
              <a:cs typeface="Times New Roman" panose="02020603050405020304" pitchFamily="18" charset="0"/>
            </a:endParaRPr>
          </a:p>
          <a:p>
            <a:pPr marL="0" indent="0" algn="just" fontAlgn="base">
              <a:buNone/>
            </a:pPr>
            <a:r>
              <a:rPr lang="en-US" sz="2400" dirty="0">
                <a:solidFill>
                  <a:schemeClr val="bg1"/>
                </a:solidFill>
                <a:latin typeface="Times New Roman" panose="02020603050405020304" pitchFamily="18" charset="0"/>
                <a:cs typeface="Times New Roman" panose="02020603050405020304" pitchFamily="18" charset="0"/>
              </a:rPr>
              <a:t>The circuit connection for determining the V-I characteristics of a p-n junction is shown in the figure below.</a:t>
            </a:r>
          </a:p>
          <a:p>
            <a:pPr marL="0" indent="0" algn="just">
              <a:buNone/>
            </a:pPr>
            <a:endParaRPr lang="en-US" sz="2400" b="1" dirty="0">
              <a:solidFill>
                <a:schemeClr val="bg1"/>
              </a:solidFill>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B9DA476-E393-4E98-8266-35DD14B58891}"/>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8054044" y="1428750"/>
            <a:ext cx="3419475" cy="210502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5" name="Rectangle 4">
            <a:extLst>
              <a:ext uri="{FF2B5EF4-FFF2-40B4-BE49-F238E27FC236}">
                <a16:creationId xmlns:a16="http://schemas.microsoft.com/office/drawing/2014/main" id="{F54D7361-F485-4950-A1EE-31F19566BDC2}"/>
              </a:ext>
            </a:extLst>
          </p:cNvPr>
          <p:cNvSpPr/>
          <p:nvPr/>
        </p:nvSpPr>
        <p:spPr>
          <a:xfrm>
            <a:off x="8054044" y="4001294"/>
            <a:ext cx="3810296" cy="707886"/>
          </a:xfrm>
          <a:prstGeom prst="rect">
            <a:avLst/>
          </a:prstGeom>
        </p:spPr>
        <p:txBody>
          <a:bodyPr wrap="square">
            <a:spAutoFit/>
          </a:bodyPr>
          <a:lstStyle/>
          <a:p>
            <a:pPr algn="ctr" fontAlgn="base">
              <a:spcAft>
                <a:spcPts val="1500"/>
              </a:spcAft>
            </a:pPr>
            <a:r>
              <a:rPr lang="en-US" sz="2000" dirty="0">
                <a:latin typeface="Times New Roman" panose="02020603050405020304" pitchFamily="18" charset="0"/>
                <a:ea typeface="Times New Roman" panose="02020603050405020304" pitchFamily="18" charset="0"/>
              </a:rPr>
              <a:t>Fig.1: Circuit Connection for V-I characteristics of a p-n junction</a:t>
            </a:r>
          </a:p>
        </p:txBody>
      </p:sp>
    </p:spTree>
    <p:extLst>
      <p:ext uri="{BB962C8B-B14F-4D97-AF65-F5344CB8AC3E}">
        <p14:creationId xmlns:p14="http://schemas.microsoft.com/office/powerpoint/2010/main" val="22420256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371D30-83ED-4201-B63D-FD17A6A722CA}"/>
              </a:ext>
            </a:extLst>
          </p:cNvPr>
          <p:cNvSpPr>
            <a:spLocks noGrp="1"/>
          </p:cNvSpPr>
          <p:nvPr>
            <p:ph idx="1"/>
          </p:nvPr>
        </p:nvSpPr>
        <p:spPr>
          <a:xfrm>
            <a:off x="671444" y="279242"/>
            <a:ext cx="6786094" cy="6254437"/>
          </a:xfrm>
        </p:spPr>
        <p:txBody>
          <a:bodyPr>
            <a:normAutofit/>
          </a:bodyPr>
          <a:lstStyle/>
          <a:p>
            <a:pPr marL="0" indent="0" algn="just" fontAlgn="base">
              <a:buNone/>
            </a:pPr>
            <a:r>
              <a:rPr lang="en-US" sz="2400" dirty="0">
                <a:solidFill>
                  <a:schemeClr val="bg1"/>
                </a:solidFill>
                <a:latin typeface="Times New Roman" panose="02020603050405020304" pitchFamily="18" charset="0"/>
                <a:cs typeface="Times New Roman" panose="02020603050405020304" pitchFamily="18" charset="0"/>
              </a:rPr>
              <a:t>The characteristics can be explained under three cases such as:</a:t>
            </a:r>
          </a:p>
          <a:p>
            <a:pPr marL="571500" lvl="0" indent="-571500" algn="just" fontAlgn="base">
              <a:buClr>
                <a:schemeClr val="bg1"/>
              </a:buClr>
              <a:buFont typeface="+mj-lt"/>
              <a:buAutoNum type="romanLcPeriod"/>
            </a:pPr>
            <a:r>
              <a:rPr lang="en-US" sz="2400">
                <a:solidFill>
                  <a:schemeClr val="bg1"/>
                </a:solidFill>
                <a:latin typeface="Times New Roman" panose="02020603050405020304" pitchFamily="18" charset="0"/>
                <a:cs typeface="Times New Roman" panose="02020603050405020304" pitchFamily="18" charset="0"/>
              </a:rPr>
              <a:t>Zero bias </a:t>
            </a:r>
          </a:p>
          <a:p>
            <a:pPr marL="571500" lvl="0" indent="-571500" algn="just" fontAlgn="base">
              <a:buClr>
                <a:schemeClr val="bg1"/>
              </a:buClr>
              <a:buFont typeface="+mj-lt"/>
              <a:buAutoNum type="romanLcPeriod"/>
            </a:pPr>
            <a:r>
              <a:rPr lang="en-US" sz="2400">
                <a:solidFill>
                  <a:schemeClr val="bg1"/>
                </a:solidFill>
                <a:latin typeface="Times New Roman" panose="02020603050405020304" pitchFamily="18" charset="0"/>
                <a:cs typeface="Times New Roman" panose="02020603050405020304" pitchFamily="18" charset="0"/>
              </a:rPr>
              <a:t>Forward bias </a:t>
            </a:r>
          </a:p>
          <a:p>
            <a:pPr marL="571500" lvl="0" indent="-571500" algn="just" fontAlgn="base">
              <a:buClr>
                <a:schemeClr val="bg1"/>
              </a:buClr>
              <a:buFont typeface="+mj-lt"/>
              <a:buAutoNum type="romanLcPeriod"/>
            </a:pPr>
            <a:r>
              <a:rPr lang="en-US" sz="2400">
                <a:solidFill>
                  <a:schemeClr val="bg1"/>
                </a:solidFill>
                <a:latin typeface="Times New Roman" panose="02020603050405020304" pitchFamily="18" charset="0"/>
                <a:cs typeface="Times New Roman" panose="02020603050405020304" pitchFamily="18" charset="0"/>
              </a:rPr>
              <a:t>Reverse bias</a:t>
            </a:r>
            <a:endParaRPr lang="en-US" sz="2400" dirty="0">
              <a:solidFill>
                <a:schemeClr val="bg1"/>
              </a:solidFill>
              <a:latin typeface="Times New Roman" panose="02020603050405020304" pitchFamily="18" charset="0"/>
              <a:cs typeface="Times New Roman" panose="02020603050405020304" pitchFamily="18" charset="0"/>
            </a:endParaRPr>
          </a:p>
          <a:p>
            <a:pPr marL="0" indent="0" algn="just" fontAlgn="base">
              <a:buNone/>
            </a:pPr>
            <a:r>
              <a:rPr lang="en-US" b="1" dirty="0">
                <a:solidFill>
                  <a:schemeClr val="bg1"/>
                </a:solidFill>
                <a:latin typeface="Times New Roman" panose="02020603050405020304" pitchFamily="18" charset="0"/>
                <a:cs typeface="Times New Roman" panose="02020603050405020304" pitchFamily="18" charset="0"/>
              </a:rPr>
              <a:t>Case-1: Zero Bias</a:t>
            </a:r>
            <a:endParaRPr lang="en-US" dirty="0">
              <a:solidFill>
                <a:schemeClr val="bg1"/>
              </a:solidFill>
              <a:latin typeface="Times New Roman" panose="02020603050405020304" pitchFamily="18" charset="0"/>
              <a:cs typeface="Times New Roman" panose="02020603050405020304" pitchFamily="18" charset="0"/>
            </a:endParaRPr>
          </a:p>
          <a:p>
            <a:pPr marL="0" indent="0" algn="just" fontAlgn="base">
              <a:buNone/>
            </a:pPr>
            <a:r>
              <a:rPr lang="en-US" sz="2400" dirty="0">
                <a:solidFill>
                  <a:schemeClr val="bg1"/>
                </a:solidFill>
                <a:latin typeface="Times New Roman" panose="02020603050405020304" pitchFamily="18" charset="0"/>
                <a:cs typeface="Times New Roman" panose="02020603050405020304" pitchFamily="18" charset="0"/>
              </a:rPr>
              <a:t>In zero bias condition, no external voltage is applied to the </a:t>
            </a:r>
            <a:r>
              <a:rPr lang="en-US" sz="2400" dirty="0" err="1">
                <a:solidFill>
                  <a:schemeClr val="bg1"/>
                </a:solidFill>
                <a:latin typeface="Times New Roman" panose="02020603050405020304" pitchFamily="18" charset="0"/>
                <a:cs typeface="Times New Roman" panose="02020603050405020304" pitchFamily="18" charset="0"/>
              </a:rPr>
              <a:t>pn</a:t>
            </a:r>
            <a:r>
              <a:rPr lang="en-US" sz="2400" dirty="0">
                <a:solidFill>
                  <a:schemeClr val="bg1"/>
                </a:solidFill>
                <a:latin typeface="Times New Roman" panose="02020603050405020304" pitchFamily="18" charset="0"/>
                <a:cs typeface="Times New Roman" panose="02020603050405020304" pitchFamily="18" charset="0"/>
              </a:rPr>
              <a:t> junction </a:t>
            </a:r>
            <a:r>
              <a:rPr lang="en-US" sz="2400" dirty="0" err="1">
                <a:solidFill>
                  <a:schemeClr val="bg1"/>
                </a:solidFill>
                <a:latin typeface="Times New Roman" panose="02020603050405020304" pitchFamily="18" charset="0"/>
                <a:cs typeface="Times New Roman" panose="02020603050405020304" pitchFamily="18" charset="0"/>
              </a:rPr>
              <a:t>i.e</a:t>
            </a:r>
            <a:r>
              <a:rPr lang="en-US" sz="2400" dirty="0">
                <a:solidFill>
                  <a:schemeClr val="bg1"/>
                </a:solidFill>
                <a:latin typeface="Times New Roman" panose="02020603050405020304" pitchFamily="18" charset="0"/>
                <a:cs typeface="Times New Roman" panose="02020603050405020304" pitchFamily="18" charset="0"/>
              </a:rPr>
              <a:t> the circuit is open at K.</a:t>
            </a:r>
          </a:p>
          <a:p>
            <a:pPr marL="0" indent="0" algn="just" fontAlgn="base">
              <a:buNone/>
            </a:pPr>
            <a:r>
              <a:rPr lang="en-US" sz="2400" dirty="0">
                <a:solidFill>
                  <a:schemeClr val="bg1"/>
                </a:solidFill>
                <a:latin typeface="Times New Roman" panose="02020603050405020304" pitchFamily="18" charset="0"/>
                <a:cs typeface="Times New Roman" panose="02020603050405020304" pitchFamily="18" charset="0"/>
              </a:rPr>
              <a:t>Hence, the potential barrier at the junction does not permit current flow.</a:t>
            </a:r>
          </a:p>
          <a:p>
            <a:pPr marL="0" indent="0" algn="just" fontAlgn="base">
              <a:buNone/>
            </a:pPr>
            <a:r>
              <a:rPr lang="en-US" sz="2400" dirty="0">
                <a:solidFill>
                  <a:schemeClr val="bg1"/>
                </a:solidFill>
                <a:latin typeface="Times New Roman" panose="02020603050405020304" pitchFamily="18" charset="0"/>
                <a:cs typeface="Times New Roman" panose="02020603050405020304" pitchFamily="18" charset="0"/>
              </a:rPr>
              <a:t>Therefore, the circuit current is zero at V=0 V, as indicated by point O in figure below.</a:t>
            </a:r>
          </a:p>
          <a:p>
            <a:pPr marL="0" indent="0" algn="just">
              <a:buNone/>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pic>
        <p:nvPicPr>
          <p:cNvPr id="4" name="Picture 3" descr="vi characteristics of pn junction">
            <a:hlinkClick r:id="rId2"/>
            <a:extLst>
              <a:ext uri="{FF2B5EF4-FFF2-40B4-BE49-F238E27FC236}">
                <a16:creationId xmlns:a16="http://schemas.microsoft.com/office/drawing/2014/main" id="{ABA13897-BF80-48DB-81B7-C713F2447255}"/>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7648575" y="441167"/>
            <a:ext cx="3886200" cy="320040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Rectangle 4">
            <a:extLst>
              <a:ext uri="{FF2B5EF4-FFF2-40B4-BE49-F238E27FC236}">
                <a16:creationId xmlns:a16="http://schemas.microsoft.com/office/drawing/2014/main" id="{E90661A0-479E-4593-82C5-C09A1C41156D}"/>
              </a:ext>
            </a:extLst>
          </p:cNvPr>
          <p:cNvSpPr/>
          <p:nvPr/>
        </p:nvSpPr>
        <p:spPr>
          <a:xfrm>
            <a:off x="7524329" y="3719512"/>
            <a:ext cx="4378827" cy="405367"/>
          </a:xfrm>
          <a:prstGeom prst="rect">
            <a:avLst/>
          </a:prstGeom>
        </p:spPr>
        <p:txBody>
          <a:bodyPr wrap="none">
            <a:spAutoFit/>
          </a:bodyPr>
          <a:lstStyle/>
          <a:p>
            <a:pPr algn="ctr" fontAlgn="base">
              <a:lnSpc>
                <a:spcPct val="107000"/>
              </a:lnSpc>
              <a:spcAft>
                <a:spcPts val="1500"/>
              </a:spcAf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Fig.2: V-I Characteristics of p-n Junction</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94963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D676CF-5E6C-4115-B7BC-BF465ACF4CC0}"/>
              </a:ext>
            </a:extLst>
          </p:cNvPr>
          <p:cNvSpPr>
            <a:spLocks noGrp="1"/>
          </p:cNvSpPr>
          <p:nvPr>
            <p:ph idx="1"/>
          </p:nvPr>
        </p:nvSpPr>
        <p:spPr>
          <a:xfrm>
            <a:off x="792454" y="553434"/>
            <a:ext cx="10628021" cy="5837304"/>
          </a:xfrm>
        </p:spPr>
        <p:txBody>
          <a:bodyPr>
            <a:normAutofit/>
          </a:bodyPr>
          <a:lstStyle/>
          <a:p>
            <a:pPr marL="0" indent="0" algn="just" fontAlgn="base">
              <a:buNone/>
            </a:pPr>
            <a:r>
              <a:rPr lang="en-US" b="1" dirty="0">
                <a:solidFill>
                  <a:schemeClr val="bg1"/>
                </a:solidFill>
                <a:latin typeface="Times New Roman" panose="02020603050405020304" pitchFamily="18" charset="0"/>
                <a:cs typeface="Times New Roman" panose="02020603050405020304" pitchFamily="18" charset="0"/>
              </a:rPr>
              <a:t>Case-2 : Forward Bias</a:t>
            </a:r>
            <a:endParaRPr lang="en-US" dirty="0">
              <a:solidFill>
                <a:schemeClr val="bg1"/>
              </a:solidFill>
              <a:latin typeface="Times New Roman" panose="02020603050405020304" pitchFamily="18" charset="0"/>
              <a:cs typeface="Times New Roman" panose="02020603050405020304" pitchFamily="18" charset="0"/>
            </a:endParaRPr>
          </a:p>
          <a:p>
            <a:pPr marL="0" indent="0" algn="just" fontAlgn="base">
              <a:buNone/>
            </a:pPr>
            <a:r>
              <a:rPr lang="en-US" sz="2400" dirty="0">
                <a:solidFill>
                  <a:schemeClr val="bg1"/>
                </a:solidFill>
                <a:latin typeface="Times New Roman" panose="02020603050405020304" pitchFamily="18" charset="0"/>
                <a:cs typeface="Times New Roman" panose="02020603050405020304" pitchFamily="18" charset="0"/>
              </a:rPr>
              <a:t>In forward biased condition , p-type of the </a:t>
            </a:r>
            <a:r>
              <a:rPr lang="en-US" sz="2400" dirty="0" err="1">
                <a:solidFill>
                  <a:schemeClr val="bg1"/>
                </a:solidFill>
                <a:latin typeface="Times New Roman" panose="02020603050405020304" pitchFamily="18" charset="0"/>
                <a:cs typeface="Times New Roman" panose="02020603050405020304" pitchFamily="18" charset="0"/>
              </a:rPr>
              <a:t>pn</a:t>
            </a:r>
            <a:r>
              <a:rPr lang="en-US" sz="2400" dirty="0">
                <a:solidFill>
                  <a:schemeClr val="bg1"/>
                </a:solidFill>
                <a:latin typeface="Times New Roman" panose="02020603050405020304" pitchFamily="18" charset="0"/>
                <a:cs typeface="Times New Roman" panose="02020603050405020304" pitchFamily="18" charset="0"/>
              </a:rPr>
              <a:t> junction is connected to the positive terminal and n-type is connected to the negative terminal of the external voltage.</a:t>
            </a:r>
          </a:p>
          <a:p>
            <a:pPr marL="0" indent="0" algn="just" fontAlgn="base">
              <a:buNone/>
            </a:pPr>
            <a:endParaRPr lang="en-US" sz="2400" b="1" dirty="0">
              <a:solidFill>
                <a:schemeClr val="bg1"/>
              </a:solidFill>
              <a:latin typeface="Times New Roman" panose="02020603050405020304" pitchFamily="18" charset="0"/>
              <a:cs typeface="Times New Roman" panose="02020603050405020304" pitchFamily="18" charset="0"/>
            </a:endParaRPr>
          </a:p>
          <a:p>
            <a:pPr marL="0" indent="0" algn="just" fontAlgn="base">
              <a:buNone/>
            </a:pPr>
            <a:r>
              <a:rPr lang="en-US" b="1" dirty="0">
                <a:solidFill>
                  <a:schemeClr val="bg1"/>
                </a:solidFill>
                <a:latin typeface="Times New Roman" panose="02020603050405020304" pitchFamily="18" charset="0"/>
                <a:cs typeface="Times New Roman" panose="02020603050405020304" pitchFamily="18" charset="0"/>
              </a:rPr>
              <a:t>Case-3 : Reverse Bias</a:t>
            </a:r>
          </a:p>
          <a:p>
            <a:pPr marL="0" indent="0" algn="just" fontAlgn="base">
              <a:buNone/>
            </a:pPr>
            <a:r>
              <a:rPr lang="en-US" sz="2400" dirty="0">
                <a:solidFill>
                  <a:schemeClr val="bg1"/>
                </a:solidFill>
                <a:latin typeface="Times New Roman" panose="02020603050405020304" pitchFamily="18" charset="0"/>
                <a:cs typeface="Times New Roman" panose="02020603050405020304" pitchFamily="18" charset="0"/>
              </a:rPr>
              <a:t>In reverse bias condition , the p-type of the </a:t>
            </a:r>
            <a:r>
              <a:rPr lang="en-US" sz="2400" dirty="0" err="1">
                <a:solidFill>
                  <a:schemeClr val="bg1"/>
                </a:solidFill>
                <a:latin typeface="Times New Roman" panose="02020603050405020304" pitchFamily="18" charset="0"/>
                <a:cs typeface="Times New Roman" panose="02020603050405020304" pitchFamily="18" charset="0"/>
              </a:rPr>
              <a:t>pn</a:t>
            </a:r>
            <a:r>
              <a:rPr lang="en-US" sz="2400" dirty="0">
                <a:solidFill>
                  <a:schemeClr val="bg1"/>
                </a:solidFill>
                <a:latin typeface="Times New Roman" panose="02020603050405020304" pitchFamily="18" charset="0"/>
                <a:cs typeface="Times New Roman" panose="02020603050405020304" pitchFamily="18" charset="0"/>
              </a:rPr>
              <a:t> junction is connected to the negative terminal and n-type is connected to the positive terminal of the external voltage.</a:t>
            </a:r>
          </a:p>
          <a:p>
            <a:pPr marL="0" indent="0" algn="just">
              <a:buNone/>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42216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077576-9B6A-43C9-84D2-1E9AB9108C2B}"/>
              </a:ext>
            </a:extLst>
          </p:cNvPr>
          <p:cNvSpPr>
            <a:spLocks noGrp="1"/>
          </p:cNvSpPr>
          <p:nvPr>
            <p:ph idx="1"/>
          </p:nvPr>
        </p:nvSpPr>
        <p:spPr>
          <a:xfrm>
            <a:off x="735169" y="76200"/>
            <a:ext cx="10847231" cy="7429500"/>
          </a:xfrm>
        </p:spPr>
        <p:txBody>
          <a:bodyPr>
            <a:normAutofit/>
          </a:bodyPr>
          <a:lstStyle/>
          <a:p>
            <a:pPr marL="0" indent="0" algn="just">
              <a:buNone/>
            </a:pPr>
            <a:r>
              <a:rPr lang="en-US" b="1" dirty="0">
                <a:solidFill>
                  <a:schemeClr val="tx1"/>
                </a:solidFill>
                <a:latin typeface="Times New Roman" panose="02020603050405020304" pitchFamily="18" charset="0"/>
                <a:cs typeface="Times New Roman" panose="02020603050405020304" pitchFamily="18" charset="0"/>
              </a:rPr>
              <a:t>17. What is Transition &amp; diffusion capacitance?</a:t>
            </a:r>
            <a:endParaRPr lang="en-US" dirty="0">
              <a:solidFill>
                <a:schemeClr val="tx1"/>
              </a:solidFill>
              <a:latin typeface="Times New Roman" panose="02020603050405020304" pitchFamily="18" charset="0"/>
              <a:cs typeface="Times New Roman" panose="02020603050405020304" pitchFamily="18" charset="0"/>
            </a:endParaRPr>
          </a:p>
          <a:p>
            <a:pPr marL="0" indent="0" algn="just" fontAlgn="base">
              <a:buNone/>
            </a:pPr>
            <a:r>
              <a:rPr lang="en-US" b="1" dirty="0">
                <a:solidFill>
                  <a:schemeClr val="bg1"/>
                </a:solidFill>
                <a:latin typeface="Times New Roman" panose="02020603050405020304" pitchFamily="18" charset="0"/>
                <a:cs typeface="Times New Roman" panose="02020603050405020304" pitchFamily="18" charset="0"/>
              </a:rPr>
              <a:t>Transition capacitance</a:t>
            </a:r>
          </a:p>
          <a:p>
            <a:pPr marL="0" indent="0" algn="just">
              <a:buNone/>
            </a:pPr>
            <a:r>
              <a:rPr lang="en-US" dirty="0">
                <a:solidFill>
                  <a:schemeClr val="bg1"/>
                </a:solidFill>
                <a:latin typeface="Times New Roman" panose="02020603050405020304" pitchFamily="18" charset="0"/>
                <a:cs typeface="Times New Roman" panose="02020603050405020304" pitchFamily="18" charset="0"/>
              </a:rPr>
              <a:t>The amount of capacitance changed with increase in voltage is called transition capacitance. The transition capacitance is also known as depletion region capacitance, junction capacitance or barrier capacitance. Transition capacitance is denoted as C</a:t>
            </a:r>
            <a:r>
              <a:rPr lang="en-US" baseline="-25000" dirty="0">
                <a:solidFill>
                  <a:schemeClr val="bg1"/>
                </a:solidFill>
                <a:latin typeface="Times New Roman" panose="02020603050405020304" pitchFamily="18" charset="0"/>
                <a:cs typeface="Times New Roman" panose="02020603050405020304" pitchFamily="18" charset="0"/>
              </a:rPr>
              <a:t>T</a:t>
            </a:r>
            <a:r>
              <a:rPr lang="en-US" dirty="0">
                <a:solidFill>
                  <a:schemeClr val="bg1"/>
                </a:solidFill>
                <a:latin typeface="Times New Roman" panose="02020603050405020304" pitchFamily="18" charset="0"/>
                <a:cs typeface="Times New Roman" panose="02020603050405020304" pitchFamily="18" charset="0"/>
              </a:rPr>
              <a:t>.</a:t>
            </a:r>
          </a:p>
          <a:p>
            <a:pPr marL="0" indent="0" algn="just">
              <a:buNone/>
            </a:pPr>
            <a:r>
              <a:rPr lang="en-US" dirty="0">
                <a:solidFill>
                  <a:schemeClr val="bg1"/>
                </a:solidFill>
                <a:latin typeface="Times New Roman" panose="02020603050405020304" pitchFamily="18" charset="0"/>
                <a:cs typeface="Times New Roman" panose="02020603050405020304" pitchFamily="18" charset="0"/>
              </a:rPr>
              <a:t>The change of capacitance at the depletion region can be defined as the change in electric charge per change in voltage.</a:t>
            </a:r>
          </a:p>
          <a:p>
            <a:pPr marL="0" indent="0" algn="just">
              <a:buNone/>
            </a:pPr>
            <a:r>
              <a:rPr lang="en-US" dirty="0">
                <a:solidFill>
                  <a:schemeClr val="bg1"/>
                </a:solidFill>
                <a:latin typeface="Times New Roman" panose="02020603050405020304" pitchFamily="18" charset="0"/>
                <a:cs typeface="Times New Roman" panose="02020603050405020304" pitchFamily="18" charset="0"/>
              </a:rPr>
              <a:t>                     </a:t>
            </a:r>
            <a:r>
              <a:rPr lang="en-US" b="1" dirty="0">
                <a:solidFill>
                  <a:schemeClr val="bg1"/>
                </a:solidFill>
                <a:latin typeface="Times New Roman" panose="02020603050405020304" pitchFamily="18" charset="0"/>
                <a:cs typeface="Times New Roman" panose="02020603050405020304" pitchFamily="18" charset="0"/>
              </a:rPr>
              <a:t>CT = dQ / dV</a:t>
            </a:r>
          </a:p>
          <a:p>
            <a:pPr marL="0" indent="0" algn="just">
              <a:buNone/>
            </a:pPr>
            <a:r>
              <a:rPr lang="en-US" dirty="0">
                <a:solidFill>
                  <a:schemeClr val="bg1"/>
                </a:solidFill>
                <a:latin typeface="Times New Roman" panose="02020603050405020304" pitchFamily="18" charset="0"/>
                <a:cs typeface="Times New Roman" panose="02020603050405020304" pitchFamily="18" charset="0"/>
              </a:rPr>
              <a:t>Where,</a:t>
            </a:r>
          </a:p>
          <a:p>
            <a:pPr marL="0" indent="0" algn="just">
              <a:buNone/>
            </a:pPr>
            <a:r>
              <a:rPr lang="en-US" dirty="0">
                <a:solidFill>
                  <a:schemeClr val="bg1"/>
                </a:solidFill>
                <a:latin typeface="Times New Roman" panose="02020603050405020304" pitchFamily="18" charset="0"/>
                <a:cs typeface="Times New Roman" panose="02020603050405020304" pitchFamily="18" charset="0"/>
              </a:rPr>
              <a:t>              CT = Transition capacitance</a:t>
            </a:r>
          </a:p>
          <a:p>
            <a:pPr marL="0" indent="0" algn="just">
              <a:buNone/>
            </a:pPr>
            <a:r>
              <a:rPr lang="en-US" dirty="0">
                <a:solidFill>
                  <a:schemeClr val="bg1"/>
                </a:solidFill>
                <a:latin typeface="Times New Roman" panose="02020603050405020304" pitchFamily="18" charset="0"/>
                <a:cs typeface="Times New Roman" panose="02020603050405020304" pitchFamily="18" charset="0"/>
              </a:rPr>
              <a:t>              dQ = Change in electric charge</a:t>
            </a:r>
          </a:p>
          <a:p>
            <a:pPr marL="0" indent="0" algn="just">
              <a:buNone/>
            </a:pPr>
            <a:r>
              <a:rPr lang="en-US" dirty="0">
                <a:solidFill>
                  <a:schemeClr val="bg1"/>
                </a:solidFill>
                <a:latin typeface="Times New Roman" panose="02020603050405020304" pitchFamily="18" charset="0"/>
                <a:cs typeface="Times New Roman" panose="02020603050405020304" pitchFamily="18" charset="0"/>
              </a:rPr>
              <a:t>              dV = Change in voltage</a:t>
            </a:r>
          </a:p>
          <a:p>
            <a:pPr marL="0" indent="0" algn="just">
              <a:buNone/>
            </a:pPr>
            <a:r>
              <a:rPr lang="en-US" b="1" dirty="0">
                <a:solidFill>
                  <a:schemeClr val="bg1"/>
                </a:solidFill>
                <a:latin typeface="Times New Roman" panose="02020603050405020304" pitchFamily="18" charset="0"/>
                <a:cs typeface="Times New Roman" panose="02020603050405020304" pitchFamily="18" charset="0"/>
              </a:rPr>
              <a:t>Diffusion capacitance (C</a:t>
            </a:r>
            <a:r>
              <a:rPr lang="en-US" b="1" baseline="-25000" dirty="0">
                <a:solidFill>
                  <a:schemeClr val="bg1"/>
                </a:solidFill>
                <a:latin typeface="Times New Roman" panose="02020603050405020304" pitchFamily="18" charset="0"/>
                <a:cs typeface="Times New Roman" panose="02020603050405020304" pitchFamily="18" charset="0"/>
              </a:rPr>
              <a:t>D</a:t>
            </a:r>
            <a:r>
              <a:rPr lang="en-US" b="1" dirty="0">
                <a:solidFill>
                  <a:schemeClr val="bg1"/>
                </a:solidFill>
                <a:latin typeface="Times New Roman" panose="02020603050405020304" pitchFamily="18" charset="0"/>
                <a:cs typeface="Times New Roman" panose="02020603050405020304" pitchFamily="18" charset="0"/>
              </a:rPr>
              <a:t>)</a:t>
            </a:r>
          </a:p>
          <a:p>
            <a:pPr marL="0" indent="0" algn="just">
              <a:buNone/>
            </a:pPr>
            <a:r>
              <a:rPr lang="en-US" dirty="0">
                <a:solidFill>
                  <a:schemeClr val="bg1"/>
                </a:solidFill>
                <a:latin typeface="Times New Roman" panose="02020603050405020304" pitchFamily="18" charset="0"/>
                <a:cs typeface="Times New Roman" panose="02020603050405020304" pitchFamily="18" charset="0"/>
              </a:rPr>
              <a:t>Diffusion capacitance occurs in a forward biased p-n junction diode. Diffusion capacitance is also sometimes referred as storage capacitance. It is denoted as C</a:t>
            </a:r>
            <a:r>
              <a:rPr lang="en-US" baseline="-25000" dirty="0">
                <a:solidFill>
                  <a:schemeClr val="bg1"/>
                </a:solidFill>
                <a:latin typeface="Times New Roman" panose="02020603050405020304" pitchFamily="18" charset="0"/>
                <a:cs typeface="Times New Roman" panose="02020603050405020304" pitchFamily="18" charset="0"/>
              </a:rPr>
              <a:t>D</a:t>
            </a:r>
            <a:r>
              <a:rPr lang="en-US" dirty="0">
                <a:solidFill>
                  <a:schemeClr val="bg1"/>
                </a:solidFill>
                <a:latin typeface="Times New Roman" panose="02020603050405020304" pitchFamily="18" charset="0"/>
                <a:cs typeface="Times New Roman" panose="02020603050405020304" pitchFamily="18" charset="0"/>
              </a:rPr>
              <a:t>.</a:t>
            </a:r>
          </a:p>
          <a:p>
            <a:pPr marL="0" indent="0" algn="just">
              <a:buNone/>
            </a:pPr>
            <a:r>
              <a:rPr lang="en-US" dirty="0">
                <a:solidFill>
                  <a:schemeClr val="bg1"/>
                </a:solidFill>
                <a:latin typeface="Times New Roman" panose="02020603050405020304" pitchFamily="18" charset="0"/>
                <a:cs typeface="Times New Roman" panose="02020603050405020304" pitchFamily="18" charset="0"/>
              </a:rPr>
              <a:t>In a forward biased diode, diffusion capacitance is much larger than the transition capacitance. Hence, diffusion capacitance is considered in forward biased diode.</a:t>
            </a:r>
          </a:p>
          <a:p>
            <a:pPr marL="0" indent="0" algn="just">
              <a:buNone/>
            </a:pPr>
            <a:endParaRPr lang="en-US" dirty="0">
              <a:solidFill>
                <a:schemeClr val="bg1"/>
              </a:solidFill>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08808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98884" y="2314831"/>
            <a:ext cx="3450134" cy="23994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9" name="Text Placeholder 8"/>
          <p:cNvSpPr>
            <a:spLocks noGrp="1"/>
          </p:cNvSpPr>
          <p:nvPr>
            <p:ph type="body" sz="half" idx="2"/>
          </p:nvPr>
        </p:nvSpPr>
        <p:spPr>
          <a:xfrm>
            <a:off x="1582136" y="2876831"/>
            <a:ext cx="5016372" cy="1275450"/>
          </a:xfrm>
        </p:spPr>
        <p:txBody>
          <a:bodyPr>
            <a:normAutofit/>
          </a:bodyPr>
          <a:lstStyle/>
          <a:p>
            <a:r>
              <a:rPr lang="en-GB" sz="4000" b="1">
                <a:solidFill>
                  <a:schemeClr val="bg1"/>
                </a:solidFill>
                <a:latin typeface="Times New Roman" panose="02020603050405020304" pitchFamily="18" charset="0"/>
                <a:ea typeface="Tahoma" panose="020B0604030504040204" pitchFamily="34" charset="0"/>
                <a:cs typeface="Times New Roman" panose="02020603050405020304" pitchFamily="18" charset="0"/>
              </a:rPr>
              <a:t>Applications of diode</a:t>
            </a:r>
            <a:endParaRPr lang="en-US" sz="4000">
              <a:solidFill>
                <a:schemeClr val="bg1"/>
              </a:solidFill>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0015245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6B05A9-9483-4B24-9D3F-49A573120F15}"/>
              </a:ext>
            </a:extLst>
          </p:cNvPr>
          <p:cNvSpPr>
            <a:spLocks noGrp="1"/>
          </p:cNvSpPr>
          <p:nvPr>
            <p:ph idx="1"/>
          </p:nvPr>
        </p:nvSpPr>
        <p:spPr>
          <a:xfrm>
            <a:off x="1035135" y="983907"/>
            <a:ext cx="10515600" cy="4143632"/>
          </a:xfrm>
        </p:spPr>
        <p:txBody>
          <a:bodyPr>
            <a:noAutofit/>
          </a:bodyPr>
          <a:lstStyle/>
          <a:p>
            <a:pPr marL="0" indent="0" algn="just">
              <a:buNone/>
            </a:pPr>
            <a:r>
              <a:rPr lang="en-US" sz="2400" b="1">
                <a:solidFill>
                  <a:schemeClr val="tx1"/>
                </a:solidFill>
                <a:latin typeface="Times New Roman" panose="02020603050405020304" pitchFamily="18" charset="0"/>
                <a:cs typeface="Times New Roman" panose="02020603050405020304" pitchFamily="18" charset="0"/>
              </a:rPr>
              <a:t>18. What </a:t>
            </a:r>
            <a:r>
              <a:rPr lang="en-US" sz="2400" b="1" dirty="0">
                <a:solidFill>
                  <a:schemeClr val="tx1"/>
                </a:solidFill>
                <a:latin typeface="Times New Roman" panose="02020603050405020304" pitchFamily="18" charset="0"/>
                <a:cs typeface="Times New Roman" panose="02020603050405020304" pitchFamily="18" charset="0"/>
              </a:rPr>
              <a:t>are the Applications of Diode?</a:t>
            </a:r>
            <a:endParaRPr lang="en-US" sz="2400" dirty="0">
              <a:solidFill>
                <a:schemeClr val="tx1"/>
              </a:solidFill>
              <a:latin typeface="Times New Roman" panose="02020603050405020304" pitchFamily="18" charset="0"/>
              <a:cs typeface="Times New Roman" panose="02020603050405020304" pitchFamily="18" charset="0"/>
            </a:endParaRPr>
          </a:p>
          <a:p>
            <a:pPr lvl="0" algn="just">
              <a:buClrTx/>
              <a:buFont typeface="Courier New" panose="02070309020205020404" pitchFamily="49" charset="0"/>
              <a:buChar char="o"/>
            </a:pPr>
            <a:r>
              <a:rPr lang="en-US" sz="2400" dirty="0">
                <a:solidFill>
                  <a:schemeClr val="bg1"/>
                </a:solidFill>
                <a:latin typeface="Times New Roman" panose="02020603050405020304" pitchFamily="18" charset="0"/>
                <a:cs typeface="Times New Roman" panose="02020603050405020304" pitchFamily="18" charset="0"/>
              </a:rPr>
              <a:t>Rectifying a voltage: turning AC into DC voltages.</a:t>
            </a:r>
          </a:p>
          <a:p>
            <a:pPr algn="just">
              <a:buClrTx/>
              <a:buFont typeface="Courier New" panose="02070309020205020404" pitchFamily="49" charset="0"/>
              <a:buChar char="o"/>
            </a:pPr>
            <a:r>
              <a:rPr lang="en-US" sz="2400" dirty="0">
                <a:solidFill>
                  <a:schemeClr val="bg1"/>
                </a:solidFill>
                <a:latin typeface="Times New Roman" panose="02020603050405020304" pitchFamily="18" charset="0"/>
                <a:cs typeface="Times New Roman" panose="02020603050405020304" pitchFamily="18" charset="0"/>
              </a:rPr>
              <a:t>Drawing signals from a supply.</a:t>
            </a:r>
          </a:p>
          <a:p>
            <a:pPr lvl="0" algn="just">
              <a:buClrTx/>
              <a:buFont typeface="Courier New" panose="02070309020205020404" pitchFamily="49" charset="0"/>
              <a:buChar char="o"/>
            </a:pPr>
            <a:r>
              <a:rPr lang="en-US" sz="2400" dirty="0">
                <a:solidFill>
                  <a:schemeClr val="bg1"/>
                </a:solidFill>
                <a:latin typeface="Times New Roman" panose="02020603050405020304" pitchFamily="18" charset="0"/>
                <a:cs typeface="Times New Roman" panose="02020603050405020304" pitchFamily="18" charset="0"/>
              </a:rPr>
              <a:t>Controlling the size of a signal.</a:t>
            </a:r>
          </a:p>
          <a:p>
            <a:pPr lvl="0" algn="just">
              <a:buClrTx/>
              <a:buFont typeface="Courier New" panose="02070309020205020404" pitchFamily="49" charset="0"/>
              <a:buChar char="o"/>
            </a:pPr>
            <a:r>
              <a:rPr lang="en-US" sz="2400" dirty="0">
                <a:solidFill>
                  <a:schemeClr val="bg1"/>
                </a:solidFill>
                <a:latin typeface="Times New Roman" panose="02020603050405020304" pitchFamily="18" charset="0"/>
                <a:cs typeface="Times New Roman" panose="02020603050405020304" pitchFamily="18" charset="0"/>
              </a:rPr>
              <a:t>Mixing (multiplexing) signals.</a:t>
            </a:r>
          </a:p>
          <a:p>
            <a:pPr algn="just">
              <a:buClrTx/>
              <a:buFont typeface="Courier New" panose="02070309020205020404" pitchFamily="49" charset="0"/>
              <a:buChar char="o"/>
            </a:pPr>
            <a:r>
              <a:rPr lang="en-US" sz="2400" dirty="0">
                <a:solidFill>
                  <a:schemeClr val="bg1"/>
                </a:solidFill>
                <a:latin typeface="Times New Roman" panose="02020603050405020304" pitchFamily="18" charset="0"/>
                <a:cs typeface="Times New Roman" panose="02020603050405020304" pitchFamily="18" charset="0"/>
              </a:rPr>
              <a:t>As freewheeling of the inductive energy.</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39215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1F3131-20E7-47B9-AB43-BA19751F658F}"/>
              </a:ext>
            </a:extLst>
          </p:cNvPr>
          <p:cNvSpPr>
            <a:spLocks noGrp="1"/>
          </p:cNvSpPr>
          <p:nvPr>
            <p:ph idx="1"/>
          </p:nvPr>
        </p:nvSpPr>
        <p:spPr>
          <a:xfrm>
            <a:off x="780999" y="717511"/>
            <a:ext cx="10867303" cy="6082004"/>
          </a:xfrm>
        </p:spPr>
        <p:txBody>
          <a:bodyPr>
            <a:normAutofit/>
          </a:bodyPr>
          <a:lstStyle/>
          <a:p>
            <a:pPr marL="0" indent="0" algn="just">
              <a:buNone/>
            </a:pPr>
            <a:r>
              <a:rPr lang="en-GB" sz="2400" b="1" dirty="0">
                <a:solidFill>
                  <a:schemeClr val="tx1"/>
                </a:solidFill>
                <a:latin typeface="Times New Roman" panose="02020603050405020304" pitchFamily="18" charset="0"/>
                <a:cs typeface="Times New Roman" panose="02020603050405020304" pitchFamily="18" charset="0"/>
              </a:rPr>
              <a:t>19. What is rectifier?</a:t>
            </a:r>
            <a:endParaRPr lang="en-US" sz="2400"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An electrical device which converts an alternating current into a direct one by allowing a current to flow through it in one direction </a:t>
            </a:r>
            <a:r>
              <a:rPr lang="en-US" sz="2400">
                <a:solidFill>
                  <a:schemeClr val="bg1"/>
                </a:solidFill>
                <a:latin typeface="Times New Roman" panose="02020603050405020304" pitchFamily="18" charset="0"/>
                <a:cs typeface="Times New Roman" panose="02020603050405020304" pitchFamily="18" charset="0"/>
              </a:rPr>
              <a:t>only.</a:t>
            </a:r>
            <a:endParaRPr lang="en-US" sz="2400" dirty="0">
              <a:solidFill>
                <a:schemeClr val="bg1"/>
              </a:solidFill>
              <a:latin typeface="Times New Roman" panose="02020603050405020304" pitchFamily="18" charset="0"/>
              <a:cs typeface="Times New Roman" panose="02020603050405020304" pitchFamily="18" charset="0"/>
            </a:endParaRPr>
          </a:p>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20. What Is a Filter?</a:t>
            </a:r>
            <a:endParaRPr lang="en-US" sz="2400"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A filter is a circuit capable of passing (or amplifying) certain frequencies while attenuating other frequencies</a:t>
            </a:r>
            <a:r>
              <a:rPr lang="en-US" sz="2400">
                <a:solidFill>
                  <a:schemeClr val="bg1"/>
                </a:solidFill>
                <a:latin typeface="Times New Roman" panose="02020603050405020304" pitchFamily="18" charset="0"/>
                <a:cs typeface="Times New Roman" panose="02020603050405020304" pitchFamily="18" charset="0"/>
              </a:rPr>
              <a:t>. </a:t>
            </a:r>
            <a:endParaRPr lang="en-US" sz="2400" dirty="0">
              <a:solidFill>
                <a:schemeClr val="bg1"/>
              </a:solidFill>
              <a:latin typeface="Times New Roman" panose="02020603050405020304" pitchFamily="18" charset="0"/>
              <a:cs typeface="Times New Roman" panose="02020603050405020304" pitchFamily="18" charset="0"/>
            </a:endParaRPr>
          </a:p>
          <a:p>
            <a:pPr marL="0" indent="0">
              <a:buNone/>
            </a:pPr>
            <a:r>
              <a:rPr lang="en-US" sz="2400" b="1" dirty="0">
                <a:solidFill>
                  <a:schemeClr val="tx1"/>
                </a:solidFill>
                <a:latin typeface="Times New Roman" panose="02020603050405020304" pitchFamily="18" charset="0"/>
                <a:cs typeface="Times New Roman" panose="02020603050405020304" pitchFamily="18" charset="0"/>
              </a:rPr>
              <a:t>21. What is the advantage of voltage doubler?</a:t>
            </a:r>
            <a:br>
              <a:rPr lang="en-US" sz="2400" dirty="0">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It eliminates the use of a high voltage transformer. As it changes a low voltage to high at a low </a:t>
            </a:r>
            <a:r>
              <a:rPr lang="en-US" sz="2400">
                <a:solidFill>
                  <a:schemeClr val="bg1"/>
                </a:solidFill>
                <a:latin typeface="Times New Roman" panose="02020603050405020304" pitchFamily="18" charset="0"/>
                <a:cs typeface="Times New Roman" panose="02020603050405020304" pitchFamily="18" charset="0"/>
              </a:rPr>
              <a:t>rate.</a:t>
            </a:r>
            <a:endParaRPr lang="en-US" sz="2400" dirty="0">
              <a:solidFill>
                <a:schemeClr val="bg1"/>
              </a:solidFill>
              <a:latin typeface="Times New Roman" panose="02020603050405020304" pitchFamily="18" charset="0"/>
              <a:cs typeface="Times New Roman" panose="02020603050405020304" pitchFamily="18" charset="0"/>
            </a:endParaRPr>
          </a:p>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22. How do you make a voltage Tripler?</a:t>
            </a: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The voltage Tripler can be obtained by adding one more diode-capacitor stage to the half-wave voltage doubler circuit.</a:t>
            </a:r>
          </a:p>
          <a:p>
            <a:pPr marL="0" indent="0" algn="just">
              <a:buNone/>
            </a:pPr>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93559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BAF22A-268E-4F27-ABD3-48ABD2563DD6}"/>
              </a:ext>
            </a:extLst>
          </p:cNvPr>
          <p:cNvSpPr>
            <a:spLocks noGrp="1"/>
          </p:cNvSpPr>
          <p:nvPr>
            <p:ph idx="1"/>
          </p:nvPr>
        </p:nvSpPr>
        <p:spPr>
          <a:xfrm>
            <a:off x="821363" y="527223"/>
            <a:ext cx="10785752" cy="7578810"/>
          </a:xfrm>
        </p:spPr>
        <p:txBody>
          <a:bodyPr>
            <a:noAutofit/>
          </a:bodyPr>
          <a:lstStyle/>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23. Main Difference Between Clipper &amp; Clamper.</a:t>
            </a:r>
            <a:endParaRPr lang="en-US" sz="2400"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A clipper is used for limiting the voltage of the AC signal while the Clamper is used for multiplying the voltage of an AC signal. A clipper changes the shape of the signal while the clamper does not affect the shape of the </a:t>
            </a:r>
            <a:r>
              <a:rPr lang="en-US" sz="2400">
                <a:solidFill>
                  <a:schemeClr val="bg1"/>
                </a:solidFill>
                <a:latin typeface="Times New Roman" panose="02020603050405020304" pitchFamily="18" charset="0"/>
                <a:cs typeface="Times New Roman" panose="02020603050405020304" pitchFamily="18" charset="0"/>
              </a:rPr>
              <a:t>waveform.</a:t>
            </a:r>
            <a:endParaRPr lang="en-US" sz="2400" dirty="0">
              <a:solidFill>
                <a:schemeClr val="bg1"/>
              </a:solidFill>
              <a:latin typeface="Times New Roman" panose="02020603050405020304" pitchFamily="18" charset="0"/>
              <a:cs typeface="Times New Roman" panose="02020603050405020304" pitchFamily="18" charset="0"/>
            </a:endParaRPr>
          </a:p>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24. What is a Zener diode?</a:t>
            </a: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A Zener diode is a silicon semiconductor device that permits current to flow in either a forward or reverse </a:t>
            </a:r>
            <a:r>
              <a:rPr lang="en-US" sz="2400">
                <a:solidFill>
                  <a:schemeClr val="bg1"/>
                </a:solidFill>
                <a:latin typeface="Times New Roman" panose="02020603050405020304" pitchFamily="18" charset="0"/>
                <a:cs typeface="Times New Roman" panose="02020603050405020304" pitchFamily="18" charset="0"/>
              </a:rPr>
              <a:t>direction.</a:t>
            </a:r>
            <a:endParaRPr lang="en-US" sz="2400" dirty="0">
              <a:solidFill>
                <a:schemeClr val="bg1"/>
              </a:solidFill>
              <a:latin typeface="Times New Roman" panose="02020603050405020304" pitchFamily="18" charset="0"/>
              <a:cs typeface="Times New Roman" panose="02020603050405020304" pitchFamily="18" charset="0"/>
            </a:endParaRPr>
          </a:p>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25. What </a:t>
            </a:r>
            <a:r>
              <a:rPr lang="en-US" sz="2400" b="1">
                <a:solidFill>
                  <a:schemeClr val="tx1"/>
                </a:solidFill>
                <a:latin typeface="Times New Roman" panose="02020603050405020304" pitchFamily="18" charset="0"/>
                <a:cs typeface="Times New Roman" panose="02020603050405020304" pitchFamily="18" charset="0"/>
              </a:rPr>
              <a:t>is a Light-emitting </a:t>
            </a:r>
            <a:r>
              <a:rPr lang="en-US" sz="2400" b="1" dirty="0">
                <a:solidFill>
                  <a:schemeClr val="tx1"/>
                </a:solidFill>
                <a:latin typeface="Times New Roman" panose="02020603050405020304" pitchFamily="18" charset="0"/>
                <a:cs typeface="Times New Roman" panose="02020603050405020304" pitchFamily="18" charset="0"/>
              </a:rPr>
              <a:t>diode?</a:t>
            </a: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A light-emitting diode is a semiconductor device that emits light when current flows through </a:t>
            </a:r>
            <a:r>
              <a:rPr lang="en-US" sz="2400">
                <a:solidFill>
                  <a:schemeClr val="bg1"/>
                </a:solidFill>
                <a:latin typeface="Times New Roman" panose="02020603050405020304" pitchFamily="18" charset="0"/>
                <a:cs typeface="Times New Roman" panose="02020603050405020304" pitchFamily="18" charset="0"/>
              </a:rPr>
              <a:t>it.</a:t>
            </a:r>
            <a:endParaRPr lang="en-US" sz="2400" dirty="0">
              <a:solidFill>
                <a:schemeClr val="bg1"/>
              </a:solidFill>
              <a:latin typeface="Times New Roman" panose="02020603050405020304" pitchFamily="18" charset="0"/>
              <a:cs typeface="Times New Roman" panose="02020603050405020304" pitchFamily="18" charset="0"/>
            </a:endParaRPr>
          </a:p>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26. What is the Working principle of photodiode?</a:t>
            </a:r>
            <a:endParaRPr lang="en-US" sz="2400"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It Converts light into current. </a:t>
            </a: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 </a:t>
            </a:r>
          </a:p>
          <a:p>
            <a:pPr marL="0" indent="0" algn="just">
              <a:buNone/>
            </a:pPr>
            <a:r>
              <a:rPr lang="en-US" sz="2400" dirty="0">
                <a:latin typeface="Times New Roman" panose="02020603050405020304" pitchFamily="18" charset="0"/>
                <a:cs typeface="Times New Roman" panose="02020603050405020304" pitchFamily="18" charset="0"/>
              </a:rPr>
              <a:t> </a:t>
            </a:r>
          </a:p>
          <a:p>
            <a:pPr marL="0" indent="0" algn="just">
              <a:buNone/>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63053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A1AF02-94A5-4D99-B28C-00EA71FB2A27}"/>
              </a:ext>
            </a:extLst>
          </p:cNvPr>
          <p:cNvSpPr>
            <a:spLocks noGrp="1"/>
          </p:cNvSpPr>
          <p:nvPr>
            <p:ph idx="1"/>
          </p:nvPr>
        </p:nvSpPr>
        <p:spPr>
          <a:xfrm>
            <a:off x="757882" y="700216"/>
            <a:ext cx="10956323" cy="6396681"/>
          </a:xfrm>
        </p:spPr>
        <p:txBody>
          <a:bodyPr>
            <a:normAutofit/>
          </a:bodyPr>
          <a:lstStyle/>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27. What is the function </a:t>
            </a:r>
            <a:r>
              <a:rPr lang="en-US" sz="2400" b="1">
                <a:solidFill>
                  <a:schemeClr val="tx1"/>
                </a:solidFill>
                <a:latin typeface="Times New Roman" panose="02020603050405020304" pitchFamily="18" charset="0"/>
                <a:cs typeface="Times New Roman" panose="02020603050405020304" pitchFamily="18" charset="0"/>
              </a:rPr>
              <a:t>of the varactor </a:t>
            </a:r>
            <a:r>
              <a:rPr lang="en-US" sz="2400" b="1" dirty="0">
                <a:solidFill>
                  <a:schemeClr val="tx1"/>
                </a:solidFill>
                <a:latin typeface="Times New Roman" panose="02020603050405020304" pitchFamily="18" charset="0"/>
                <a:cs typeface="Times New Roman" panose="02020603050405020304" pitchFamily="18" charset="0"/>
              </a:rPr>
              <a:t>diode?</a:t>
            </a:r>
            <a:endParaRPr lang="en-US" sz="2400"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The function of the varactor diode is to store charges, so it is always operated in reverse bias </a:t>
            </a:r>
            <a:r>
              <a:rPr lang="en-US" sz="2400">
                <a:solidFill>
                  <a:schemeClr val="bg1"/>
                </a:solidFill>
                <a:latin typeface="Times New Roman" panose="02020603050405020304" pitchFamily="18" charset="0"/>
                <a:cs typeface="Times New Roman" panose="02020603050405020304" pitchFamily="18" charset="0"/>
              </a:rPr>
              <a:t>conditions.</a:t>
            </a:r>
            <a:endParaRPr lang="en-US" sz="2400" dirty="0">
              <a:solidFill>
                <a:schemeClr val="bg1"/>
              </a:solidFill>
              <a:latin typeface="Times New Roman" panose="02020603050405020304" pitchFamily="18" charset="0"/>
              <a:cs typeface="Times New Roman" panose="02020603050405020304" pitchFamily="18" charset="0"/>
            </a:endParaRPr>
          </a:p>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28. Where are photo resistors used?</a:t>
            </a: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Photo resistors are most often used as light </a:t>
            </a:r>
            <a:r>
              <a:rPr lang="en-US" sz="2400">
                <a:solidFill>
                  <a:schemeClr val="bg1"/>
                </a:solidFill>
                <a:latin typeface="Times New Roman" panose="02020603050405020304" pitchFamily="18" charset="0"/>
                <a:cs typeface="Times New Roman" panose="02020603050405020304" pitchFamily="18" charset="0"/>
              </a:rPr>
              <a:t>sensors.</a:t>
            </a:r>
            <a:endParaRPr lang="en-US" sz="2400" dirty="0">
              <a:solidFill>
                <a:schemeClr val="bg1"/>
              </a:solidFill>
              <a:latin typeface="Times New Roman" panose="02020603050405020304" pitchFamily="18" charset="0"/>
              <a:cs typeface="Times New Roman" panose="02020603050405020304" pitchFamily="18" charset="0"/>
            </a:endParaRPr>
          </a:p>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29 why crystal diodes are used </a:t>
            </a:r>
            <a:r>
              <a:rPr lang="en-US" sz="2400" b="1">
                <a:solidFill>
                  <a:schemeClr val="tx1"/>
                </a:solidFill>
                <a:latin typeface="Times New Roman" panose="02020603050405020304" pitchFamily="18" charset="0"/>
                <a:cs typeface="Times New Roman" panose="02020603050405020304" pitchFamily="18" charset="0"/>
              </a:rPr>
              <a:t>for?</a:t>
            </a:r>
            <a:endParaRPr lang="en-US" sz="2400" b="1"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Crystal Diodes are mostly used for rectification (alternative current to pulsating </a:t>
            </a:r>
            <a:r>
              <a:rPr lang="en-US" sz="2400">
                <a:solidFill>
                  <a:schemeClr val="bg1"/>
                </a:solidFill>
                <a:latin typeface="Times New Roman" panose="02020603050405020304" pitchFamily="18" charset="0"/>
                <a:cs typeface="Times New Roman" panose="02020603050405020304" pitchFamily="18" charset="0"/>
              </a:rPr>
              <a:t>DC).</a:t>
            </a:r>
            <a:endParaRPr lang="en-US" sz="2400" dirty="0">
              <a:solidFill>
                <a:schemeClr val="bg1"/>
              </a:solidFill>
              <a:latin typeface="Times New Roman" panose="02020603050405020304" pitchFamily="18" charset="0"/>
              <a:cs typeface="Times New Roman" panose="02020603050405020304" pitchFamily="18" charset="0"/>
            </a:endParaRPr>
          </a:p>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30. </a:t>
            </a:r>
            <a:r>
              <a:rPr lang="en-US" sz="2400" b="1">
                <a:solidFill>
                  <a:schemeClr val="tx1"/>
                </a:solidFill>
                <a:latin typeface="Times New Roman" panose="02020603050405020304" pitchFamily="18" charset="0"/>
                <a:cs typeface="Times New Roman" panose="02020603050405020304" pitchFamily="18" charset="0"/>
              </a:rPr>
              <a:t>What is a </a:t>
            </a:r>
            <a:r>
              <a:rPr lang="en-US" sz="2400" b="1" dirty="0">
                <a:solidFill>
                  <a:schemeClr val="tx1"/>
                </a:solidFill>
                <a:latin typeface="Times New Roman" panose="02020603050405020304" pitchFamily="18" charset="0"/>
                <a:cs typeface="Times New Roman" panose="02020603050405020304" pitchFamily="18" charset="0"/>
              </a:rPr>
              <a:t>solar cell?</a:t>
            </a: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A solar cell, or photovoltaic cell, is an electronic device that converts the energy of light directly into electricity by the photovoltaic effect.</a:t>
            </a: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 </a:t>
            </a:r>
          </a:p>
          <a:p>
            <a:pPr marL="0" indent="0" algn="just">
              <a:buNone/>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2802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8098" y="2375054"/>
            <a:ext cx="6870356" cy="1507067"/>
          </a:xfrm>
        </p:spPr>
        <p:txBody>
          <a:bodyPr>
            <a:normAutofit/>
          </a:bodyPr>
          <a:lstStyle/>
          <a:p>
            <a:r>
              <a:rPr lang="en-US" sz="4000" b="1">
                <a:solidFill>
                  <a:schemeClr val="bg1"/>
                </a:solidFill>
                <a:latin typeface="Times New Roman" panose="02020603050405020304" pitchFamily="18" charset="0"/>
                <a:cs typeface="Times New Roman" panose="02020603050405020304" pitchFamily="18" charset="0"/>
              </a:rPr>
              <a:t>Bipolar Junction transistor</a:t>
            </a:r>
            <a:endParaRPr lang="en-US" sz="4000">
              <a:solidFill>
                <a:schemeClr val="bg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78594" y="2562650"/>
            <a:ext cx="3484604" cy="162614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9522256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911E0F-BA54-44E3-92C9-E71EEB4A79FB}"/>
              </a:ext>
            </a:extLst>
          </p:cNvPr>
          <p:cNvSpPr>
            <a:spLocks noGrp="1"/>
          </p:cNvSpPr>
          <p:nvPr>
            <p:ph idx="1"/>
          </p:nvPr>
        </p:nvSpPr>
        <p:spPr>
          <a:xfrm>
            <a:off x="673679" y="609600"/>
            <a:ext cx="10908722" cy="6858000"/>
          </a:xfrm>
        </p:spPr>
        <p:txBody>
          <a:bodyPr>
            <a:normAutofit/>
          </a:bodyPr>
          <a:lstStyle/>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31. What is </a:t>
            </a:r>
            <a:r>
              <a:rPr lang="en-US" sz="2400" b="1">
                <a:solidFill>
                  <a:schemeClr val="tx1"/>
                </a:solidFill>
                <a:latin typeface="Times New Roman" panose="02020603050405020304" pitchFamily="18" charset="0"/>
                <a:cs typeface="Times New Roman" panose="02020603050405020304" pitchFamily="18" charset="0"/>
              </a:rPr>
              <a:t>the working of NPN  and  PNP transistors?</a:t>
            </a:r>
            <a:endParaRPr lang="en-US" sz="2400"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In an NPN transistor, a positive voltage is given to the collector terminal to produce a current flow from the collector to the emitter.</a:t>
            </a: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In a PNP transistor, a positive voltage is given to the emitter terminal to produce current flow from the </a:t>
            </a:r>
            <a:r>
              <a:rPr lang="en-US" sz="2400">
                <a:solidFill>
                  <a:schemeClr val="bg1"/>
                </a:solidFill>
                <a:latin typeface="Times New Roman" panose="02020603050405020304" pitchFamily="18" charset="0"/>
                <a:cs typeface="Times New Roman" panose="02020603050405020304" pitchFamily="18" charset="0"/>
              </a:rPr>
              <a:t>emitter to the collector.</a:t>
            </a:r>
            <a:endParaRPr lang="en-US" sz="2400" b="1" dirty="0">
              <a:solidFill>
                <a:schemeClr val="bg1"/>
              </a:solidFill>
              <a:latin typeface="Times New Roman" panose="02020603050405020304" pitchFamily="18" charset="0"/>
              <a:cs typeface="Times New Roman" panose="02020603050405020304" pitchFamily="18" charset="0"/>
            </a:endParaRPr>
          </a:p>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32. What are </a:t>
            </a:r>
            <a:r>
              <a:rPr lang="en-US" sz="2400" b="1">
                <a:solidFill>
                  <a:schemeClr val="tx1"/>
                </a:solidFill>
                <a:latin typeface="Times New Roman" panose="02020603050405020304" pitchFamily="18" charset="0"/>
                <a:cs typeface="Times New Roman" panose="02020603050405020304" pitchFamily="18" charset="0"/>
              </a:rPr>
              <a:t>the v-i </a:t>
            </a:r>
            <a:r>
              <a:rPr lang="en-US" sz="2400" b="1" dirty="0">
                <a:solidFill>
                  <a:schemeClr val="tx1"/>
                </a:solidFill>
                <a:latin typeface="Times New Roman" panose="02020603050405020304" pitchFamily="18" charset="0"/>
                <a:cs typeface="Times New Roman" panose="02020603050405020304" pitchFamily="18" charset="0"/>
              </a:rPr>
              <a:t>characteristics </a:t>
            </a:r>
            <a:r>
              <a:rPr lang="en-US" sz="2400" b="1">
                <a:solidFill>
                  <a:schemeClr val="tx1"/>
                </a:solidFill>
                <a:latin typeface="Times New Roman" panose="02020603050405020304" pitchFamily="18" charset="0"/>
                <a:cs typeface="Times New Roman" panose="02020603050405020304" pitchFamily="18" charset="0"/>
              </a:rPr>
              <a:t>of a transistor</a:t>
            </a:r>
            <a:r>
              <a:rPr lang="en-US" sz="2400" b="1" dirty="0">
                <a:solidFill>
                  <a:schemeClr val="tx1"/>
                </a:solidFill>
                <a:latin typeface="Times New Roman" panose="02020603050405020304" pitchFamily="18" charset="0"/>
                <a:cs typeface="Times New Roman" panose="02020603050405020304" pitchFamily="18" charset="0"/>
              </a:rPr>
              <a:t>?</a:t>
            </a:r>
          </a:p>
          <a:p>
            <a:pPr marL="0" indent="0" algn="just">
              <a:buClr>
                <a:schemeClr val="bg1"/>
              </a:buClr>
              <a:buNone/>
            </a:pPr>
            <a:r>
              <a:rPr lang="en-US" sz="2400">
                <a:solidFill>
                  <a:schemeClr val="bg1"/>
                </a:solidFill>
                <a:latin typeface="Times New Roman" panose="02020603050405020304" pitchFamily="18" charset="0"/>
                <a:cs typeface="Times New Roman" panose="02020603050405020304" pitchFamily="18" charset="0"/>
              </a:rPr>
              <a:t>There </a:t>
            </a:r>
            <a:r>
              <a:rPr lang="en-US" sz="2400" dirty="0">
                <a:solidFill>
                  <a:schemeClr val="bg1"/>
                </a:solidFill>
                <a:latin typeface="Times New Roman" panose="02020603050405020304" pitchFamily="18" charset="0"/>
                <a:cs typeface="Times New Roman" panose="02020603050405020304" pitchFamily="18" charset="0"/>
              </a:rPr>
              <a:t>are two </a:t>
            </a:r>
            <a:r>
              <a:rPr lang="en-US" sz="2400">
                <a:solidFill>
                  <a:schemeClr val="bg1"/>
                </a:solidFill>
                <a:latin typeface="Times New Roman" panose="02020603050405020304" pitchFamily="18" charset="0"/>
                <a:cs typeface="Times New Roman" panose="02020603050405020304" pitchFamily="18" charset="0"/>
              </a:rPr>
              <a:t>types of characteristics</a:t>
            </a:r>
            <a:r>
              <a:rPr lang="en-US" sz="2400" dirty="0">
                <a:solidFill>
                  <a:schemeClr val="bg1"/>
                </a:solidFill>
                <a:latin typeface="Times New Roman" panose="02020603050405020304" pitchFamily="18" charset="0"/>
                <a:cs typeface="Times New Roman" panose="02020603050405020304" pitchFamily="18" charset="0"/>
              </a:rPr>
              <a:t>.</a:t>
            </a:r>
          </a:p>
          <a:p>
            <a:pPr marL="0" indent="0" algn="just">
              <a:buClr>
                <a:schemeClr val="bg1"/>
              </a:buClr>
              <a:buNone/>
            </a:pPr>
            <a:r>
              <a:rPr lang="en-US" sz="2400">
                <a:solidFill>
                  <a:schemeClr val="bg1"/>
                </a:solidFill>
                <a:latin typeface="Times New Roman" panose="02020603050405020304" pitchFamily="18" charset="0"/>
                <a:cs typeface="Times New Roman" panose="02020603050405020304" pitchFamily="18" charset="0"/>
              </a:rPr>
              <a:t>Input characteristics: The </a:t>
            </a:r>
            <a:r>
              <a:rPr lang="en-US" sz="2400" dirty="0">
                <a:solidFill>
                  <a:schemeClr val="bg1"/>
                </a:solidFill>
                <a:latin typeface="Times New Roman" panose="02020603050405020304" pitchFamily="18" charset="0"/>
                <a:cs typeface="Times New Roman" panose="02020603050405020304" pitchFamily="18" charset="0"/>
              </a:rPr>
              <a:t>Input characteristics describe any changes that occur in the Input Current because of the variation of the Input Voltage by keeping the Output </a:t>
            </a:r>
            <a:r>
              <a:rPr lang="en-US" sz="2400">
                <a:solidFill>
                  <a:schemeClr val="bg1"/>
                </a:solidFill>
                <a:latin typeface="Times New Roman" panose="02020603050405020304" pitchFamily="18" charset="0"/>
                <a:cs typeface="Times New Roman" panose="02020603050405020304" pitchFamily="18" charset="0"/>
              </a:rPr>
              <a:t>Voltage constant.</a:t>
            </a:r>
          </a:p>
          <a:p>
            <a:pPr marL="0" indent="0" algn="just">
              <a:buClr>
                <a:schemeClr val="bg1"/>
              </a:buClr>
              <a:buNone/>
            </a:pPr>
            <a:r>
              <a:rPr lang="en-US" sz="2400">
                <a:solidFill>
                  <a:schemeClr val="bg1"/>
                </a:solidFill>
                <a:latin typeface="Times New Roman" panose="02020603050405020304" pitchFamily="18" charset="0"/>
                <a:cs typeface="Times New Roman" panose="02020603050405020304" pitchFamily="18" charset="0"/>
              </a:rPr>
              <a:t>Output characteristics: The </a:t>
            </a:r>
            <a:r>
              <a:rPr lang="en-US" sz="2400" dirty="0">
                <a:solidFill>
                  <a:schemeClr val="bg1"/>
                </a:solidFill>
                <a:latin typeface="Times New Roman" panose="02020603050405020304" pitchFamily="18" charset="0"/>
                <a:cs typeface="Times New Roman" panose="02020603050405020304" pitchFamily="18" charset="0"/>
              </a:rPr>
              <a:t>output characteristics describe any changes that occur in the output Current because of the variation of the output Voltage by keeping the </a:t>
            </a:r>
            <a:r>
              <a:rPr lang="en-US" sz="2400">
                <a:solidFill>
                  <a:schemeClr val="bg1"/>
                </a:solidFill>
                <a:latin typeface="Times New Roman" panose="02020603050405020304" pitchFamily="18" charset="0"/>
                <a:cs typeface="Times New Roman" panose="02020603050405020304" pitchFamily="18" charset="0"/>
              </a:rPr>
              <a:t>input current constant</a:t>
            </a:r>
            <a:r>
              <a:rPr lang="en-US" sz="2400" dirty="0">
                <a:solidFill>
                  <a:schemeClr val="bg1"/>
                </a:solidFill>
                <a:latin typeface="Times New Roman" panose="02020603050405020304" pitchFamily="18" charset="0"/>
                <a:cs typeface="Times New Roman" panose="02020603050405020304" pitchFamily="18" charset="0"/>
              </a:rPr>
              <a:t>.</a:t>
            </a:r>
          </a:p>
          <a:p>
            <a:pPr marL="0" indent="0" algn="just">
              <a:buNone/>
            </a:pPr>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23112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C7BD5C-E7B2-498E-A9B2-9FF4E08BE605}"/>
              </a:ext>
            </a:extLst>
          </p:cNvPr>
          <p:cNvSpPr>
            <a:spLocks noGrp="1"/>
          </p:cNvSpPr>
          <p:nvPr>
            <p:ph idx="1"/>
          </p:nvPr>
        </p:nvSpPr>
        <p:spPr>
          <a:xfrm>
            <a:off x="684467" y="487614"/>
            <a:ext cx="11005025" cy="6468369"/>
          </a:xfrm>
        </p:spPr>
        <p:txBody>
          <a:bodyPr>
            <a:normAutofit/>
          </a:bodyPr>
          <a:lstStyle/>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33. What is the configuration </a:t>
            </a:r>
            <a:r>
              <a:rPr lang="en-US" sz="2400" b="1">
                <a:solidFill>
                  <a:schemeClr val="tx1"/>
                </a:solidFill>
                <a:latin typeface="Times New Roman" panose="02020603050405020304" pitchFamily="18" charset="0"/>
                <a:cs typeface="Times New Roman" panose="02020603050405020304" pitchFamily="18" charset="0"/>
              </a:rPr>
              <a:t>of a transistor </a:t>
            </a:r>
            <a:r>
              <a:rPr lang="en-US" sz="2400" b="1" dirty="0">
                <a:solidFill>
                  <a:schemeClr val="tx1"/>
                </a:solidFill>
                <a:latin typeface="Times New Roman" panose="02020603050405020304" pitchFamily="18" charset="0"/>
                <a:cs typeface="Times New Roman" panose="02020603050405020304" pitchFamily="18" charset="0"/>
              </a:rPr>
              <a:t>amplifier?</a:t>
            </a:r>
            <a:endParaRPr lang="en-US" sz="2400"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We usually employ CE configuration for transistors as amplifiers because it provides large values of current gain, voltage gain and power gain. Moreover, there is a phase-shift of 180 degrees between input and </a:t>
            </a:r>
            <a:r>
              <a:rPr lang="en-US" sz="2400">
                <a:solidFill>
                  <a:schemeClr val="bg1"/>
                </a:solidFill>
                <a:latin typeface="Times New Roman" panose="02020603050405020304" pitchFamily="18" charset="0"/>
                <a:cs typeface="Times New Roman" panose="02020603050405020304" pitchFamily="18" charset="0"/>
              </a:rPr>
              <a:t>output.</a:t>
            </a:r>
            <a:endParaRPr lang="en-US" sz="2400" dirty="0">
              <a:solidFill>
                <a:schemeClr val="bg1"/>
              </a:solidFill>
              <a:latin typeface="Times New Roman" panose="02020603050405020304" pitchFamily="18" charset="0"/>
              <a:cs typeface="Times New Roman" panose="02020603050405020304" pitchFamily="18" charset="0"/>
            </a:endParaRPr>
          </a:p>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34. What </a:t>
            </a:r>
            <a:r>
              <a:rPr lang="en-US" sz="2400" b="1">
                <a:solidFill>
                  <a:schemeClr val="tx1"/>
                </a:solidFill>
                <a:latin typeface="Times New Roman" panose="02020603050405020304" pitchFamily="18" charset="0"/>
                <a:cs typeface="Times New Roman" panose="02020603050405020304" pitchFamily="18" charset="0"/>
              </a:rPr>
              <a:t>is cut-off </a:t>
            </a:r>
            <a:r>
              <a:rPr lang="en-US" sz="2400" b="1" dirty="0">
                <a:solidFill>
                  <a:schemeClr val="tx1"/>
                </a:solidFill>
                <a:latin typeface="Times New Roman" panose="02020603050405020304" pitchFamily="18" charset="0"/>
                <a:cs typeface="Times New Roman" panose="02020603050405020304" pitchFamily="18" charset="0"/>
              </a:rPr>
              <a:t>frequency?</a:t>
            </a: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The cutoff frequency determines where the signal is cut </a:t>
            </a:r>
            <a:r>
              <a:rPr lang="en-US" sz="2400">
                <a:solidFill>
                  <a:schemeClr val="bg1"/>
                </a:solidFill>
                <a:latin typeface="Times New Roman" panose="02020603050405020304" pitchFamily="18" charset="0"/>
                <a:cs typeface="Times New Roman" panose="02020603050405020304" pitchFamily="18" charset="0"/>
              </a:rPr>
              <a:t>off.</a:t>
            </a:r>
            <a:endParaRPr lang="en-US" sz="2400" dirty="0">
              <a:solidFill>
                <a:schemeClr val="bg1"/>
              </a:solidFill>
              <a:latin typeface="Times New Roman" panose="02020603050405020304" pitchFamily="18" charset="0"/>
              <a:cs typeface="Times New Roman" panose="02020603050405020304" pitchFamily="18" charset="0"/>
            </a:endParaRPr>
          </a:p>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35. What is Saturation region?</a:t>
            </a: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This is the region </a:t>
            </a:r>
            <a:r>
              <a:rPr lang="en-US" sz="2400">
                <a:solidFill>
                  <a:schemeClr val="bg1"/>
                </a:solidFill>
                <a:latin typeface="Times New Roman" panose="02020603050405020304" pitchFamily="18" charset="0"/>
                <a:cs typeface="Times New Roman" panose="02020603050405020304" pitchFamily="18" charset="0"/>
              </a:rPr>
              <a:t>in which the transistor </a:t>
            </a:r>
            <a:r>
              <a:rPr lang="en-US" sz="2400" dirty="0">
                <a:solidFill>
                  <a:schemeClr val="bg1"/>
                </a:solidFill>
                <a:latin typeface="Times New Roman" panose="02020603050405020304" pitchFamily="18" charset="0"/>
                <a:cs typeface="Times New Roman" panose="02020603050405020304" pitchFamily="18" charset="0"/>
              </a:rPr>
              <a:t>tends to behave as a closed </a:t>
            </a:r>
            <a:r>
              <a:rPr lang="en-US" sz="2400">
                <a:solidFill>
                  <a:schemeClr val="bg1"/>
                </a:solidFill>
                <a:latin typeface="Times New Roman" panose="02020603050405020304" pitchFamily="18" charset="0"/>
                <a:cs typeface="Times New Roman" panose="02020603050405020304" pitchFamily="18" charset="0"/>
              </a:rPr>
              <a:t>switch.</a:t>
            </a:r>
            <a:endParaRPr lang="en-US" sz="2400" dirty="0">
              <a:solidFill>
                <a:schemeClr val="bg1"/>
              </a:solidFill>
              <a:latin typeface="Times New Roman" panose="02020603050405020304" pitchFamily="18" charset="0"/>
              <a:cs typeface="Times New Roman" panose="02020603050405020304" pitchFamily="18" charset="0"/>
            </a:endParaRPr>
          </a:p>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36. Define load line analysis?</a:t>
            </a: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The load line </a:t>
            </a:r>
            <a:r>
              <a:rPr lang="en-US" sz="2400">
                <a:solidFill>
                  <a:schemeClr val="bg1"/>
                </a:solidFill>
                <a:latin typeface="Times New Roman" panose="02020603050405020304" pitchFamily="18" charset="0"/>
                <a:cs typeface="Times New Roman" panose="02020603050405020304" pitchFamily="18" charset="0"/>
              </a:rPr>
              <a:t>analysis of the </a:t>
            </a:r>
            <a:r>
              <a:rPr lang="en-US" sz="2400" dirty="0">
                <a:solidFill>
                  <a:schemeClr val="bg1"/>
                </a:solidFill>
                <a:latin typeface="Times New Roman" panose="02020603050405020304" pitchFamily="18" charset="0"/>
                <a:cs typeface="Times New Roman" panose="02020603050405020304" pitchFamily="18" charset="0"/>
              </a:rPr>
              <a:t>transistor means for the given value of collector-emitter voltage we find the value of collector current.</a:t>
            </a:r>
          </a:p>
          <a:p>
            <a:pPr marL="0" indent="0" algn="just">
              <a:buNone/>
            </a:pPr>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33803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76784" y="2769261"/>
            <a:ext cx="6119259" cy="1507067"/>
          </a:xfrm>
        </p:spPr>
        <p:txBody>
          <a:bodyPr>
            <a:normAutofit/>
          </a:bodyPr>
          <a:lstStyle/>
          <a:p>
            <a:r>
              <a:rPr lang="en-US" sz="4000" b="1">
                <a:solidFill>
                  <a:schemeClr val="bg1"/>
                </a:solidFill>
                <a:latin typeface="Times New Roman" panose="02020603050405020304" pitchFamily="18" charset="0"/>
                <a:cs typeface="Times New Roman" panose="02020603050405020304" pitchFamily="18" charset="0"/>
              </a:rPr>
              <a:t>Field Effect Transistor</a:t>
            </a:r>
            <a:endParaRPr lang="en-US" sz="4000">
              <a:solidFill>
                <a:schemeClr val="bg1"/>
              </a:solidFill>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17577" y="2297420"/>
            <a:ext cx="3224669" cy="2450748"/>
          </a:xfrm>
          <a:prstGeom prst="ellipse">
            <a:avLst/>
          </a:prstGeom>
          <a:ln>
            <a:noFill/>
          </a:ln>
          <a:effectLst>
            <a:softEdge rad="112500"/>
          </a:effectLst>
        </p:spPr>
      </p:pic>
    </p:spTree>
    <p:extLst>
      <p:ext uri="{BB962C8B-B14F-4D97-AF65-F5344CB8AC3E}">
        <p14:creationId xmlns:p14="http://schemas.microsoft.com/office/powerpoint/2010/main" val="1527898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7925C4-C7A8-496B-9F62-BDD4F5CAB060}"/>
              </a:ext>
            </a:extLst>
          </p:cNvPr>
          <p:cNvSpPr>
            <a:spLocks noGrp="1"/>
          </p:cNvSpPr>
          <p:nvPr>
            <p:ph idx="1"/>
          </p:nvPr>
        </p:nvSpPr>
        <p:spPr>
          <a:xfrm>
            <a:off x="768332" y="656482"/>
            <a:ext cx="10909144" cy="5553969"/>
          </a:xfrm>
        </p:spPr>
        <p:txBody>
          <a:bodyPr>
            <a:normAutofit/>
          </a:bodyPr>
          <a:lstStyle/>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37. What is field effect transistor?</a:t>
            </a: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A Field Effect Transistor (FET) is a three-terminal Active semiconductor device, where the output current is controlled by an electric field generated by the input </a:t>
            </a:r>
            <a:r>
              <a:rPr lang="en-US" sz="2400">
                <a:solidFill>
                  <a:schemeClr val="bg1"/>
                </a:solidFill>
                <a:latin typeface="Times New Roman" panose="02020603050405020304" pitchFamily="18" charset="0"/>
                <a:cs typeface="Times New Roman" panose="02020603050405020304" pitchFamily="18" charset="0"/>
              </a:rPr>
              <a:t>voltage.</a:t>
            </a:r>
            <a:endParaRPr lang="en-US" sz="2400" b="1" dirty="0">
              <a:solidFill>
                <a:schemeClr val="bg1"/>
              </a:solidFill>
              <a:latin typeface="Times New Roman" panose="02020603050405020304" pitchFamily="18" charset="0"/>
              <a:cs typeface="Times New Roman" panose="02020603050405020304" pitchFamily="18" charset="0"/>
            </a:endParaRPr>
          </a:p>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38. What is JFET and its working?</a:t>
            </a: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JFET or Junction Field Effect Transistor is one of the simplest types of field-effect transistor. JFETs are voltage-controlled devices. In JFET, the current flow is due to the majority of charge </a:t>
            </a:r>
            <a:r>
              <a:rPr lang="en-US" sz="2400">
                <a:solidFill>
                  <a:schemeClr val="bg1"/>
                </a:solidFill>
                <a:latin typeface="Times New Roman" panose="02020603050405020304" pitchFamily="18" charset="0"/>
                <a:cs typeface="Times New Roman" panose="02020603050405020304" pitchFamily="18" charset="0"/>
              </a:rPr>
              <a:t>carriers.</a:t>
            </a:r>
            <a:endParaRPr lang="en-US" sz="2400" dirty="0">
              <a:solidFill>
                <a:schemeClr val="bg1"/>
              </a:solidFill>
              <a:latin typeface="Times New Roman" panose="02020603050405020304" pitchFamily="18" charset="0"/>
              <a:cs typeface="Times New Roman" panose="02020603050405020304" pitchFamily="18" charset="0"/>
            </a:endParaRPr>
          </a:p>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39. What are MOSFETs used in?</a:t>
            </a: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Their primary use is to control conductivity, or how much electricity can flow, between its source. </a:t>
            </a:r>
          </a:p>
          <a:p>
            <a:pPr marL="0" indent="0" algn="just">
              <a:buNone/>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25305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3475BA-160A-4816-857C-26B1F36D0972}"/>
              </a:ext>
            </a:extLst>
          </p:cNvPr>
          <p:cNvSpPr>
            <a:spLocks noGrp="1"/>
          </p:cNvSpPr>
          <p:nvPr>
            <p:ph idx="1"/>
          </p:nvPr>
        </p:nvSpPr>
        <p:spPr>
          <a:xfrm>
            <a:off x="894677" y="518595"/>
            <a:ext cx="11538397" cy="6210793"/>
          </a:xfrm>
        </p:spPr>
        <p:txBody>
          <a:bodyPr>
            <a:normAutofit/>
          </a:bodyPr>
          <a:lstStyle/>
          <a:p>
            <a:pPr marL="0" indent="0">
              <a:buNone/>
            </a:pPr>
            <a:r>
              <a:rPr lang="en-US" sz="2400" b="1" dirty="0">
                <a:solidFill>
                  <a:schemeClr val="tx1"/>
                </a:solidFill>
                <a:latin typeface="Times New Roman" panose="02020603050405020304" pitchFamily="18" charset="0"/>
                <a:cs typeface="Times New Roman" panose="02020603050405020304" pitchFamily="18" charset="0"/>
              </a:rPr>
              <a:t>40. What are the various types of biasing of </a:t>
            </a:r>
            <a:r>
              <a:rPr lang="en-US" sz="2400" b="1">
                <a:solidFill>
                  <a:schemeClr val="tx1"/>
                </a:solidFill>
                <a:latin typeface="Times New Roman" panose="02020603050405020304" pitchFamily="18" charset="0"/>
                <a:cs typeface="Times New Roman" panose="02020603050405020304" pitchFamily="18" charset="0"/>
              </a:rPr>
              <a:t>JFET?</a:t>
            </a:r>
            <a:br>
              <a:rPr lang="en-US" sz="2400" b="1"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These three are widely used: </a:t>
            </a:r>
          </a:p>
          <a:p>
            <a:pPr marL="0" indent="0" algn="just">
              <a:buClr>
                <a:schemeClr val="bg1"/>
              </a:buClr>
              <a:buNone/>
            </a:pPr>
            <a:r>
              <a:rPr lang="en-US" sz="2400">
                <a:solidFill>
                  <a:schemeClr val="bg1"/>
                </a:solidFill>
                <a:latin typeface="Times New Roman" panose="02020603050405020304" pitchFamily="18" charset="0"/>
                <a:cs typeface="Times New Roman" panose="02020603050405020304" pitchFamily="18" charset="0"/>
              </a:rPr>
              <a:t>a) Fixed </a:t>
            </a:r>
            <a:r>
              <a:rPr lang="en-US" sz="2400" dirty="0">
                <a:solidFill>
                  <a:schemeClr val="bg1"/>
                </a:solidFill>
                <a:latin typeface="Times New Roman" panose="02020603050405020304" pitchFamily="18" charset="0"/>
                <a:cs typeface="Times New Roman" panose="02020603050405020304" pitchFamily="18" charset="0"/>
              </a:rPr>
              <a:t>DC Biasing Technique. </a:t>
            </a:r>
          </a:p>
          <a:p>
            <a:pPr marL="0" indent="0" algn="just">
              <a:buNone/>
            </a:pPr>
            <a:r>
              <a:rPr lang="en-US" sz="2400">
                <a:solidFill>
                  <a:schemeClr val="bg1"/>
                </a:solidFill>
                <a:latin typeface="Times New Roman" panose="02020603050405020304" pitchFamily="18" charset="0"/>
                <a:cs typeface="Times New Roman" panose="02020603050405020304" pitchFamily="18" charset="0"/>
              </a:rPr>
              <a:t>b) Self-Biasing </a:t>
            </a:r>
            <a:r>
              <a:rPr lang="en-US" sz="2400" dirty="0">
                <a:solidFill>
                  <a:schemeClr val="bg1"/>
                </a:solidFill>
                <a:latin typeface="Times New Roman" panose="02020603050405020304" pitchFamily="18" charset="0"/>
                <a:cs typeface="Times New Roman" panose="02020603050405020304" pitchFamily="18" charset="0"/>
              </a:rPr>
              <a:t>Technique. &amp;  </a:t>
            </a:r>
          </a:p>
          <a:p>
            <a:pPr marL="0" indent="0" algn="just">
              <a:buNone/>
            </a:pPr>
            <a:r>
              <a:rPr lang="en-US" sz="2400">
                <a:solidFill>
                  <a:schemeClr val="bg1"/>
                </a:solidFill>
                <a:latin typeface="Times New Roman" panose="02020603050405020304" pitchFamily="18" charset="0"/>
                <a:cs typeface="Times New Roman" panose="02020603050405020304" pitchFamily="18" charset="0"/>
              </a:rPr>
              <a:t>c) Potential </a:t>
            </a:r>
            <a:r>
              <a:rPr lang="en-US" sz="2400" dirty="0">
                <a:solidFill>
                  <a:schemeClr val="bg1"/>
                </a:solidFill>
                <a:latin typeface="Times New Roman" panose="02020603050405020304" pitchFamily="18" charset="0"/>
                <a:cs typeface="Times New Roman" panose="02020603050405020304" pitchFamily="18" charset="0"/>
              </a:rPr>
              <a:t>Divider </a:t>
            </a:r>
            <a:r>
              <a:rPr lang="en-US" sz="2400">
                <a:solidFill>
                  <a:schemeClr val="bg1"/>
                </a:solidFill>
                <a:latin typeface="Times New Roman" panose="02020603050405020304" pitchFamily="18" charset="0"/>
                <a:cs typeface="Times New Roman" panose="02020603050405020304" pitchFamily="18" charset="0"/>
              </a:rPr>
              <a:t>Biasing.</a:t>
            </a:r>
          </a:p>
          <a:p>
            <a:pPr marL="0" indent="0" algn="just">
              <a:buNone/>
            </a:pPr>
            <a:endParaRPr lang="en-US" sz="2400" b="1" dirty="0">
              <a:solidFill>
                <a:schemeClr val="bg1"/>
              </a:solidFill>
              <a:latin typeface="Times New Roman" panose="02020603050405020304" pitchFamily="18" charset="0"/>
              <a:cs typeface="Times New Roman" panose="02020603050405020304" pitchFamily="18" charset="0"/>
            </a:endParaRPr>
          </a:p>
          <a:p>
            <a:pPr marL="0" indent="0" algn="just">
              <a:buNone/>
            </a:pPr>
            <a:r>
              <a:rPr lang="en-US" sz="2400" b="1" dirty="0">
                <a:solidFill>
                  <a:schemeClr val="tx1"/>
                </a:solidFill>
                <a:latin typeface="Times New Roman" panose="02020603050405020304" pitchFamily="18" charset="0"/>
                <a:cs typeface="Times New Roman" panose="02020603050405020304" pitchFamily="18" charset="0"/>
              </a:rPr>
              <a:t>41. What are the types of biasing </a:t>
            </a:r>
            <a:r>
              <a:rPr lang="en-US" sz="2400" b="1">
                <a:solidFill>
                  <a:schemeClr val="tx1"/>
                </a:solidFill>
                <a:latin typeface="Times New Roman" panose="02020603050405020304" pitchFamily="18" charset="0"/>
                <a:cs typeface="Times New Roman" panose="02020603050405020304" pitchFamily="18" charset="0"/>
              </a:rPr>
              <a:t>in MOSFET?</a:t>
            </a:r>
          </a:p>
          <a:p>
            <a:pPr marL="0" indent="0" algn="just">
              <a:buNone/>
            </a:pPr>
            <a:r>
              <a:rPr lang="en-US" sz="2400">
                <a:solidFill>
                  <a:schemeClr val="bg1"/>
                </a:solidFill>
                <a:latin typeface="Times New Roman" panose="02020603050405020304" pitchFamily="18" charset="0"/>
                <a:cs typeface="Times New Roman" panose="02020603050405020304" pitchFamily="18" charset="0"/>
              </a:rPr>
              <a:t>a) Voltage </a:t>
            </a:r>
            <a:r>
              <a:rPr lang="en-US" sz="2400" dirty="0">
                <a:solidFill>
                  <a:schemeClr val="bg1"/>
                </a:solidFill>
                <a:latin typeface="Times New Roman" panose="02020603050405020304" pitchFamily="18" charset="0"/>
                <a:cs typeface="Times New Roman" panose="02020603050405020304" pitchFamily="18" charset="0"/>
              </a:rPr>
              <a:t>Divider Bias    </a:t>
            </a:r>
          </a:p>
          <a:p>
            <a:pPr marL="0" indent="0" algn="just">
              <a:buNone/>
            </a:pPr>
            <a:r>
              <a:rPr lang="en-US" sz="2400">
                <a:solidFill>
                  <a:schemeClr val="bg1"/>
                </a:solidFill>
                <a:latin typeface="Times New Roman" panose="02020603050405020304" pitchFamily="18" charset="0"/>
                <a:cs typeface="Times New Roman" panose="02020603050405020304" pitchFamily="18" charset="0"/>
              </a:rPr>
              <a:t>b) Drain </a:t>
            </a:r>
            <a:r>
              <a:rPr lang="en-US" sz="2400" dirty="0">
                <a:solidFill>
                  <a:schemeClr val="bg1"/>
                </a:solidFill>
                <a:latin typeface="Times New Roman" panose="02020603050405020304" pitchFamily="18" charset="0"/>
                <a:cs typeface="Times New Roman" panose="02020603050405020304" pitchFamily="18" charset="0"/>
              </a:rPr>
              <a:t>Feedback Bias.</a:t>
            </a:r>
          </a:p>
          <a:p>
            <a:pPr marL="0" indent="0" algn="just">
              <a:buNone/>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05350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6392" y="2641755"/>
            <a:ext cx="6026980" cy="1507067"/>
          </a:xfrm>
        </p:spPr>
        <p:txBody>
          <a:bodyPr>
            <a:normAutofit/>
          </a:bodyPr>
          <a:lstStyle/>
          <a:p>
            <a:r>
              <a:rPr lang="en-US" sz="4000" b="1">
                <a:solidFill>
                  <a:schemeClr val="bg1"/>
                </a:solidFill>
                <a:latin typeface="Times New Roman" panose="02020603050405020304" pitchFamily="18" charset="0"/>
                <a:cs typeface="Times New Roman" panose="02020603050405020304" pitchFamily="18" charset="0"/>
              </a:rPr>
              <a:t>Transistor Biasing</a:t>
            </a:r>
            <a:endParaRPr lang="en-US" sz="4000">
              <a:solidFill>
                <a:schemeClr val="bg1"/>
              </a:solidFill>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88801" y="2257664"/>
            <a:ext cx="2352821" cy="2605603"/>
          </a:xfrm>
        </p:spPr>
      </p:pic>
    </p:spTree>
    <p:extLst>
      <p:ext uri="{BB962C8B-B14F-4D97-AF65-F5344CB8AC3E}">
        <p14:creationId xmlns:p14="http://schemas.microsoft.com/office/powerpoint/2010/main" val="8805850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A9EB7F-78D5-4A8C-A37D-CB8703CBAF1D}"/>
              </a:ext>
            </a:extLst>
          </p:cNvPr>
          <p:cNvSpPr>
            <a:spLocks noGrp="1"/>
          </p:cNvSpPr>
          <p:nvPr>
            <p:ph idx="1"/>
          </p:nvPr>
        </p:nvSpPr>
        <p:spPr>
          <a:xfrm>
            <a:off x="728789" y="502508"/>
            <a:ext cx="10944228" cy="5568778"/>
          </a:xfrm>
        </p:spPr>
        <p:txBody>
          <a:bodyPr>
            <a:noAutofit/>
          </a:bodyPr>
          <a:lstStyle/>
          <a:p>
            <a:pPr marL="0" lvl="0" indent="0" algn="just">
              <a:buNone/>
            </a:pPr>
            <a:r>
              <a:rPr lang="en-US" sz="2400" b="1" dirty="0">
                <a:solidFill>
                  <a:schemeClr val="tx1"/>
                </a:solidFill>
                <a:latin typeface="Times New Roman" panose="02020603050405020304" pitchFamily="18" charset="0"/>
                <a:cs typeface="Times New Roman" panose="02020603050405020304" pitchFamily="18" charset="0"/>
              </a:rPr>
              <a:t>42. What do you understand by transistor biasing? What is its need?</a:t>
            </a:r>
            <a:endParaRPr lang="en-US" sz="2400"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The proper flow of zero signal collector current and the maintenance of proper collector-emitter voltage during the passage of signal is known as transistor biasing. The need for biasing is to establish a DC operating point for the transistor so that it can properly amplify signals applied to its </a:t>
            </a:r>
            <a:r>
              <a:rPr lang="en-US" sz="2400">
                <a:solidFill>
                  <a:schemeClr val="bg1"/>
                </a:solidFill>
                <a:latin typeface="Times New Roman" panose="02020603050405020304" pitchFamily="18" charset="0"/>
                <a:cs typeface="Times New Roman" panose="02020603050405020304" pitchFamily="18" charset="0"/>
              </a:rPr>
              <a:t>input.</a:t>
            </a:r>
          </a:p>
          <a:p>
            <a:pPr marL="0" indent="0" algn="just">
              <a:buNone/>
            </a:pPr>
            <a:endParaRPr lang="en-US" sz="2400" dirty="0">
              <a:latin typeface="Times New Roman" panose="02020603050405020304" pitchFamily="18" charset="0"/>
              <a:cs typeface="Times New Roman" panose="02020603050405020304" pitchFamily="18" charset="0"/>
            </a:endParaRPr>
          </a:p>
          <a:p>
            <a:pPr marL="0" lvl="0" indent="0" algn="just">
              <a:buNone/>
            </a:pPr>
            <a:r>
              <a:rPr lang="en-US" sz="2400" b="1" dirty="0">
                <a:solidFill>
                  <a:schemeClr val="tx1"/>
                </a:solidFill>
                <a:latin typeface="Times New Roman" panose="02020603050405020304" pitchFamily="18" charset="0"/>
                <a:cs typeface="Times New Roman" panose="02020603050405020304" pitchFamily="18" charset="0"/>
              </a:rPr>
              <a:t>43. Methods of Transistor Biasing.</a:t>
            </a:r>
            <a:endParaRPr lang="en-US" sz="2400" dirty="0">
              <a:solidFill>
                <a:schemeClr val="tx1"/>
              </a:solidFill>
              <a:latin typeface="Times New Roman" panose="02020603050405020304" pitchFamily="18" charset="0"/>
              <a:cs typeface="Times New Roman" panose="02020603050405020304" pitchFamily="18" charset="0"/>
            </a:endParaRPr>
          </a:p>
          <a:p>
            <a:pPr marL="514350" indent="-514350" algn="just">
              <a:buClr>
                <a:schemeClr val="bg1"/>
              </a:buClr>
              <a:buFont typeface="+mj-lt"/>
              <a:buAutoNum type="romanLcPeriod"/>
            </a:pPr>
            <a:r>
              <a:rPr lang="en-US" sz="2400" dirty="0">
                <a:solidFill>
                  <a:schemeClr val="bg1"/>
                </a:solidFill>
                <a:latin typeface="Times New Roman" panose="02020603050405020304" pitchFamily="18" charset="0"/>
                <a:cs typeface="Times New Roman" panose="02020603050405020304" pitchFamily="18" charset="0"/>
              </a:rPr>
              <a:t>Base resistor method </a:t>
            </a:r>
          </a:p>
          <a:p>
            <a:pPr marL="514350" indent="-514350" algn="just">
              <a:buClr>
                <a:schemeClr val="bg1"/>
              </a:buClr>
              <a:buFont typeface="+mj-lt"/>
              <a:buAutoNum type="romanLcPeriod"/>
            </a:pPr>
            <a:r>
              <a:rPr lang="en-US" sz="2400" dirty="0">
                <a:solidFill>
                  <a:schemeClr val="bg1"/>
                </a:solidFill>
                <a:latin typeface="Times New Roman" panose="02020603050405020304" pitchFamily="18" charset="0"/>
                <a:cs typeface="Times New Roman" panose="02020603050405020304" pitchFamily="18" charset="0"/>
              </a:rPr>
              <a:t>Emitter bias method </a:t>
            </a:r>
          </a:p>
          <a:p>
            <a:pPr marL="514350" indent="-514350" algn="just">
              <a:buClr>
                <a:schemeClr val="bg1"/>
              </a:buClr>
              <a:buFont typeface="+mj-lt"/>
              <a:buAutoNum type="romanLcPeriod"/>
            </a:pPr>
            <a:r>
              <a:rPr lang="en-US" sz="2400" dirty="0">
                <a:solidFill>
                  <a:schemeClr val="bg1"/>
                </a:solidFill>
                <a:latin typeface="Times New Roman" panose="02020603050405020304" pitchFamily="18" charset="0"/>
                <a:cs typeface="Times New Roman" panose="02020603050405020304" pitchFamily="18" charset="0"/>
              </a:rPr>
              <a:t>Biasing with a collector-feedback </a:t>
            </a:r>
            <a:r>
              <a:rPr lang="en-US" sz="2400">
                <a:solidFill>
                  <a:schemeClr val="bg1"/>
                </a:solidFill>
                <a:latin typeface="Times New Roman" panose="02020603050405020304" pitchFamily="18" charset="0"/>
                <a:cs typeface="Times New Roman" panose="02020603050405020304" pitchFamily="18" charset="0"/>
              </a:rPr>
              <a:t>resistor </a:t>
            </a:r>
            <a:endParaRPr lang="en-US" sz="2400" dirty="0">
              <a:solidFill>
                <a:schemeClr val="bg1"/>
              </a:solidFill>
              <a:latin typeface="Times New Roman" panose="02020603050405020304" pitchFamily="18" charset="0"/>
              <a:cs typeface="Times New Roman" panose="02020603050405020304" pitchFamily="18" charset="0"/>
            </a:endParaRPr>
          </a:p>
          <a:p>
            <a:pPr marL="514350" indent="-514350" algn="just">
              <a:buClr>
                <a:schemeClr val="bg1"/>
              </a:buClr>
              <a:buFont typeface="+mj-lt"/>
              <a:buAutoNum type="romanLcPeriod"/>
            </a:pPr>
            <a:r>
              <a:rPr lang="en-US" sz="2400" dirty="0">
                <a:solidFill>
                  <a:schemeClr val="bg1"/>
                </a:solidFill>
                <a:latin typeface="Times New Roman" panose="02020603050405020304" pitchFamily="18" charset="0"/>
                <a:cs typeface="Times New Roman" panose="02020603050405020304" pitchFamily="18" charset="0"/>
              </a:rPr>
              <a:t>Voltage-divider bias</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0206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B4374B-F67B-47FC-BAA9-8679843A263D}"/>
              </a:ext>
            </a:extLst>
          </p:cNvPr>
          <p:cNvSpPr>
            <a:spLocks noGrp="1"/>
          </p:cNvSpPr>
          <p:nvPr>
            <p:ph idx="1"/>
          </p:nvPr>
        </p:nvSpPr>
        <p:spPr>
          <a:xfrm>
            <a:off x="843073" y="469556"/>
            <a:ext cx="10928798" cy="5333130"/>
          </a:xfrm>
        </p:spPr>
        <p:txBody>
          <a:bodyPr>
            <a:normAutofit/>
          </a:bodyPr>
          <a:lstStyle/>
          <a:p>
            <a:pPr marL="0" lvl="0" indent="0" algn="just">
              <a:buNone/>
            </a:pPr>
            <a:r>
              <a:rPr lang="en-US" sz="2400" b="1">
                <a:solidFill>
                  <a:schemeClr val="bg1"/>
                </a:solidFill>
                <a:latin typeface="Times New Roman" panose="02020603050405020304" pitchFamily="18" charset="0"/>
                <a:cs typeface="Times New Roman" panose="02020603050405020304" pitchFamily="18" charset="0"/>
              </a:rPr>
              <a:t>i) Base </a:t>
            </a:r>
            <a:r>
              <a:rPr lang="en-US" sz="2400" b="1" dirty="0">
                <a:solidFill>
                  <a:schemeClr val="bg1"/>
                </a:solidFill>
                <a:latin typeface="Times New Roman" panose="02020603050405020304" pitchFamily="18" charset="0"/>
                <a:cs typeface="Times New Roman" panose="02020603050405020304" pitchFamily="18" charset="0"/>
              </a:rPr>
              <a:t>resistor method: </a:t>
            </a:r>
            <a:r>
              <a:rPr lang="en-US" sz="2400" dirty="0">
                <a:solidFill>
                  <a:schemeClr val="bg1"/>
                </a:solidFill>
                <a:latin typeface="Times New Roman" panose="02020603050405020304" pitchFamily="18" charset="0"/>
                <a:cs typeface="Times New Roman" panose="02020603050405020304" pitchFamily="18" charset="0"/>
              </a:rPr>
              <a:t>A resistor is placed between the base and the positive power supply to provide a constant current to the base of the </a:t>
            </a:r>
            <a:r>
              <a:rPr lang="en-US" sz="2400">
                <a:solidFill>
                  <a:schemeClr val="bg1"/>
                </a:solidFill>
                <a:latin typeface="Times New Roman" panose="02020603050405020304" pitchFamily="18" charset="0"/>
                <a:cs typeface="Times New Roman" panose="02020603050405020304" pitchFamily="18" charset="0"/>
              </a:rPr>
              <a:t>transistor.</a:t>
            </a:r>
            <a:endParaRPr lang="en-US" sz="2400" dirty="0">
              <a:solidFill>
                <a:schemeClr val="bg1"/>
              </a:solidFill>
              <a:latin typeface="Times New Roman" panose="02020603050405020304" pitchFamily="18" charset="0"/>
              <a:cs typeface="Times New Roman" panose="02020603050405020304" pitchFamily="18" charset="0"/>
            </a:endParaRPr>
          </a:p>
          <a:p>
            <a:pPr marL="0" lvl="0" indent="0" algn="just">
              <a:buNone/>
            </a:pPr>
            <a:r>
              <a:rPr lang="en-US" sz="2400" b="1">
                <a:solidFill>
                  <a:schemeClr val="bg1"/>
                </a:solidFill>
                <a:latin typeface="Times New Roman" panose="02020603050405020304" pitchFamily="18" charset="0"/>
                <a:cs typeface="Times New Roman" panose="02020603050405020304" pitchFamily="18" charset="0"/>
              </a:rPr>
              <a:t>ii</a:t>
            </a:r>
            <a:r>
              <a:rPr lang="en-US" sz="2400" b="1" dirty="0">
                <a:solidFill>
                  <a:schemeClr val="bg1"/>
                </a:solidFill>
                <a:latin typeface="Times New Roman" panose="02020603050405020304" pitchFamily="18" charset="0"/>
                <a:cs typeface="Times New Roman" panose="02020603050405020304" pitchFamily="18" charset="0"/>
              </a:rPr>
              <a:t>) Emitter bias method: </a:t>
            </a:r>
            <a:r>
              <a:rPr lang="en-US" sz="2400" dirty="0">
                <a:solidFill>
                  <a:schemeClr val="bg1"/>
                </a:solidFill>
                <a:latin typeface="Times New Roman" panose="02020603050405020304" pitchFamily="18" charset="0"/>
                <a:cs typeface="Times New Roman" panose="02020603050405020304" pitchFamily="18" charset="0"/>
              </a:rPr>
              <a:t>A resistor is placed between the emitter and the negative power supply to provide a constant current to the emitter of the </a:t>
            </a:r>
            <a:r>
              <a:rPr lang="en-US" sz="2400">
                <a:solidFill>
                  <a:schemeClr val="bg1"/>
                </a:solidFill>
                <a:latin typeface="Times New Roman" panose="02020603050405020304" pitchFamily="18" charset="0"/>
                <a:cs typeface="Times New Roman" panose="02020603050405020304" pitchFamily="18" charset="0"/>
              </a:rPr>
              <a:t>transistor.</a:t>
            </a:r>
            <a:endParaRPr lang="en-US" sz="2400" dirty="0">
              <a:solidFill>
                <a:schemeClr val="bg1"/>
              </a:solidFill>
              <a:latin typeface="Times New Roman" panose="02020603050405020304" pitchFamily="18" charset="0"/>
              <a:cs typeface="Times New Roman" panose="02020603050405020304" pitchFamily="18" charset="0"/>
            </a:endParaRPr>
          </a:p>
          <a:p>
            <a:pPr marL="0" lvl="0" indent="0" algn="just">
              <a:buNone/>
            </a:pPr>
            <a:r>
              <a:rPr lang="en-US" sz="2400" b="1" dirty="0">
                <a:solidFill>
                  <a:schemeClr val="bg1"/>
                </a:solidFill>
                <a:latin typeface="Times New Roman" panose="02020603050405020304" pitchFamily="18" charset="0"/>
                <a:cs typeface="Times New Roman" panose="02020603050405020304" pitchFamily="18" charset="0"/>
              </a:rPr>
              <a:t>iii) Collector-feedback resistor method: </a:t>
            </a:r>
            <a:r>
              <a:rPr lang="en-US" sz="2400" dirty="0">
                <a:solidFill>
                  <a:schemeClr val="bg1"/>
                </a:solidFill>
                <a:latin typeface="Times New Roman" panose="02020603050405020304" pitchFamily="18" charset="0"/>
                <a:cs typeface="Times New Roman" panose="02020603050405020304" pitchFamily="18" charset="0"/>
              </a:rPr>
              <a:t>A resistor is placed between the collector and the positive power supply to provide feedback to the base of the transistor, which helps to stabilize its operating </a:t>
            </a:r>
            <a:r>
              <a:rPr lang="en-US" sz="2400">
                <a:solidFill>
                  <a:schemeClr val="bg1"/>
                </a:solidFill>
                <a:latin typeface="Times New Roman" panose="02020603050405020304" pitchFamily="18" charset="0"/>
                <a:cs typeface="Times New Roman" panose="02020603050405020304" pitchFamily="18" charset="0"/>
              </a:rPr>
              <a:t>point.</a:t>
            </a:r>
            <a:endParaRPr lang="en-US" sz="2400" dirty="0">
              <a:solidFill>
                <a:schemeClr val="bg1"/>
              </a:solidFill>
              <a:latin typeface="Times New Roman" panose="02020603050405020304" pitchFamily="18" charset="0"/>
              <a:cs typeface="Times New Roman" panose="02020603050405020304" pitchFamily="18" charset="0"/>
            </a:endParaRPr>
          </a:p>
          <a:p>
            <a:pPr marL="0" lvl="0" indent="0" algn="just">
              <a:buNone/>
            </a:pPr>
            <a:r>
              <a:rPr lang="en-US" sz="2400" b="1" dirty="0">
                <a:solidFill>
                  <a:schemeClr val="bg1"/>
                </a:solidFill>
                <a:latin typeface="Times New Roman" panose="02020603050405020304" pitchFamily="18" charset="0"/>
                <a:cs typeface="Times New Roman" panose="02020603050405020304" pitchFamily="18" charset="0"/>
              </a:rPr>
              <a:t>iv) Voltage-divider bias:</a:t>
            </a:r>
            <a:r>
              <a:rPr lang="en-US" sz="2400" dirty="0">
                <a:solidFill>
                  <a:schemeClr val="bg1"/>
                </a:solidFill>
                <a:latin typeface="Times New Roman" panose="02020603050405020304" pitchFamily="18" charset="0"/>
                <a:cs typeface="Times New Roman" panose="02020603050405020304" pitchFamily="18" charset="0"/>
              </a:rPr>
              <a:t> Two resistors are placed in series between the positive power supply and ground, with the base of the transistor connected to the junction of the two resistors. This creates a voltage divider that sets the base voltage of the transistor.</a:t>
            </a:r>
          </a:p>
          <a:p>
            <a:pPr marL="0" indent="0" algn="just">
              <a:buNone/>
            </a:pPr>
            <a:endParaRPr lang="en-US" sz="2400" dirty="0">
              <a:solidFill>
                <a:schemeClr val="bg1"/>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9720110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40CA91-2E7A-4CD6-B8B5-D5CED6ECF0F9}"/>
              </a:ext>
            </a:extLst>
          </p:cNvPr>
          <p:cNvSpPr>
            <a:spLocks noGrp="1"/>
          </p:cNvSpPr>
          <p:nvPr>
            <p:ph idx="1"/>
          </p:nvPr>
        </p:nvSpPr>
        <p:spPr>
          <a:xfrm>
            <a:off x="796613" y="600074"/>
            <a:ext cx="10719112" cy="5114791"/>
          </a:xfrm>
        </p:spPr>
        <p:txBody>
          <a:bodyPr anchor="ctr">
            <a:normAutofit/>
          </a:bodyPr>
          <a:lstStyle/>
          <a:p>
            <a:pPr marL="0" lvl="0" indent="0" algn="just">
              <a:buNone/>
            </a:pPr>
            <a:r>
              <a:rPr lang="en-US" sz="2400" b="1" dirty="0">
                <a:solidFill>
                  <a:schemeClr val="tx1"/>
                </a:solidFill>
                <a:latin typeface="Times New Roman" panose="02020603050405020304" pitchFamily="18" charset="0"/>
                <a:cs typeface="Times New Roman" panose="02020603050405020304" pitchFamily="18" charset="0"/>
              </a:rPr>
              <a:t>44. The essentials of a biasing circuit </a:t>
            </a:r>
            <a:r>
              <a:rPr lang="en-US" sz="2400" b="1">
                <a:solidFill>
                  <a:schemeClr val="tx1"/>
                </a:solidFill>
                <a:latin typeface="Times New Roman" panose="02020603050405020304" pitchFamily="18" charset="0"/>
                <a:cs typeface="Times New Roman" panose="02020603050405020304" pitchFamily="18" charset="0"/>
              </a:rPr>
              <a:t>are?</a:t>
            </a:r>
            <a:endParaRPr lang="en-US" sz="2400" b="1" dirty="0">
              <a:latin typeface="Times New Roman" panose="02020603050405020304" pitchFamily="18" charset="0"/>
              <a:cs typeface="Times New Roman" panose="02020603050405020304" pitchFamily="18" charset="0"/>
            </a:endParaRPr>
          </a:p>
          <a:p>
            <a:pPr marL="0" lvl="0" indent="0" algn="just">
              <a:buNone/>
            </a:pPr>
            <a:r>
              <a:rPr lang="en-US" sz="2400" b="1" dirty="0">
                <a:solidFill>
                  <a:schemeClr val="bg1"/>
                </a:solidFill>
                <a:latin typeface="Times New Roman" panose="02020603050405020304" pitchFamily="18" charset="0"/>
                <a:cs typeface="Times New Roman" panose="02020603050405020304" pitchFamily="18" charset="0"/>
              </a:rPr>
              <a:t>DC Power Supply: </a:t>
            </a:r>
            <a:r>
              <a:rPr lang="en-US" sz="2400" dirty="0">
                <a:solidFill>
                  <a:schemeClr val="bg1"/>
                </a:solidFill>
                <a:latin typeface="Times New Roman" panose="02020603050405020304" pitchFamily="18" charset="0"/>
                <a:cs typeface="Times New Roman" panose="02020603050405020304" pitchFamily="18" charset="0"/>
              </a:rPr>
              <a:t>A DC power supply is required to provide the operating voltage to the </a:t>
            </a:r>
            <a:r>
              <a:rPr lang="en-US" sz="2400">
                <a:solidFill>
                  <a:schemeClr val="bg1"/>
                </a:solidFill>
                <a:latin typeface="Times New Roman" panose="02020603050405020304" pitchFamily="18" charset="0"/>
                <a:cs typeface="Times New Roman" panose="02020603050405020304" pitchFamily="18" charset="0"/>
              </a:rPr>
              <a:t>transistor.</a:t>
            </a:r>
            <a:endParaRPr lang="en-US" sz="2400" b="1">
              <a:solidFill>
                <a:schemeClr val="bg1"/>
              </a:solidFill>
              <a:latin typeface="Times New Roman" panose="02020603050405020304" pitchFamily="18" charset="0"/>
              <a:cs typeface="Times New Roman" panose="02020603050405020304" pitchFamily="18" charset="0"/>
            </a:endParaRPr>
          </a:p>
          <a:p>
            <a:pPr marL="0" indent="0" algn="just">
              <a:buNone/>
            </a:pPr>
            <a:r>
              <a:rPr lang="en-US" sz="2400" b="1">
                <a:solidFill>
                  <a:schemeClr val="bg1"/>
                </a:solidFill>
                <a:latin typeface="Times New Roman" panose="02020603050405020304" pitchFamily="18" charset="0"/>
                <a:cs typeface="Times New Roman" panose="02020603050405020304" pitchFamily="18" charset="0"/>
              </a:rPr>
              <a:t>Resistors</a:t>
            </a:r>
            <a:r>
              <a:rPr lang="en-US" sz="2400" b="1" dirty="0">
                <a:solidFill>
                  <a:schemeClr val="bg1"/>
                </a:solidFill>
                <a:latin typeface="Times New Roman" panose="02020603050405020304" pitchFamily="18" charset="0"/>
                <a:cs typeface="Times New Roman" panose="02020603050405020304" pitchFamily="18" charset="0"/>
              </a:rPr>
              <a:t>: </a:t>
            </a:r>
            <a:r>
              <a:rPr lang="en-US" sz="2400" dirty="0">
                <a:solidFill>
                  <a:schemeClr val="bg1"/>
                </a:solidFill>
                <a:latin typeface="Times New Roman" panose="02020603050405020304" pitchFamily="18" charset="0"/>
                <a:cs typeface="Times New Roman" panose="02020603050405020304" pitchFamily="18" charset="0"/>
              </a:rPr>
              <a:t>Resistors are used to set the DC operating point of the transistor and to establish the required DC bias </a:t>
            </a:r>
            <a:r>
              <a:rPr lang="en-US" sz="2400">
                <a:solidFill>
                  <a:schemeClr val="bg1"/>
                </a:solidFill>
                <a:latin typeface="Times New Roman" panose="02020603050405020304" pitchFamily="18" charset="0"/>
                <a:cs typeface="Times New Roman" panose="02020603050405020304" pitchFamily="18" charset="0"/>
              </a:rPr>
              <a:t>voltage.</a:t>
            </a:r>
            <a:endParaRPr lang="en-US" sz="2400" b="1">
              <a:solidFill>
                <a:schemeClr val="bg1"/>
              </a:solidFill>
              <a:latin typeface="Times New Roman" panose="02020603050405020304" pitchFamily="18" charset="0"/>
              <a:cs typeface="Times New Roman" panose="02020603050405020304" pitchFamily="18" charset="0"/>
            </a:endParaRPr>
          </a:p>
          <a:p>
            <a:pPr marL="0" indent="0" algn="just">
              <a:buNone/>
            </a:pPr>
            <a:r>
              <a:rPr lang="en-US" sz="2400" b="1">
                <a:solidFill>
                  <a:schemeClr val="bg1"/>
                </a:solidFill>
                <a:latin typeface="Times New Roman" panose="02020603050405020304" pitchFamily="18" charset="0"/>
                <a:cs typeface="Times New Roman" panose="02020603050405020304" pitchFamily="18" charset="0"/>
              </a:rPr>
              <a:t>Capacitors</a:t>
            </a:r>
            <a:r>
              <a:rPr lang="en-US" sz="2400" b="1" dirty="0">
                <a:solidFill>
                  <a:schemeClr val="bg1"/>
                </a:solidFill>
                <a:latin typeface="Times New Roman" panose="02020603050405020304" pitchFamily="18" charset="0"/>
                <a:cs typeface="Times New Roman" panose="02020603050405020304" pitchFamily="18" charset="0"/>
              </a:rPr>
              <a:t>:</a:t>
            </a:r>
            <a:r>
              <a:rPr lang="en-US" sz="2400" dirty="0">
                <a:solidFill>
                  <a:schemeClr val="bg1"/>
                </a:solidFill>
                <a:latin typeface="Times New Roman" panose="02020603050405020304" pitchFamily="18" charset="0"/>
                <a:cs typeface="Times New Roman" panose="02020603050405020304" pitchFamily="18" charset="0"/>
              </a:rPr>
              <a:t> Capacitors are used to remove any AC signals present on the power supply, which helps to prevent these signals from affecting the transistor's </a:t>
            </a:r>
            <a:r>
              <a:rPr lang="en-US" sz="2400">
                <a:solidFill>
                  <a:schemeClr val="bg1"/>
                </a:solidFill>
                <a:latin typeface="Times New Roman" panose="02020603050405020304" pitchFamily="18" charset="0"/>
                <a:cs typeface="Times New Roman" panose="02020603050405020304" pitchFamily="18" charset="0"/>
              </a:rPr>
              <a:t>operation.</a:t>
            </a:r>
            <a:endParaRPr lang="en-US" sz="2400" b="1">
              <a:solidFill>
                <a:schemeClr val="bg1"/>
              </a:solidFill>
              <a:latin typeface="Times New Roman" panose="02020603050405020304" pitchFamily="18" charset="0"/>
              <a:cs typeface="Times New Roman" panose="02020603050405020304" pitchFamily="18" charset="0"/>
            </a:endParaRPr>
          </a:p>
          <a:p>
            <a:pPr marL="0" indent="0" algn="just">
              <a:buNone/>
            </a:pPr>
            <a:r>
              <a:rPr lang="en-US" sz="2400" b="1">
                <a:solidFill>
                  <a:schemeClr val="bg1"/>
                </a:solidFill>
                <a:latin typeface="Times New Roman" panose="02020603050405020304" pitchFamily="18" charset="0"/>
                <a:cs typeface="Times New Roman" panose="02020603050405020304" pitchFamily="18" charset="0"/>
              </a:rPr>
              <a:t>Transistor</a:t>
            </a:r>
            <a:r>
              <a:rPr lang="en-US" sz="2400" b="1" dirty="0">
                <a:solidFill>
                  <a:schemeClr val="bg1"/>
                </a:solidFill>
                <a:latin typeface="Times New Roman" panose="02020603050405020304" pitchFamily="18" charset="0"/>
                <a:cs typeface="Times New Roman" panose="02020603050405020304" pitchFamily="18" charset="0"/>
              </a:rPr>
              <a:t>:</a:t>
            </a:r>
            <a:r>
              <a:rPr lang="en-US" sz="2400" dirty="0">
                <a:solidFill>
                  <a:schemeClr val="bg1"/>
                </a:solidFill>
                <a:latin typeface="Times New Roman" panose="02020603050405020304" pitchFamily="18" charset="0"/>
                <a:cs typeface="Times New Roman" panose="02020603050405020304" pitchFamily="18" charset="0"/>
              </a:rPr>
              <a:t> A bipolar junction transistor (BJT) or a field-effect transistor (FET) is used as the active device in the circuit.</a:t>
            </a:r>
          </a:p>
          <a:p>
            <a:pPr marL="0" indent="0" algn="just">
              <a:buNone/>
            </a:pPr>
            <a:endParaRPr lang="en-US" sz="24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700344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2291A8-AEDD-4F15-AF4C-E3D08012AABB}"/>
              </a:ext>
            </a:extLst>
          </p:cNvPr>
          <p:cNvSpPr>
            <a:spLocks noGrp="1"/>
          </p:cNvSpPr>
          <p:nvPr>
            <p:ph idx="1"/>
          </p:nvPr>
        </p:nvSpPr>
        <p:spPr>
          <a:xfrm>
            <a:off x="730339" y="647700"/>
            <a:ext cx="10947311" cy="4674092"/>
          </a:xfrm>
        </p:spPr>
        <p:txBody>
          <a:bodyPr>
            <a:normAutofit/>
          </a:bodyPr>
          <a:lstStyle/>
          <a:p>
            <a:pPr marL="0" lvl="0" indent="0" algn="just">
              <a:buNone/>
            </a:pPr>
            <a:r>
              <a:rPr lang="en-US" sz="2400" b="1" dirty="0">
                <a:solidFill>
                  <a:schemeClr val="tx1"/>
                </a:solidFill>
                <a:latin typeface="Times New Roman" panose="02020603050405020304" pitchFamily="18" charset="0"/>
                <a:cs typeface="Times New Roman" panose="02020603050405020304" pitchFamily="18" charset="0"/>
              </a:rPr>
              <a:t>45. Why are transistor amplifiers always operated </a:t>
            </a:r>
            <a:r>
              <a:rPr lang="en-US" sz="2400" b="1">
                <a:solidFill>
                  <a:schemeClr val="tx1"/>
                </a:solidFill>
                <a:latin typeface="Times New Roman" panose="02020603050405020304" pitchFamily="18" charset="0"/>
                <a:cs typeface="Times New Roman" panose="02020603050405020304" pitchFamily="18" charset="0"/>
              </a:rPr>
              <a:t>above the knee voltage region ?</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solidFill>
                  <a:schemeClr val="bg1"/>
                </a:solidFill>
                <a:latin typeface="Times New Roman" panose="02020603050405020304" pitchFamily="18" charset="0"/>
                <a:cs typeface="Times New Roman" panose="02020603050405020304" pitchFamily="18" charset="0"/>
              </a:rPr>
              <a:t>Transistor amplifiers are usually operated above the knee voltage </a:t>
            </a:r>
            <a:r>
              <a:rPr lang="en-US" sz="2400">
                <a:solidFill>
                  <a:schemeClr val="bg1"/>
                </a:solidFill>
                <a:latin typeface="Times New Roman" panose="02020603050405020304" pitchFamily="18" charset="0"/>
                <a:cs typeface="Times New Roman" panose="02020603050405020304" pitchFamily="18" charset="0"/>
              </a:rPr>
              <a:t>region because </a:t>
            </a:r>
            <a:r>
              <a:rPr lang="en-US" sz="2400" dirty="0">
                <a:solidFill>
                  <a:schemeClr val="bg1"/>
                </a:solidFill>
                <a:latin typeface="Times New Roman" panose="02020603050405020304" pitchFamily="18" charset="0"/>
                <a:cs typeface="Times New Roman" panose="02020603050405020304" pitchFamily="18" charset="0"/>
              </a:rPr>
              <a:t>in this region, the transistor behaves as a linear device, meaning that the output current is proportional to the input current. This allows the transistor to amplify small variations in the input signal. In contrast, if the transistor is operated in the saturation region (below the knee voltage), the output current becomes largely independent of the input current, causing the transistor to act as a switch rather than an amplifier. To achieve the desired amplification of the input signal, transistor amplifiers are therefore typically operated above the knee voltage region.</a:t>
            </a:r>
          </a:p>
          <a:p>
            <a:pPr marL="0" indent="0" algn="just">
              <a:buNone/>
            </a:pPr>
            <a:endParaRPr lang="en-US" dirty="0"/>
          </a:p>
          <a:p>
            <a:endParaRPr lang="en-US" dirty="0"/>
          </a:p>
        </p:txBody>
      </p:sp>
    </p:spTree>
    <p:extLst>
      <p:ext uri="{BB962C8B-B14F-4D97-AF65-F5344CB8AC3E}">
        <p14:creationId xmlns:p14="http://schemas.microsoft.com/office/powerpoint/2010/main" val="15757165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7366F-9B7D-4BF5-8F03-1F449B753066}"/>
              </a:ext>
            </a:extLst>
          </p:cNvPr>
          <p:cNvSpPr>
            <a:spLocks noGrp="1"/>
          </p:cNvSpPr>
          <p:nvPr>
            <p:ph type="title"/>
          </p:nvPr>
        </p:nvSpPr>
        <p:spPr>
          <a:xfrm>
            <a:off x="1034736" y="2630867"/>
            <a:ext cx="10515600" cy="1325563"/>
          </a:xfrm>
        </p:spPr>
        <p:txBody>
          <a:bodyPr>
            <a:normAutofit/>
          </a:bodyPr>
          <a:lstStyle/>
          <a:p>
            <a:pPr algn="ctr"/>
            <a:r>
              <a:rPr lang="en-US" sz="60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911907330"/>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532</TotalTime>
  <Words>2786</Words>
  <Application>Microsoft Office PowerPoint</Application>
  <PresentationFormat>Widescreen</PresentationFormat>
  <Paragraphs>183</Paragraphs>
  <Slides>34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Calibri</vt:lpstr>
      <vt:lpstr>Century Gothic</vt:lpstr>
      <vt:lpstr>Courier New</vt:lpstr>
      <vt:lpstr>Times New Roman</vt:lpstr>
      <vt:lpstr>Wingdings 3</vt:lpstr>
      <vt:lpstr>Slice</vt:lpstr>
      <vt:lpstr>General Viva Presentation</vt:lpstr>
      <vt:lpstr>Group-04</vt:lpstr>
      <vt:lpstr>PowerPoint Presentation</vt:lpstr>
      <vt:lpstr>Contents</vt:lpstr>
      <vt:lpstr>Semiconductor</vt:lpstr>
      <vt:lpstr>PowerPoint Presentation</vt:lpstr>
      <vt:lpstr>PowerPoint Presentation</vt:lpstr>
      <vt:lpstr>PowerPoint Presentation</vt:lpstr>
      <vt:lpstr>PowerPoint Presentation</vt:lpstr>
      <vt:lpstr>P-N Junction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Bipolar Junction transistor</vt:lpstr>
      <vt:lpstr>PowerPoint Presentation</vt:lpstr>
      <vt:lpstr>PowerPoint Presentation</vt:lpstr>
      <vt:lpstr>Field Effect Transistor</vt:lpstr>
      <vt:lpstr>PowerPoint Presentation</vt:lpstr>
      <vt:lpstr>PowerPoint Presentation</vt:lpstr>
      <vt:lpstr>Transistor Biasing</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General Viva</dc:title>
  <dc:creator>Zia Ul Hassan Chy</dc:creator>
  <cp:lastModifiedBy>Md. Zia ul hassan chowdhury</cp:lastModifiedBy>
  <cp:revision>160</cp:revision>
  <dcterms:created xsi:type="dcterms:W3CDTF">2023-01-29T16:39:12Z</dcterms:created>
  <dcterms:modified xsi:type="dcterms:W3CDTF">2025-10-08T18:29:49Z</dcterms:modified>
</cp:coreProperties>
</file>