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6"/>
  </p:notesMasterIdLst>
  <p:sldIdLst>
    <p:sldId id="256" r:id="rId2"/>
    <p:sldId id="269" r:id="rId3"/>
    <p:sldId id="257" r:id="rId4"/>
    <p:sldId id="267" r:id="rId5"/>
    <p:sldId id="265" r:id="rId6"/>
    <p:sldId id="258" r:id="rId7"/>
    <p:sldId id="259" r:id="rId8"/>
    <p:sldId id="260" r:id="rId9"/>
    <p:sldId id="261" r:id="rId10"/>
    <p:sldId id="262" r:id="rId11"/>
    <p:sldId id="263" r:id="rId12"/>
    <p:sldId id="264" r:id="rId13"/>
    <p:sldId id="266"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ECDB78-959D-4200-89C5-263E3486A9F3}" type="datetimeFigureOut">
              <a:rPr lang="en-US" smtClean="0"/>
              <a:t>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3EA788-52F2-400A-BAAB-E3FAB1D6855B}" type="slidenum">
              <a:rPr lang="en-US" smtClean="0"/>
              <a:t>‹#›</a:t>
            </a:fld>
            <a:endParaRPr lang="en-US"/>
          </a:p>
        </p:txBody>
      </p:sp>
    </p:spTree>
    <p:extLst>
      <p:ext uri="{BB962C8B-B14F-4D97-AF65-F5344CB8AC3E}">
        <p14:creationId xmlns:p14="http://schemas.microsoft.com/office/powerpoint/2010/main" val="47048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E890FC-44DE-4C0A-A6BD-0B388110E13F}"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3161242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DB4C85-4FA4-4027-82C0-18D550A31734}"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1748780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3CFFF5-5347-4850-AE50-ADFB25B4195E}"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1637257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549374-DB1A-46EF-8BEE-AFEEEDF23DBE}"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747587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71DD98-4102-426A-AC86-9B6D54C0F83D}" type="datetime1">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553111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73F667-7D36-44B3-A359-B1B4A1261199}" type="datetime1">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292009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E451E2-05C5-4E74-A076-88CDB3ABA527}" type="datetime1">
              <a:rPr lang="en-US" smtClean="0"/>
              <a:t>10/9/2025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396906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6A0B85-4EB2-401D-B6B0-2FF30B99BF9E}"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1168947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BC0BA-3C4C-404B-A832-D01636C3FCDB}"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1301462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7868C8-B5F8-4107-96D5-0353C8394094}"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187425562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7868C8-B5F8-4107-96D5-0353C8394094}"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86B55E0-8579-4FA9-BDC4-2D733933EE8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480139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B7868C8-B5F8-4107-96D5-0353C8394094}"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227624668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B7868C8-B5F8-4107-96D5-0353C8394094}"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6B55E0-8579-4FA9-BDC4-2D733933EE8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772223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B7868C8-B5F8-4107-96D5-0353C8394094}" type="datetime1">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39148346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6FA508-167A-4396-8A3D-3173B61791B7}"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2129426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3E8A6A-4C85-4862-9964-4BF0A5143935}" type="datetime1">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86B55E0-8579-4FA9-BDC4-2D733933EE8B}" type="slidenum">
              <a:rPr lang="en-US" smtClean="0"/>
              <a:t>‹#›</a:t>
            </a:fld>
            <a:endParaRPr lang="en-US"/>
          </a:p>
        </p:txBody>
      </p:sp>
    </p:spTree>
    <p:extLst>
      <p:ext uri="{BB962C8B-B14F-4D97-AF65-F5344CB8AC3E}">
        <p14:creationId xmlns:p14="http://schemas.microsoft.com/office/powerpoint/2010/main" val="463872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B7868C8-B5F8-4107-96D5-0353C8394094}" type="datetime1">
              <a:rPr lang="en-US" smtClean="0"/>
              <a:t>10/9/2025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86B55E0-8579-4FA9-BDC4-2D733933EE8B}" type="slidenum">
              <a:rPr lang="en-US" smtClean="0"/>
              <a:t>‹#›</a:t>
            </a:fld>
            <a:endParaRPr lang="en-US"/>
          </a:p>
        </p:txBody>
      </p:sp>
    </p:spTree>
    <p:extLst>
      <p:ext uri="{BB962C8B-B14F-4D97-AF65-F5344CB8AC3E}">
        <p14:creationId xmlns:p14="http://schemas.microsoft.com/office/powerpoint/2010/main" val="141720560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5B8CC-BFA7-4465-A9B9-7753688B1673}"/>
              </a:ext>
            </a:extLst>
          </p:cNvPr>
          <p:cNvSpPr>
            <a:spLocks noGrp="1"/>
          </p:cNvSpPr>
          <p:nvPr>
            <p:ph type="ctrTitle"/>
          </p:nvPr>
        </p:nvSpPr>
        <p:spPr>
          <a:xfrm>
            <a:off x="1524000" y="678425"/>
            <a:ext cx="9144000" cy="1409331"/>
          </a:xfrm>
        </p:spPr>
        <p:txBody>
          <a:bodyPr>
            <a:normAutofit/>
          </a:bodyPr>
          <a:lstStyle/>
          <a:p>
            <a:pPr algn="ctr"/>
            <a:r>
              <a:rPr lang="en-US" dirty="0"/>
              <a:t>General Viva </a:t>
            </a:r>
            <a:r>
              <a:rPr lang="en-US" sz="1100" b="1" dirty="0"/>
              <a:t>(CCE-4832)</a:t>
            </a:r>
          </a:p>
        </p:txBody>
      </p:sp>
      <p:sp>
        <p:nvSpPr>
          <p:cNvPr id="3" name="Subtitle 2">
            <a:extLst>
              <a:ext uri="{FF2B5EF4-FFF2-40B4-BE49-F238E27FC236}">
                <a16:creationId xmlns:a16="http://schemas.microsoft.com/office/drawing/2014/main" id="{02021274-68F2-42F7-B91E-E3F26B818F58}"/>
              </a:ext>
            </a:extLst>
          </p:cNvPr>
          <p:cNvSpPr>
            <a:spLocks noGrp="1"/>
          </p:cNvSpPr>
          <p:nvPr>
            <p:ph type="subTitle" idx="1"/>
          </p:nvPr>
        </p:nvSpPr>
        <p:spPr>
          <a:xfrm>
            <a:off x="1524000" y="2008938"/>
            <a:ext cx="9144000" cy="572030"/>
          </a:xfrm>
        </p:spPr>
        <p:txBody>
          <a:bodyPr/>
          <a:lstStyle/>
          <a:p>
            <a:pPr algn="ctr"/>
            <a:r>
              <a:rPr lang="en-US" dirty="0"/>
              <a:t>DATABASE MANAGEMENT SYSTEM </a:t>
            </a:r>
            <a:r>
              <a:rPr lang="en-US" sz="1100" dirty="0">
                <a:latin typeface="+mj-lt"/>
              </a:rPr>
              <a:t>(</a:t>
            </a:r>
            <a:r>
              <a:rPr lang="en-US" sz="1100" b="0" i="0" dirty="0">
                <a:solidFill>
                  <a:srgbClr val="212529"/>
                </a:solidFill>
                <a:effectLst/>
                <a:latin typeface="+mj-lt"/>
              </a:rPr>
              <a:t>CCE-3505)</a:t>
            </a:r>
            <a:endParaRPr lang="en-US" sz="1100" dirty="0">
              <a:latin typeface="+mj-lt"/>
            </a:endParaRPr>
          </a:p>
        </p:txBody>
      </p:sp>
      <p:sp>
        <p:nvSpPr>
          <p:cNvPr id="6" name="Slide Number Placeholder 5">
            <a:extLst>
              <a:ext uri="{FF2B5EF4-FFF2-40B4-BE49-F238E27FC236}">
                <a16:creationId xmlns:a16="http://schemas.microsoft.com/office/drawing/2014/main" id="{0F15074B-0878-101B-DC11-FFB1CEEB1BC5}"/>
              </a:ext>
            </a:extLst>
          </p:cNvPr>
          <p:cNvSpPr>
            <a:spLocks noGrp="1"/>
          </p:cNvSpPr>
          <p:nvPr>
            <p:ph type="sldNum" sz="quarter" idx="12"/>
          </p:nvPr>
        </p:nvSpPr>
        <p:spPr/>
        <p:txBody>
          <a:bodyPr/>
          <a:lstStyle/>
          <a:p>
            <a:fld id="{186B55E0-8579-4FA9-BDC4-2D733933EE8B}" type="slidenum">
              <a:rPr lang="en-US" sz="1400" smtClean="0"/>
              <a:t>1</a:t>
            </a:fld>
            <a:endParaRPr lang="en-US" sz="1400" dirty="0"/>
          </a:p>
        </p:txBody>
      </p:sp>
      <p:sp>
        <p:nvSpPr>
          <p:cNvPr id="4" name="Rectangle: Rounded Corners 3">
            <a:extLst>
              <a:ext uri="{FF2B5EF4-FFF2-40B4-BE49-F238E27FC236}">
                <a16:creationId xmlns:a16="http://schemas.microsoft.com/office/drawing/2014/main" id="{4CAAFFDB-0803-45C1-BFD0-AE5E9220CA82}"/>
              </a:ext>
            </a:extLst>
          </p:cNvPr>
          <p:cNvSpPr/>
          <p:nvPr/>
        </p:nvSpPr>
        <p:spPr>
          <a:xfrm>
            <a:off x="7572282" y="3307230"/>
            <a:ext cx="4087906" cy="1844859"/>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Book Antiqua" panose="02040602050305030304" pitchFamily="18" charset="0"/>
              </a:rPr>
              <a:t>Professor Engr. Md </a:t>
            </a:r>
            <a:r>
              <a:rPr lang="en-US" b="1" dirty="0" err="1">
                <a:solidFill>
                  <a:schemeClr val="tx1"/>
                </a:solidFill>
                <a:latin typeface="Book Antiqua" panose="02040602050305030304" pitchFamily="18" charset="0"/>
              </a:rPr>
              <a:t>Razu</a:t>
            </a:r>
            <a:r>
              <a:rPr lang="en-US" b="1" dirty="0">
                <a:solidFill>
                  <a:schemeClr val="tx1"/>
                </a:solidFill>
                <a:latin typeface="Book Antiqua" panose="02040602050305030304" pitchFamily="18" charset="0"/>
              </a:rPr>
              <a:t> Ahmed</a:t>
            </a:r>
          </a:p>
          <a:p>
            <a:pPr algn="ctr"/>
            <a:r>
              <a:rPr lang="en-US" b="1" dirty="0">
                <a:solidFill>
                  <a:schemeClr val="tx1"/>
                </a:solidFill>
                <a:latin typeface="Book Antiqua" panose="02040602050305030304" pitchFamily="18" charset="0"/>
              </a:rPr>
              <a:t>Chairman, Dept of CCE,IIUC</a:t>
            </a:r>
          </a:p>
        </p:txBody>
      </p:sp>
      <p:sp>
        <p:nvSpPr>
          <p:cNvPr id="5" name="Rectangle: Rounded Corners 4">
            <a:extLst>
              <a:ext uri="{FF2B5EF4-FFF2-40B4-BE49-F238E27FC236}">
                <a16:creationId xmlns:a16="http://schemas.microsoft.com/office/drawing/2014/main" id="{DC2AF1D1-FD53-4A66-90F8-491A8343DED3}"/>
              </a:ext>
            </a:extLst>
          </p:cNvPr>
          <p:cNvSpPr/>
          <p:nvPr/>
        </p:nvSpPr>
        <p:spPr>
          <a:xfrm>
            <a:off x="2139538" y="3354603"/>
            <a:ext cx="4703884" cy="184485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marL="0" indent="0" algn="just">
              <a:spcBef>
                <a:spcPts val="1024"/>
              </a:spcBef>
              <a:spcAft>
                <a:spcPts val="800"/>
              </a:spcAft>
            </a:pPr>
            <a:r>
              <a:rPr lang="en-US" sz="2400" b="1" u="sng" dirty="0">
                <a:solidFill>
                  <a:srgbClr val="262626"/>
                </a:solidFill>
                <a:latin typeface="Arial Black" panose="020B0A04020102020204" pitchFamily="34" charset="0"/>
                <a:cs typeface="Times New Roman" panose="02020603050405020304" pitchFamily="18" charset="0"/>
              </a:rPr>
              <a:t>Submitted By:</a:t>
            </a:r>
            <a:endParaRPr lang="en-US" sz="2000" dirty="0">
              <a:latin typeface="Arial Black" panose="020B0A04020102020204" pitchFamily="34" charset="0"/>
            </a:endParaRPr>
          </a:p>
          <a:p>
            <a:pPr marL="0" indent="0" algn="just">
              <a:spcBef>
                <a:spcPts val="768"/>
              </a:spcBef>
              <a:spcAft>
                <a:spcPts val="800"/>
              </a:spcAft>
            </a:pPr>
            <a:r>
              <a:rPr lang="en-US" sz="2000" b="1" dirty="0">
                <a:solidFill>
                  <a:srgbClr val="262626"/>
                </a:solidFill>
                <a:latin typeface="Times New Roman" panose="02020603050405020304" pitchFamily="18" charset="0"/>
                <a:cs typeface="Times New Roman" panose="02020603050405020304" pitchFamily="18" charset="0"/>
              </a:rPr>
              <a:t>E193009   Zia Ul Hassan Chowdhury</a:t>
            </a:r>
            <a:endParaRPr lang="en-US" sz="1800" b="1" dirty="0">
              <a:effectLst/>
            </a:endParaRPr>
          </a:p>
        </p:txBody>
      </p:sp>
    </p:spTree>
    <p:extLst>
      <p:ext uri="{BB962C8B-B14F-4D97-AF65-F5344CB8AC3E}">
        <p14:creationId xmlns:p14="http://schemas.microsoft.com/office/powerpoint/2010/main" val="2273385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112F65C-B4DC-9CE5-6BDD-70D91D6FE3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7884" y="1068212"/>
            <a:ext cx="7334681" cy="5237826"/>
          </a:xfrm>
        </p:spPr>
      </p:pic>
      <p:sp>
        <p:nvSpPr>
          <p:cNvPr id="4" name="Slide Number Placeholder 3">
            <a:extLst>
              <a:ext uri="{FF2B5EF4-FFF2-40B4-BE49-F238E27FC236}">
                <a16:creationId xmlns:a16="http://schemas.microsoft.com/office/drawing/2014/main" id="{B83792EE-7F24-870F-9228-03C9CBFC613D}"/>
              </a:ext>
            </a:extLst>
          </p:cNvPr>
          <p:cNvSpPr>
            <a:spLocks noGrp="1"/>
          </p:cNvSpPr>
          <p:nvPr>
            <p:ph type="sldNum" sz="quarter" idx="12"/>
          </p:nvPr>
        </p:nvSpPr>
        <p:spPr/>
        <p:txBody>
          <a:bodyPr/>
          <a:lstStyle/>
          <a:p>
            <a:fld id="{186B55E0-8579-4FA9-BDC4-2D733933EE8B}" type="slidenum">
              <a:rPr lang="en-US" smtClean="0"/>
              <a:t>2</a:t>
            </a:fld>
            <a:endParaRPr lang="en-US"/>
          </a:p>
        </p:txBody>
      </p:sp>
    </p:spTree>
    <p:extLst>
      <p:ext uri="{BB962C8B-B14F-4D97-AF65-F5344CB8AC3E}">
        <p14:creationId xmlns:p14="http://schemas.microsoft.com/office/powerpoint/2010/main" val="383108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A99AB-0999-4597-8563-33C7763E0F8C}"/>
              </a:ext>
            </a:extLst>
          </p:cNvPr>
          <p:cNvSpPr>
            <a:spLocks noGrp="1"/>
          </p:cNvSpPr>
          <p:nvPr>
            <p:ph idx="1"/>
          </p:nvPr>
        </p:nvSpPr>
        <p:spPr>
          <a:xfrm>
            <a:off x="1658817" y="970344"/>
            <a:ext cx="10001372" cy="5544756"/>
          </a:xfrm>
        </p:spPr>
        <p:txBody>
          <a:bodyPr>
            <a:noAutofit/>
          </a:bodyPr>
          <a:lstStyle/>
          <a:p>
            <a:pPr marL="0" indent="0" algn="just">
              <a:buNone/>
            </a:pPr>
            <a:r>
              <a:rPr lang="en-GB" b="1" i="0" dirty="0">
                <a:solidFill>
                  <a:schemeClr val="tx1"/>
                </a:solidFill>
                <a:effectLst/>
                <a:latin typeface="Tenorite(b0dy)"/>
                <a:cs typeface="Heebo" panose="020B0604020202020204" pitchFamily="2" charset="-79"/>
              </a:rPr>
              <a:t>1. What is a Database?</a:t>
            </a:r>
          </a:p>
          <a:p>
            <a:pPr marL="0" indent="0" algn="just">
              <a:buNone/>
            </a:pPr>
            <a:r>
              <a:rPr lang="en-GB" b="1" dirty="0">
                <a:solidFill>
                  <a:schemeClr val="tx1"/>
                </a:solidFill>
                <a:latin typeface="Tenorite(b0dy)"/>
              </a:rPr>
              <a:t>Ans</a:t>
            </a:r>
            <a:r>
              <a:rPr lang="en-GB" dirty="0">
                <a:solidFill>
                  <a:schemeClr val="tx1"/>
                </a:solidFill>
                <a:latin typeface="Tenorite(b0dy)"/>
              </a:rPr>
              <a:t>:</a:t>
            </a:r>
            <a:r>
              <a:rPr lang="en-GB" b="0" i="0" dirty="0">
                <a:solidFill>
                  <a:schemeClr val="tx1"/>
                </a:solidFill>
                <a:effectLst/>
                <a:latin typeface="Tenorite(b0dy)"/>
              </a:rPr>
              <a:t> A database is a separate application that stores a collection of data. Each database has one or more distinct APIs for creating, accessing, managing, searching and replicating the data it holds.</a:t>
            </a:r>
          </a:p>
          <a:p>
            <a:pPr marL="0" indent="0" algn="just">
              <a:buNone/>
            </a:pPr>
            <a:r>
              <a:rPr lang="en-US" b="1" dirty="0">
                <a:solidFill>
                  <a:schemeClr val="tx1"/>
                </a:solidFill>
                <a:latin typeface="Tenorite(b0dy)"/>
              </a:rPr>
              <a:t>2. What is the purpose of Database management system?</a:t>
            </a:r>
          </a:p>
          <a:p>
            <a:pPr marL="0" indent="0" algn="just">
              <a:buNone/>
            </a:pPr>
            <a:r>
              <a:rPr lang="en-US" b="1" dirty="0">
                <a:solidFill>
                  <a:schemeClr val="tx1"/>
                </a:solidFill>
                <a:latin typeface="Tenorite(b0dy)"/>
              </a:rPr>
              <a:t>Ans: </a:t>
            </a:r>
            <a:r>
              <a:rPr lang="en-GB" b="0" i="0" dirty="0">
                <a:solidFill>
                  <a:schemeClr val="tx1"/>
                </a:solidFill>
                <a:effectLst/>
                <a:latin typeface="Tenorite(b0dy)"/>
              </a:rPr>
              <a:t>Database systems are designed to manage large bodies of information. Management of data involves both defining structures for storage of information and providing mechanisms for the manipulation of information.</a:t>
            </a:r>
            <a:endParaRPr lang="en-US" b="1" dirty="0">
              <a:solidFill>
                <a:schemeClr val="tx1"/>
              </a:solidFill>
              <a:latin typeface="Tenorite(b0dy)"/>
            </a:endParaRPr>
          </a:p>
          <a:p>
            <a:pPr marL="0" indent="0" algn="just">
              <a:buNone/>
            </a:pPr>
            <a:r>
              <a:rPr lang="en-US" b="1" dirty="0">
                <a:solidFill>
                  <a:schemeClr val="tx1"/>
                </a:solidFill>
                <a:latin typeface="Tenorite(b0dy)"/>
              </a:rPr>
              <a:t>3. What is Relational Database?</a:t>
            </a:r>
          </a:p>
          <a:p>
            <a:pPr marL="0" indent="0" algn="just">
              <a:buNone/>
            </a:pPr>
            <a:r>
              <a:rPr lang="en-US" b="1" dirty="0">
                <a:solidFill>
                  <a:schemeClr val="tx1"/>
                </a:solidFill>
                <a:latin typeface="Tenorite(b0dy)"/>
              </a:rPr>
              <a:t>Ans: </a:t>
            </a:r>
            <a:r>
              <a:rPr lang="en-GB" i="0" dirty="0">
                <a:solidFill>
                  <a:schemeClr val="tx1"/>
                </a:solidFill>
                <a:effectLst/>
                <a:latin typeface="Tenorite(b0dy)"/>
              </a:rPr>
              <a:t>A Relational Database </a:t>
            </a:r>
            <a:r>
              <a:rPr lang="en-US" i="0" dirty="0">
                <a:solidFill>
                  <a:schemeClr val="tx1"/>
                </a:solidFill>
                <a:effectLst/>
                <a:latin typeface="Tenorite(b0dy)"/>
              </a:rPr>
              <a:t>is a type of database that stores and provides access to data points that are related to one another.</a:t>
            </a:r>
            <a:endParaRPr lang="en-GB" i="0" dirty="0">
              <a:solidFill>
                <a:schemeClr val="tx1"/>
              </a:solidFill>
              <a:effectLst/>
              <a:latin typeface="Tenorite(b0dy)"/>
            </a:endParaRPr>
          </a:p>
          <a:p>
            <a:pPr marL="0" indent="0" algn="just">
              <a:buNone/>
            </a:pPr>
            <a:r>
              <a:rPr lang="en-GB" b="1" i="0" dirty="0">
                <a:solidFill>
                  <a:schemeClr val="tx1"/>
                </a:solidFill>
                <a:effectLst/>
                <a:latin typeface="Tenorite(b0dy)"/>
              </a:rPr>
              <a:t>4. What is the view of data?</a:t>
            </a:r>
          </a:p>
          <a:p>
            <a:pPr marL="0" indent="0" algn="just">
              <a:buNone/>
            </a:pPr>
            <a:r>
              <a:rPr lang="en-GB" b="1" dirty="0">
                <a:solidFill>
                  <a:schemeClr val="tx1"/>
                </a:solidFill>
                <a:latin typeface="Tenorite(b0dy)"/>
              </a:rPr>
              <a:t>Ans:  v</a:t>
            </a:r>
            <a:r>
              <a:rPr lang="en-GB" b="0" i="0" dirty="0">
                <a:solidFill>
                  <a:schemeClr val="tx1"/>
                </a:solidFill>
                <a:effectLst/>
                <a:latin typeface="Tenorite(b0dy)"/>
              </a:rPr>
              <a:t>iew of data in DBMS describes the abstraction of data at three-level i.e., physical level, logical level, view level.</a:t>
            </a:r>
            <a:endParaRPr lang="en-GB" b="1" i="0" dirty="0">
              <a:solidFill>
                <a:schemeClr val="tx1"/>
              </a:solidFill>
              <a:effectLst/>
              <a:latin typeface="Tenorite(b0dy)"/>
            </a:endParaRPr>
          </a:p>
          <a:p>
            <a:pPr marL="0" indent="0" algn="just">
              <a:buNone/>
            </a:pPr>
            <a:r>
              <a:rPr lang="en-GB" b="1" i="0" dirty="0">
                <a:solidFill>
                  <a:schemeClr val="tx1"/>
                </a:solidFill>
                <a:effectLst/>
                <a:latin typeface="Tenorite(b0dy)"/>
              </a:rPr>
              <a:t>5. What is database  design?</a:t>
            </a:r>
          </a:p>
          <a:p>
            <a:pPr marL="0" indent="0" algn="just">
              <a:buNone/>
            </a:pPr>
            <a:r>
              <a:rPr lang="en-GB" b="1" i="0" dirty="0">
                <a:solidFill>
                  <a:schemeClr val="tx1"/>
                </a:solidFill>
                <a:effectLst/>
                <a:latin typeface="Tenorite(b0dy)"/>
              </a:rPr>
              <a:t>Ans: </a:t>
            </a:r>
            <a:r>
              <a:rPr lang="en-GB" b="0" i="0" dirty="0">
                <a:solidFill>
                  <a:schemeClr val="tx1"/>
                </a:solidFill>
                <a:effectLst/>
                <a:latin typeface="Tenorite(b0dy)"/>
              </a:rPr>
              <a:t>Database design is the organization of data according to a database model.</a:t>
            </a:r>
          </a:p>
        </p:txBody>
      </p:sp>
      <p:sp>
        <p:nvSpPr>
          <p:cNvPr id="2" name="Slide Number Placeholder 1">
            <a:extLst>
              <a:ext uri="{FF2B5EF4-FFF2-40B4-BE49-F238E27FC236}">
                <a16:creationId xmlns:a16="http://schemas.microsoft.com/office/drawing/2014/main" id="{A333C4D0-E15D-4ACD-C525-17A1852356E2}"/>
              </a:ext>
            </a:extLst>
          </p:cNvPr>
          <p:cNvSpPr>
            <a:spLocks noGrp="1"/>
          </p:cNvSpPr>
          <p:nvPr>
            <p:ph type="sldNum" sz="quarter" idx="12"/>
          </p:nvPr>
        </p:nvSpPr>
        <p:spPr/>
        <p:txBody>
          <a:bodyPr/>
          <a:lstStyle/>
          <a:p>
            <a:fld id="{186B55E0-8579-4FA9-BDC4-2D733933EE8B}" type="slidenum">
              <a:rPr lang="en-US" sz="1400" smtClean="0"/>
              <a:t>3</a:t>
            </a:fld>
            <a:endParaRPr lang="en-US" sz="1400" dirty="0"/>
          </a:p>
        </p:txBody>
      </p:sp>
    </p:spTree>
    <p:extLst>
      <p:ext uri="{BB962C8B-B14F-4D97-AF65-F5344CB8AC3E}">
        <p14:creationId xmlns:p14="http://schemas.microsoft.com/office/powerpoint/2010/main" val="3653851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E1CA7D-A507-1B16-D2FE-AB1A150C5A63}"/>
              </a:ext>
            </a:extLst>
          </p:cNvPr>
          <p:cNvSpPr>
            <a:spLocks noGrp="1"/>
          </p:cNvSpPr>
          <p:nvPr>
            <p:ph idx="1"/>
          </p:nvPr>
        </p:nvSpPr>
        <p:spPr>
          <a:xfrm>
            <a:off x="1613265" y="998797"/>
            <a:ext cx="10212389" cy="5683357"/>
          </a:xfrm>
        </p:spPr>
        <p:txBody>
          <a:bodyPr>
            <a:normAutofit/>
          </a:bodyPr>
          <a:lstStyle/>
          <a:p>
            <a:pPr marL="0" indent="0" algn="just">
              <a:buNone/>
            </a:pPr>
            <a:r>
              <a:rPr lang="en-GB" b="1" dirty="0">
                <a:solidFill>
                  <a:schemeClr val="tx1"/>
                </a:solidFill>
                <a:latin typeface="Tenorite(body)"/>
              </a:rPr>
              <a:t>6</a:t>
            </a:r>
            <a:r>
              <a:rPr lang="en-GB" b="1" i="0" dirty="0">
                <a:solidFill>
                  <a:schemeClr val="tx1"/>
                </a:solidFill>
                <a:effectLst/>
                <a:latin typeface="Tenorite(body)"/>
              </a:rPr>
              <a:t>.</a:t>
            </a:r>
            <a:r>
              <a:rPr lang="en-US" b="1" dirty="0">
                <a:solidFill>
                  <a:schemeClr val="tx1"/>
                </a:solidFill>
                <a:latin typeface="Tenorite(body)"/>
              </a:rPr>
              <a:t> What is MySQL?</a:t>
            </a:r>
          </a:p>
          <a:p>
            <a:pPr marL="0" indent="0" algn="just">
              <a:buNone/>
            </a:pPr>
            <a:r>
              <a:rPr lang="en-US" b="1" dirty="0">
                <a:solidFill>
                  <a:schemeClr val="tx1"/>
                </a:solidFill>
                <a:latin typeface="Tenorite(body)"/>
              </a:rPr>
              <a:t>Ans:  </a:t>
            </a:r>
            <a:r>
              <a:rPr lang="en-GB" b="0" i="0" dirty="0">
                <a:solidFill>
                  <a:schemeClr val="tx1"/>
                </a:solidFill>
                <a:effectLst/>
                <a:latin typeface="Tenorite(body)"/>
              </a:rPr>
              <a:t>MySQL is a database system used on the web.</a:t>
            </a:r>
          </a:p>
          <a:p>
            <a:pPr marL="0" indent="0" algn="just">
              <a:buNone/>
            </a:pPr>
            <a:r>
              <a:rPr lang="en-US" b="1" dirty="0">
                <a:solidFill>
                  <a:schemeClr val="tx1"/>
                </a:solidFill>
                <a:latin typeface="Tenorite(body)"/>
              </a:rPr>
              <a:t>7. What is data storage in </a:t>
            </a:r>
            <a:r>
              <a:rPr lang="en-US" b="1" dirty="0" err="1">
                <a:solidFill>
                  <a:schemeClr val="tx1"/>
                </a:solidFill>
                <a:latin typeface="Tenorite(body)"/>
              </a:rPr>
              <a:t>dbms</a:t>
            </a:r>
            <a:r>
              <a:rPr lang="en-US" b="1" dirty="0">
                <a:solidFill>
                  <a:schemeClr val="tx1"/>
                </a:solidFill>
                <a:latin typeface="Tenorite(body)"/>
              </a:rPr>
              <a:t>?</a:t>
            </a:r>
          </a:p>
          <a:p>
            <a:pPr marL="0" indent="0" algn="just">
              <a:buNone/>
            </a:pPr>
            <a:r>
              <a:rPr lang="en-US" b="1" dirty="0">
                <a:solidFill>
                  <a:schemeClr val="tx1"/>
                </a:solidFill>
                <a:latin typeface="Tenorite(body)"/>
              </a:rPr>
              <a:t>Ans</a:t>
            </a:r>
            <a:r>
              <a:rPr lang="en-US" dirty="0">
                <a:solidFill>
                  <a:schemeClr val="tx1"/>
                </a:solidFill>
                <a:latin typeface="Tenorite(body)"/>
              </a:rPr>
              <a:t> : </a:t>
            </a:r>
            <a:r>
              <a:rPr lang="en-GB" i="0" dirty="0">
                <a:solidFill>
                  <a:schemeClr val="tx1"/>
                </a:solidFill>
                <a:effectLst/>
                <a:latin typeface="Tenorite(body)"/>
              </a:rPr>
              <a:t>Databases are stored in file formats, which contain records.</a:t>
            </a:r>
          </a:p>
          <a:p>
            <a:pPr marL="0" indent="0" algn="just">
              <a:buNone/>
            </a:pPr>
            <a:r>
              <a:rPr lang="en-GB" b="1" dirty="0">
                <a:solidFill>
                  <a:schemeClr val="tx1"/>
                </a:solidFill>
                <a:latin typeface="Tenorite(body)"/>
              </a:rPr>
              <a:t>8. </a:t>
            </a:r>
            <a:r>
              <a:rPr lang="en-US" b="1" dirty="0">
                <a:solidFill>
                  <a:schemeClr val="tx1"/>
                </a:solidFill>
                <a:latin typeface="Tenorite(body)"/>
              </a:rPr>
              <a:t>What is transaction management? </a:t>
            </a:r>
          </a:p>
          <a:p>
            <a:pPr marL="0" indent="0" algn="just">
              <a:buNone/>
            </a:pPr>
            <a:r>
              <a:rPr lang="en-US" b="1" dirty="0">
                <a:solidFill>
                  <a:schemeClr val="tx1"/>
                </a:solidFill>
                <a:latin typeface="Tenorite(body)"/>
              </a:rPr>
              <a:t>Ans</a:t>
            </a:r>
            <a:r>
              <a:rPr lang="en-US" dirty="0">
                <a:solidFill>
                  <a:schemeClr val="tx1"/>
                </a:solidFill>
                <a:latin typeface="Tenorite(body)"/>
              </a:rPr>
              <a:t>: </a:t>
            </a:r>
            <a:r>
              <a:rPr lang="en-GB" i="0" dirty="0">
                <a:solidFill>
                  <a:schemeClr val="tx1"/>
                </a:solidFill>
                <a:effectLst/>
                <a:latin typeface="Tenorite(body)"/>
              </a:rPr>
              <a:t>Transaction management is a logical unit of processing in a DBMS which entails one or more database access operation.</a:t>
            </a:r>
            <a:endParaRPr lang="en-US" i="0" dirty="0">
              <a:solidFill>
                <a:schemeClr val="tx1"/>
              </a:solidFill>
              <a:effectLst/>
              <a:latin typeface="Tenorite(body)"/>
            </a:endParaRPr>
          </a:p>
          <a:p>
            <a:pPr marL="0" indent="0" algn="just">
              <a:buNone/>
            </a:pPr>
            <a:r>
              <a:rPr lang="en-US" b="1" dirty="0">
                <a:solidFill>
                  <a:schemeClr val="tx1"/>
                </a:solidFill>
                <a:latin typeface="Tenorite(body)"/>
              </a:rPr>
              <a:t>9.  What is the architecture of DBMS? </a:t>
            </a:r>
          </a:p>
          <a:p>
            <a:pPr marL="0" indent="0" algn="just">
              <a:buNone/>
            </a:pPr>
            <a:r>
              <a:rPr lang="en-US" b="1" dirty="0">
                <a:solidFill>
                  <a:schemeClr val="tx1"/>
                </a:solidFill>
                <a:latin typeface="Tenorite(body)"/>
              </a:rPr>
              <a:t>Ans</a:t>
            </a:r>
            <a:r>
              <a:rPr lang="en-US" dirty="0">
                <a:solidFill>
                  <a:schemeClr val="tx1"/>
                </a:solidFill>
                <a:latin typeface="Tenorite(body)"/>
              </a:rPr>
              <a:t> : </a:t>
            </a:r>
            <a:r>
              <a:rPr lang="en-GB" i="0" dirty="0">
                <a:solidFill>
                  <a:schemeClr val="tx1"/>
                </a:solidFill>
                <a:effectLst/>
                <a:latin typeface="Tenorite(body)"/>
              </a:rPr>
              <a:t>DBMS architecture describes the structure and how the users are connected to a specific database system.</a:t>
            </a:r>
          </a:p>
          <a:p>
            <a:pPr marL="0" indent="0" algn="just">
              <a:buNone/>
            </a:pPr>
            <a:r>
              <a:rPr lang="en-GB" b="1" dirty="0">
                <a:solidFill>
                  <a:schemeClr val="tx1"/>
                </a:solidFill>
                <a:latin typeface="Tenorite(body)"/>
              </a:rPr>
              <a:t>10. What is data mining in DBMS? </a:t>
            </a:r>
          </a:p>
          <a:p>
            <a:pPr marL="0" indent="0" algn="just">
              <a:buNone/>
            </a:pPr>
            <a:r>
              <a:rPr lang="en-GB" b="1" dirty="0">
                <a:solidFill>
                  <a:schemeClr val="tx1"/>
                </a:solidFill>
                <a:latin typeface="Tenorite(body)"/>
              </a:rPr>
              <a:t>Ans</a:t>
            </a:r>
            <a:r>
              <a:rPr lang="en-GB" dirty="0">
                <a:solidFill>
                  <a:schemeClr val="tx1"/>
                </a:solidFill>
                <a:latin typeface="Tenorite(body)"/>
              </a:rPr>
              <a:t> : </a:t>
            </a:r>
            <a:r>
              <a:rPr lang="en-GB" i="0" dirty="0">
                <a:solidFill>
                  <a:schemeClr val="tx1"/>
                </a:solidFill>
                <a:effectLst/>
                <a:latin typeface="Tenorite(body)"/>
              </a:rPr>
              <a:t>Data Mining is a process used to extract specific data from huge databases. It primarily turns raw data into useful information.</a:t>
            </a:r>
          </a:p>
          <a:p>
            <a:pPr marL="0" indent="0" algn="just">
              <a:buNone/>
            </a:pPr>
            <a:endParaRPr lang="en-US" b="1" dirty="0">
              <a:solidFill>
                <a:schemeClr val="tx1"/>
              </a:solidFill>
              <a:latin typeface="Tenorite(body)"/>
            </a:endParaRPr>
          </a:p>
          <a:p>
            <a:pPr algn="just"/>
            <a:endParaRPr lang="en-US" dirty="0">
              <a:latin typeface="Tenorite(body)"/>
            </a:endParaRPr>
          </a:p>
        </p:txBody>
      </p:sp>
      <p:sp>
        <p:nvSpPr>
          <p:cNvPr id="4" name="Slide Number Placeholder 3">
            <a:extLst>
              <a:ext uri="{FF2B5EF4-FFF2-40B4-BE49-F238E27FC236}">
                <a16:creationId xmlns:a16="http://schemas.microsoft.com/office/drawing/2014/main" id="{2C2E8DA8-AF3C-42CE-636B-F80E0E619CEB}"/>
              </a:ext>
            </a:extLst>
          </p:cNvPr>
          <p:cNvSpPr>
            <a:spLocks noGrp="1"/>
          </p:cNvSpPr>
          <p:nvPr>
            <p:ph type="sldNum" sz="quarter" idx="12"/>
          </p:nvPr>
        </p:nvSpPr>
        <p:spPr/>
        <p:txBody>
          <a:bodyPr/>
          <a:lstStyle/>
          <a:p>
            <a:fld id="{186B55E0-8579-4FA9-BDC4-2D733933EE8B}" type="slidenum">
              <a:rPr lang="en-US" smtClean="0"/>
              <a:t>4</a:t>
            </a:fld>
            <a:endParaRPr lang="en-US"/>
          </a:p>
        </p:txBody>
      </p:sp>
    </p:spTree>
    <p:extLst>
      <p:ext uri="{BB962C8B-B14F-4D97-AF65-F5344CB8AC3E}">
        <p14:creationId xmlns:p14="http://schemas.microsoft.com/office/powerpoint/2010/main" val="1582272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47694E-6741-46BC-B7A2-1FCD52D99829}"/>
              </a:ext>
            </a:extLst>
          </p:cNvPr>
          <p:cNvSpPr>
            <a:spLocks noGrp="1"/>
          </p:cNvSpPr>
          <p:nvPr>
            <p:ph idx="1"/>
          </p:nvPr>
        </p:nvSpPr>
        <p:spPr>
          <a:xfrm>
            <a:off x="1724881" y="1049474"/>
            <a:ext cx="9935307" cy="5280988"/>
          </a:xfrm>
        </p:spPr>
        <p:txBody>
          <a:bodyPr>
            <a:noAutofit/>
          </a:bodyPr>
          <a:lstStyle/>
          <a:p>
            <a:pPr marL="0" indent="0" algn="just">
              <a:buNone/>
            </a:pPr>
            <a:r>
              <a:rPr lang="en-GB" b="1" dirty="0">
                <a:solidFill>
                  <a:schemeClr val="tx1"/>
                </a:solidFill>
                <a:latin typeface="Tenorite(body)"/>
              </a:rPr>
              <a:t>11. What is Relational Query languages?</a:t>
            </a:r>
          </a:p>
          <a:p>
            <a:pPr marL="0" indent="0" algn="just">
              <a:buNone/>
            </a:pPr>
            <a:r>
              <a:rPr lang="en-GB" b="1" dirty="0">
                <a:solidFill>
                  <a:schemeClr val="tx1"/>
                </a:solidFill>
                <a:latin typeface="Tenorite(body)"/>
              </a:rPr>
              <a:t>Ans</a:t>
            </a:r>
            <a:r>
              <a:rPr lang="en-GB" dirty="0">
                <a:solidFill>
                  <a:schemeClr val="tx1"/>
                </a:solidFill>
                <a:latin typeface="Tenorite(body)"/>
              </a:rPr>
              <a:t> : </a:t>
            </a:r>
            <a:r>
              <a:rPr lang="en-GB" i="0" dirty="0">
                <a:solidFill>
                  <a:schemeClr val="tx1"/>
                </a:solidFill>
                <a:effectLst/>
                <a:latin typeface="Tenorite(body)"/>
              </a:rPr>
              <a:t> Relational Query language is used by the user to communicate with the database.</a:t>
            </a:r>
          </a:p>
          <a:p>
            <a:pPr marL="0" indent="0" algn="just">
              <a:buNone/>
            </a:pPr>
            <a:r>
              <a:rPr lang="en-US" b="1" dirty="0">
                <a:solidFill>
                  <a:schemeClr val="tx1"/>
                </a:solidFill>
                <a:latin typeface="Tenorite(body)"/>
              </a:rPr>
              <a:t>12.  What is relational Operation?</a:t>
            </a:r>
          </a:p>
          <a:p>
            <a:pPr marL="0" indent="0" algn="just">
              <a:buNone/>
            </a:pPr>
            <a:r>
              <a:rPr lang="en-US" b="1" dirty="0">
                <a:solidFill>
                  <a:schemeClr val="tx1"/>
                </a:solidFill>
                <a:latin typeface="Tenorite(body)"/>
              </a:rPr>
              <a:t>Ans</a:t>
            </a:r>
            <a:r>
              <a:rPr lang="en-US" dirty="0">
                <a:solidFill>
                  <a:schemeClr val="tx1"/>
                </a:solidFill>
                <a:latin typeface="Tenorite(body)"/>
              </a:rPr>
              <a:t> : </a:t>
            </a:r>
            <a:r>
              <a:rPr lang="en-GB" b="0" i="0" dirty="0">
                <a:solidFill>
                  <a:schemeClr val="tx1"/>
                </a:solidFill>
                <a:effectLst/>
                <a:latin typeface="Tenorite(body)"/>
              </a:rPr>
              <a:t>A relational operation involves manipulating one or more tables, or relations to result in another table. </a:t>
            </a:r>
          </a:p>
          <a:p>
            <a:pPr marL="0" indent="0" algn="just">
              <a:buNone/>
            </a:pPr>
            <a:r>
              <a:rPr lang="en-US" b="1" dirty="0">
                <a:solidFill>
                  <a:schemeClr val="tx1"/>
                </a:solidFill>
                <a:latin typeface="Tenorite(body)"/>
              </a:rPr>
              <a:t>13.  What are the relational Operation?</a:t>
            </a:r>
          </a:p>
          <a:p>
            <a:pPr marL="0" indent="0" algn="just">
              <a:buNone/>
            </a:pPr>
            <a:r>
              <a:rPr lang="en-US" b="1" dirty="0">
                <a:solidFill>
                  <a:schemeClr val="tx1"/>
                </a:solidFill>
                <a:latin typeface="Tenorite(body)"/>
              </a:rPr>
              <a:t>Ans</a:t>
            </a:r>
            <a:r>
              <a:rPr lang="en-US" dirty="0">
                <a:solidFill>
                  <a:schemeClr val="tx1"/>
                </a:solidFill>
                <a:latin typeface="Tenorite(body)"/>
              </a:rPr>
              <a:t> : </a:t>
            </a:r>
            <a:r>
              <a:rPr lang="en-GB" b="0" i="0" dirty="0">
                <a:solidFill>
                  <a:schemeClr val="tx1"/>
                </a:solidFill>
                <a:effectLst/>
                <a:latin typeface="Tenorite(body)"/>
              </a:rPr>
              <a:t>The three kinds of relational operations are selection, projection, and join.</a:t>
            </a:r>
          </a:p>
          <a:p>
            <a:pPr marL="0" indent="0" algn="just">
              <a:buNone/>
            </a:pPr>
            <a:r>
              <a:rPr lang="en-GB" b="1" i="0" dirty="0">
                <a:solidFill>
                  <a:schemeClr val="tx1"/>
                </a:solidFill>
                <a:effectLst/>
                <a:latin typeface="Tenorite(body)"/>
              </a:rPr>
              <a:t>14. What is the difference between a database and a table in MySQL?</a:t>
            </a:r>
          </a:p>
          <a:p>
            <a:pPr marL="0" indent="0" algn="just">
              <a:buNone/>
            </a:pPr>
            <a:r>
              <a:rPr lang="en-GB" b="0" i="0" dirty="0">
                <a:solidFill>
                  <a:schemeClr val="tx1"/>
                </a:solidFill>
                <a:effectLst/>
                <a:latin typeface="Tenorite(body)"/>
              </a:rPr>
              <a:t>Ans: A database is a collection of tables, while a table is a collection of rows and columns that store related data.</a:t>
            </a:r>
          </a:p>
          <a:p>
            <a:pPr marL="0" indent="0" algn="just">
              <a:buNone/>
            </a:pPr>
            <a:r>
              <a:rPr lang="en-GB" b="1" i="0" dirty="0">
                <a:solidFill>
                  <a:schemeClr val="tx1"/>
                </a:solidFill>
                <a:effectLst/>
                <a:latin typeface="Tenorite(body)"/>
              </a:rPr>
              <a:t>15. What is a primary key in MySQL?</a:t>
            </a:r>
          </a:p>
          <a:p>
            <a:pPr marL="0" indent="0" algn="just">
              <a:buNone/>
            </a:pPr>
            <a:r>
              <a:rPr lang="en-US" b="1" dirty="0">
                <a:solidFill>
                  <a:schemeClr val="tx1"/>
                </a:solidFill>
                <a:latin typeface="Tenorite(body)"/>
              </a:rPr>
              <a:t>Ans: </a:t>
            </a:r>
            <a:r>
              <a:rPr lang="en-GB" b="0" i="0" dirty="0">
                <a:solidFill>
                  <a:schemeClr val="tx1"/>
                </a:solidFill>
                <a:effectLst/>
                <a:latin typeface="Tenorite(body)"/>
              </a:rPr>
              <a:t>A primary key is a column or set of columns that uniquely identifies each row in a table. It ensures that each row has a unique identifier, which is used to link data between tables.</a:t>
            </a:r>
          </a:p>
          <a:p>
            <a:pPr marL="0" indent="0" algn="just">
              <a:buNone/>
            </a:pPr>
            <a:endParaRPr lang="en-US" dirty="0">
              <a:solidFill>
                <a:schemeClr val="tx1"/>
              </a:solidFill>
              <a:latin typeface="Tenorite(body)"/>
            </a:endParaRPr>
          </a:p>
        </p:txBody>
      </p:sp>
      <p:sp>
        <p:nvSpPr>
          <p:cNvPr id="2" name="Slide Number Placeholder 1">
            <a:extLst>
              <a:ext uri="{FF2B5EF4-FFF2-40B4-BE49-F238E27FC236}">
                <a16:creationId xmlns:a16="http://schemas.microsoft.com/office/drawing/2014/main" id="{C5105BF4-438D-8BC7-B8CD-229E157C6EDC}"/>
              </a:ext>
            </a:extLst>
          </p:cNvPr>
          <p:cNvSpPr>
            <a:spLocks noGrp="1"/>
          </p:cNvSpPr>
          <p:nvPr>
            <p:ph type="sldNum" sz="quarter" idx="12"/>
          </p:nvPr>
        </p:nvSpPr>
        <p:spPr/>
        <p:txBody>
          <a:bodyPr/>
          <a:lstStyle/>
          <a:p>
            <a:fld id="{186B55E0-8579-4FA9-BDC4-2D733933EE8B}" type="slidenum">
              <a:rPr lang="en-US" sz="1400" smtClean="0"/>
              <a:t>5</a:t>
            </a:fld>
            <a:endParaRPr lang="en-US" sz="1400" dirty="0"/>
          </a:p>
        </p:txBody>
      </p:sp>
    </p:spTree>
    <p:extLst>
      <p:ext uri="{BB962C8B-B14F-4D97-AF65-F5344CB8AC3E}">
        <p14:creationId xmlns:p14="http://schemas.microsoft.com/office/powerpoint/2010/main" val="3617171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EFCABB-CC77-4789-B84A-F973081EADCD}"/>
              </a:ext>
            </a:extLst>
          </p:cNvPr>
          <p:cNvSpPr>
            <a:spLocks noGrp="1"/>
          </p:cNvSpPr>
          <p:nvPr>
            <p:ph idx="1"/>
          </p:nvPr>
        </p:nvSpPr>
        <p:spPr>
          <a:xfrm>
            <a:off x="1773815" y="977062"/>
            <a:ext cx="9981500" cy="5476492"/>
          </a:xfrm>
        </p:spPr>
        <p:txBody>
          <a:bodyPr>
            <a:noAutofit/>
          </a:bodyPr>
          <a:lstStyle/>
          <a:p>
            <a:pPr marL="0" indent="0" algn="just">
              <a:buNone/>
            </a:pPr>
            <a:r>
              <a:rPr lang="en-GB" b="1" i="0" dirty="0">
                <a:solidFill>
                  <a:schemeClr val="tx1"/>
                </a:solidFill>
                <a:effectLst/>
                <a:latin typeface="Tenorite(body)"/>
              </a:rPr>
              <a:t>16. What is a primary key in MySQL?</a:t>
            </a:r>
          </a:p>
          <a:p>
            <a:pPr marL="0" indent="0" algn="just">
              <a:buNone/>
            </a:pPr>
            <a:r>
              <a:rPr lang="en-US" b="1" dirty="0">
                <a:solidFill>
                  <a:schemeClr val="tx1"/>
                </a:solidFill>
                <a:latin typeface="Tenorite(body)"/>
              </a:rPr>
              <a:t>Ans: </a:t>
            </a:r>
            <a:r>
              <a:rPr lang="en-US" b="0" i="0" dirty="0">
                <a:solidFill>
                  <a:schemeClr val="tx1"/>
                </a:solidFill>
                <a:effectLst/>
                <a:latin typeface="Tenorite(body)"/>
              </a:rPr>
              <a:t>A FOREIGN KEY is a field (or collection of fields) in one table, that refers to the PRIMARY KEY in another table.</a:t>
            </a:r>
          </a:p>
          <a:p>
            <a:pPr marL="0" indent="0" algn="just">
              <a:buNone/>
            </a:pPr>
            <a:r>
              <a:rPr lang="en-US" b="1" dirty="0">
                <a:solidFill>
                  <a:schemeClr val="tx1"/>
                </a:solidFill>
                <a:latin typeface="Tenorite(body)"/>
              </a:rPr>
              <a:t>17. What are wildcard characters in MYSQL?</a:t>
            </a:r>
          </a:p>
          <a:p>
            <a:pPr marL="0" indent="0" algn="just">
              <a:buNone/>
            </a:pPr>
            <a:r>
              <a:rPr lang="en-US" b="1" dirty="0">
                <a:solidFill>
                  <a:schemeClr val="tx1"/>
                </a:solidFill>
                <a:latin typeface="Tenorite(body)"/>
              </a:rPr>
              <a:t>Ans</a:t>
            </a:r>
            <a:r>
              <a:rPr lang="en-US" dirty="0">
                <a:solidFill>
                  <a:schemeClr val="tx1"/>
                </a:solidFill>
                <a:latin typeface="Tenorite(body)"/>
              </a:rPr>
              <a:t> : A wildcard character is used to substitute one or more characters in a string.</a:t>
            </a:r>
            <a:endParaRPr lang="en-GB" dirty="0">
              <a:solidFill>
                <a:schemeClr val="tx1"/>
              </a:solidFill>
              <a:latin typeface="Tenorite(body)"/>
            </a:endParaRPr>
          </a:p>
          <a:p>
            <a:pPr marL="0" indent="0" algn="just">
              <a:buNone/>
            </a:pPr>
            <a:r>
              <a:rPr lang="en-GB" b="1" dirty="0">
                <a:solidFill>
                  <a:schemeClr val="tx1"/>
                </a:solidFill>
                <a:latin typeface="Tenorite(body)"/>
              </a:rPr>
              <a:t>18. </a:t>
            </a:r>
            <a:r>
              <a:rPr lang="en-GB" b="1" i="0" dirty="0">
                <a:solidFill>
                  <a:schemeClr val="tx1"/>
                </a:solidFill>
                <a:effectLst/>
                <a:latin typeface="Tenorite(body)"/>
              </a:rPr>
              <a:t>MySQL can use variables in three different ways, which are given below:</a:t>
            </a:r>
          </a:p>
          <a:p>
            <a:pPr algn="just"/>
            <a:r>
              <a:rPr lang="en-GB" b="0" i="0" dirty="0">
                <a:solidFill>
                  <a:schemeClr val="tx1"/>
                </a:solidFill>
                <a:effectLst/>
                <a:latin typeface="Tenorite(body)"/>
              </a:rPr>
              <a:t>User-Defined Variable</a:t>
            </a:r>
          </a:p>
          <a:p>
            <a:pPr algn="just"/>
            <a:r>
              <a:rPr lang="en-GB" b="0" i="0" dirty="0">
                <a:solidFill>
                  <a:schemeClr val="tx1"/>
                </a:solidFill>
                <a:effectLst/>
                <a:latin typeface="Tenorite(body)"/>
              </a:rPr>
              <a:t>Local Variable</a:t>
            </a:r>
          </a:p>
          <a:p>
            <a:pPr algn="just"/>
            <a:r>
              <a:rPr lang="en-GB" b="0" i="0" dirty="0">
                <a:solidFill>
                  <a:schemeClr val="tx1"/>
                </a:solidFill>
                <a:effectLst/>
                <a:latin typeface="Tenorite(body)"/>
              </a:rPr>
              <a:t>System Variable</a:t>
            </a:r>
          </a:p>
          <a:p>
            <a:pPr marL="0" indent="0" algn="just">
              <a:buNone/>
            </a:pPr>
            <a:r>
              <a:rPr lang="en-US" b="1" dirty="0">
                <a:solidFill>
                  <a:schemeClr val="tx1"/>
                </a:solidFill>
                <a:latin typeface="Tenorite(body)"/>
              </a:rPr>
              <a:t>19.What is a Database Query?</a:t>
            </a:r>
          </a:p>
          <a:p>
            <a:pPr marL="0" indent="0" algn="just">
              <a:buNone/>
            </a:pPr>
            <a:r>
              <a:rPr lang="en-US" b="1" dirty="0">
                <a:solidFill>
                  <a:schemeClr val="tx1"/>
                </a:solidFill>
                <a:latin typeface="Tenorite(body)"/>
              </a:rPr>
              <a:t>Ans</a:t>
            </a:r>
            <a:r>
              <a:rPr lang="en-US" dirty="0">
                <a:solidFill>
                  <a:schemeClr val="tx1"/>
                </a:solidFill>
                <a:latin typeface="Tenorite(body)"/>
              </a:rPr>
              <a:t>: </a:t>
            </a:r>
            <a:r>
              <a:rPr lang="en-GB" dirty="0">
                <a:solidFill>
                  <a:schemeClr val="tx1"/>
                </a:solidFill>
                <a:latin typeface="Tenorite(body)"/>
              </a:rPr>
              <a:t>A query is a question or a request. We can query a database for specific information and have a record set returned.</a:t>
            </a:r>
            <a:endParaRPr lang="en-US" b="1" dirty="0">
              <a:solidFill>
                <a:schemeClr val="tx1"/>
              </a:solidFill>
              <a:latin typeface="Tenorite(body)"/>
            </a:endParaRPr>
          </a:p>
          <a:p>
            <a:pPr marL="0" indent="0" algn="just">
              <a:buNone/>
            </a:pPr>
            <a:r>
              <a:rPr lang="en-US" b="1" dirty="0">
                <a:solidFill>
                  <a:schemeClr val="tx1"/>
                </a:solidFill>
                <a:latin typeface="Tenorite(body)"/>
              </a:rPr>
              <a:t>20. Show a basic connection in MYSQL?</a:t>
            </a:r>
          </a:p>
          <a:p>
            <a:pPr marL="0" indent="0" algn="just">
              <a:buNone/>
            </a:pPr>
            <a:r>
              <a:rPr lang="en-US" sz="1800" b="1" dirty="0">
                <a:solidFill>
                  <a:schemeClr val="tx1"/>
                </a:solidFill>
                <a:latin typeface="+mj-lt"/>
              </a:rPr>
              <a:t>Ans</a:t>
            </a:r>
            <a:r>
              <a:rPr lang="en-US" sz="1800" dirty="0">
                <a:solidFill>
                  <a:schemeClr val="tx1"/>
                </a:solidFill>
                <a:latin typeface="+mj-lt"/>
              </a:rPr>
              <a:t> : </a:t>
            </a:r>
            <a:r>
              <a:rPr lang="en-US" sz="1800" b="0" i="0" dirty="0">
                <a:solidFill>
                  <a:schemeClr val="tx1"/>
                </a:solidFill>
                <a:effectLst/>
                <a:latin typeface="+mj-lt"/>
              </a:rPr>
              <a:t>$conn = </a:t>
            </a:r>
            <a:r>
              <a:rPr lang="en-US" sz="1800" b="0" i="0" dirty="0" err="1">
                <a:solidFill>
                  <a:schemeClr val="tx1"/>
                </a:solidFill>
                <a:effectLst/>
                <a:latin typeface="+mj-lt"/>
              </a:rPr>
              <a:t>mysqli_connect</a:t>
            </a:r>
            <a:r>
              <a:rPr lang="en-US" sz="1800" b="0" i="0" dirty="0">
                <a:solidFill>
                  <a:schemeClr val="tx1"/>
                </a:solidFill>
                <a:effectLst/>
                <a:latin typeface="+mj-lt"/>
              </a:rPr>
              <a:t>($</a:t>
            </a:r>
            <a:r>
              <a:rPr lang="en-US" sz="1800" b="0" i="0" dirty="0" err="1">
                <a:solidFill>
                  <a:schemeClr val="tx1"/>
                </a:solidFill>
                <a:effectLst/>
                <a:latin typeface="+mj-lt"/>
              </a:rPr>
              <a:t>servername</a:t>
            </a:r>
            <a:r>
              <a:rPr lang="en-US" sz="1800" b="0" i="0" dirty="0">
                <a:solidFill>
                  <a:schemeClr val="tx1"/>
                </a:solidFill>
                <a:effectLst/>
                <a:latin typeface="+mj-lt"/>
              </a:rPr>
              <a:t>, $username, $password);</a:t>
            </a:r>
            <a:endParaRPr lang="en-US" b="1" dirty="0">
              <a:solidFill>
                <a:schemeClr val="tx1"/>
              </a:solidFill>
              <a:latin typeface="Tenorite(body)"/>
            </a:endParaRPr>
          </a:p>
          <a:p>
            <a:pPr marL="0" indent="0" algn="just">
              <a:buNone/>
            </a:pPr>
            <a:endParaRPr lang="en-GB" b="0" i="0" dirty="0">
              <a:solidFill>
                <a:schemeClr val="tx1"/>
              </a:solidFill>
              <a:effectLst/>
              <a:latin typeface="Tenorite(body)"/>
            </a:endParaRPr>
          </a:p>
        </p:txBody>
      </p:sp>
      <p:sp>
        <p:nvSpPr>
          <p:cNvPr id="2" name="Slide Number Placeholder 1">
            <a:extLst>
              <a:ext uri="{FF2B5EF4-FFF2-40B4-BE49-F238E27FC236}">
                <a16:creationId xmlns:a16="http://schemas.microsoft.com/office/drawing/2014/main" id="{5C9B301B-9E43-DD87-2347-B10E9335E220}"/>
              </a:ext>
            </a:extLst>
          </p:cNvPr>
          <p:cNvSpPr>
            <a:spLocks noGrp="1"/>
          </p:cNvSpPr>
          <p:nvPr>
            <p:ph type="sldNum" sz="quarter" idx="12"/>
          </p:nvPr>
        </p:nvSpPr>
        <p:spPr/>
        <p:txBody>
          <a:bodyPr/>
          <a:lstStyle/>
          <a:p>
            <a:fld id="{186B55E0-8579-4FA9-BDC4-2D733933EE8B}" type="slidenum">
              <a:rPr lang="en-US" sz="1400" smtClean="0"/>
              <a:t>6</a:t>
            </a:fld>
            <a:endParaRPr lang="en-US" sz="1400" dirty="0"/>
          </a:p>
        </p:txBody>
      </p:sp>
    </p:spTree>
    <p:extLst>
      <p:ext uri="{BB962C8B-B14F-4D97-AF65-F5344CB8AC3E}">
        <p14:creationId xmlns:p14="http://schemas.microsoft.com/office/powerpoint/2010/main" val="551077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E3F5DA-B181-4D29-ABE8-25FD133E939C}"/>
              </a:ext>
            </a:extLst>
          </p:cNvPr>
          <p:cNvSpPr>
            <a:spLocks noGrp="1"/>
          </p:cNvSpPr>
          <p:nvPr>
            <p:ph idx="1"/>
          </p:nvPr>
        </p:nvSpPr>
        <p:spPr>
          <a:xfrm>
            <a:off x="1744413" y="949234"/>
            <a:ext cx="9237180" cy="5817318"/>
          </a:xfrm>
        </p:spPr>
        <p:txBody>
          <a:bodyPr>
            <a:noAutofit/>
          </a:bodyPr>
          <a:lstStyle/>
          <a:p>
            <a:pPr marL="0" indent="0">
              <a:buNone/>
            </a:pPr>
            <a:r>
              <a:rPr lang="en-US" b="1" dirty="0">
                <a:solidFill>
                  <a:schemeClr val="tx1"/>
                </a:solidFill>
                <a:latin typeface="Tenorite(body)"/>
              </a:rPr>
              <a:t>21. </a:t>
            </a:r>
            <a:r>
              <a:rPr lang="en-GB" b="1" i="0" dirty="0">
                <a:solidFill>
                  <a:schemeClr val="tx1"/>
                </a:solidFill>
                <a:effectLst/>
                <a:latin typeface="Tenorite(body)"/>
              </a:rPr>
              <a:t>Create a MySQL Database Using </a:t>
            </a:r>
            <a:r>
              <a:rPr lang="en-GB" b="1" i="0" dirty="0" err="1">
                <a:solidFill>
                  <a:schemeClr val="tx1"/>
                </a:solidFill>
                <a:effectLst/>
                <a:latin typeface="Tenorite(body)"/>
              </a:rPr>
              <a:t>MySQLi</a:t>
            </a:r>
            <a:r>
              <a:rPr lang="en-GB" b="1" i="0" dirty="0">
                <a:solidFill>
                  <a:schemeClr val="tx1"/>
                </a:solidFill>
                <a:effectLst/>
                <a:latin typeface="Tenorite(body)"/>
              </a:rPr>
              <a:t> ?</a:t>
            </a:r>
          </a:p>
          <a:p>
            <a:pPr marL="0" indent="0">
              <a:buNone/>
            </a:pPr>
            <a:r>
              <a:rPr lang="en-GB" b="1" dirty="0">
                <a:solidFill>
                  <a:schemeClr val="tx1"/>
                </a:solidFill>
                <a:latin typeface="Tenorite(body)"/>
              </a:rPr>
              <a:t>Ans: </a:t>
            </a:r>
            <a:r>
              <a:rPr lang="en-US" dirty="0">
                <a:solidFill>
                  <a:schemeClr val="tx1"/>
                </a:solidFill>
                <a:latin typeface="Tenorite(body)"/>
              </a:rPr>
              <a:t> </a:t>
            </a:r>
            <a:r>
              <a:rPr lang="en-US" b="0" i="0" dirty="0">
                <a:solidFill>
                  <a:schemeClr val="tx1"/>
                </a:solidFill>
                <a:effectLst/>
                <a:latin typeface="Tenorite(body)"/>
              </a:rPr>
              <a:t>CREATE DATABASE </a:t>
            </a:r>
            <a:r>
              <a:rPr lang="en-US" b="0" i="0" dirty="0" err="1">
                <a:solidFill>
                  <a:schemeClr val="tx1"/>
                </a:solidFill>
                <a:effectLst/>
                <a:latin typeface="Tenorite(body)"/>
              </a:rPr>
              <a:t>myDB</a:t>
            </a:r>
            <a:r>
              <a:rPr lang="en-US" b="0" i="0" dirty="0">
                <a:solidFill>
                  <a:schemeClr val="tx1"/>
                </a:solidFill>
                <a:effectLst/>
                <a:latin typeface="Tenorite(body)"/>
              </a:rPr>
              <a:t>;</a:t>
            </a:r>
            <a:br>
              <a:rPr lang="en-US" dirty="0">
                <a:solidFill>
                  <a:schemeClr val="tx1"/>
                </a:solidFill>
                <a:latin typeface="Tenorite(body)"/>
              </a:rPr>
            </a:br>
            <a:r>
              <a:rPr lang="en-US" b="1" dirty="0">
                <a:solidFill>
                  <a:schemeClr val="tx1"/>
                </a:solidFill>
                <a:latin typeface="Tenorite(body)"/>
              </a:rPr>
              <a:t>22. </a:t>
            </a:r>
            <a:r>
              <a:rPr lang="en-GB" b="1" i="0" dirty="0">
                <a:solidFill>
                  <a:schemeClr val="tx1"/>
                </a:solidFill>
                <a:effectLst/>
                <a:latin typeface="Tenorite(body)"/>
              </a:rPr>
              <a:t>Create a MySQL Table Using </a:t>
            </a:r>
            <a:r>
              <a:rPr lang="en-GB" b="1" i="0" dirty="0" err="1">
                <a:solidFill>
                  <a:schemeClr val="tx1"/>
                </a:solidFill>
                <a:effectLst/>
                <a:latin typeface="Tenorite(body)"/>
              </a:rPr>
              <a:t>MySQLi</a:t>
            </a:r>
            <a:r>
              <a:rPr lang="en-US" b="1" i="0" dirty="0">
                <a:solidFill>
                  <a:schemeClr val="tx1"/>
                </a:solidFill>
                <a:effectLst/>
                <a:latin typeface="Tenorite(body)"/>
              </a:rPr>
              <a:t>.</a:t>
            </a:r>
          </a:p>
          <a:p>
            <a:pPr marL="0" indent="0">
              <a:buNone/>
            </a:pPr>
            <a:r>
              <a:rPr lang="en-US" b="1" dirty="0">
                <a:solidFill>
                  <a:schemeClr val="tx1"/>
                </a:solidFill>
                <a:latin typeface="Tenorite(body)"/>
              </a:rPr>
              <a:t>Ans</a:t>
            </a:r>
            <a:r>
              <a:rPr lang="en-US" dirty="0">
                <a:solidFill>
                  <a:schemeClr val="tx1"/>
                </a:solidFill>
                <a:latin typeface="Tenorite(body)"/>
              </a:rPr>
              <a:t> : </a:t>
            </a:r>
            <a:r>
              <a:rPr lang="en-US" b="0" i="0" dirty="0">
                <a:solidFill>
                  <a:schemeClr val="tx1"/>
                </a:solidFill>
                <a:effectLst/>
                <a:latin typeface="Tenorite(body)"/>
              </a:rPr>
              <a:t>CREATE TABLE </a:t>
            </a:r>
            <a:r>
              <a:rPr lang="en-US" b="0" i="0" dirty="0" err="1">
                <a:solidFill>
                  <a:schemeClr val="tx1"/>
                </a:solidFill>
                <a:effectLst/>
                <a:latin typeface="Tenorite(body)"/>
              </a:rPr>
              <a:t>MyGuests</a:t>
            </a:r>
            <a:r>
              <a:rPr lang="en-US" b="0" i="0" dirty="0">
                <a:solidFill>
                  <a:schemeClr val="tx1"/>
                </a:solidFill>
                <a:effectLst/>
                <a:latin typeface="Tenorite(body)"/>
              </a:rPr>
              <a:t> (</a:t>
            </a:r>
            <a:br>
              <a:rPr lang="en-US" dirty="0">
                <a:solidFill>
                  <a:schemeClr val="tx1"/>
                </a:solidFill>
                <a:latin typeface="Tenorite(body)"/>
              </a:rPr>
            </a:br>
            <a:r>
              <a:rPr lang="en-US" b="0" i="0" dirty="0">
                <a:solidFill>
                  <a:schemeClr val="tx1"/>
                </a:solidFill>
                <a:effectLst/>
                <a:latin typeface="Tenorite(body)"/>
              </a:rPr>
              <a:t>id INT(6) AUTO_INCREMENT PRIMARY KEY,</a:t>
            </a:r>
            <a:br>
              <a:rPr lang="en-US" dirty="0">
                <a:solidFill>
                  <a:schemeClr val="tx1"/>
                </a:solidFill>
                <a:latin typeface="Tenorite(body)"/>
              </a:rPr>
            </a:br>
            <a:r>
              <a:rPr lang="en-US" b="0" i="0" dirty="0" err="1">
                <a:solidFill>
                  <a:schemeClr val="tx1"/>
                </a:solidFill>
                <a:effectLst/>
                <a:latin typeface="Tenorite(body)"/>
              </a:rPr>
              <a:t>firstname</a:t>
            </a:r>
            <a:r>
              <a:rPr lang="en-US" b="0" i="0" dirty="0">
                <a:solidFill>
                  <a:schemeClr val="tx1"/>
                </a:solidFill>
                <a:effectLst/>
                <a:latin typeface="Tenorite(body)"/>
              </a:rPr>
              <a:t> VARCHAR(30) NOT NULL,</a:t>
            </a:r>
            <a:br>
              <a:rPr lang="en-US" dirty="0">
                <a:solidFill>
                  <a:schemeClr val="tx1"/>
                </a:solidFill>
                <a:latin typeface="Tenorite(body)"/>
              </a:rPr>
            </a:br>
            <a:r>
              <a:rPr lang="en-US" b="0" i="0" dirty="0">
                <a:solidFill>
                  <a:schemeClr val="tx1"/>
                </a:solidFill>
                <a:effectLst/>
                <a:latin typeface="Tenorite(body)"/>
              </a:rPr>
              <a:t>email VARCHAR(50))</a:t>
            </a:r>
          </a:p>
          <a:p>
            <a:pPr marL="0" indent="0">
              <a:buNone/>
            </a:pPr>
            <a:r>
              <a:rPr lang="en-US" b="1" dirty="0">
                <a:solidFill>
                  <a:schemeClr val="tx1"/>
                </a:solidFill>
                <a:latin typeface="Tenorite(body)"/>
              </a:rPr>
              <a:t>23. </a:t>
            </a:r>
            <a:r>
              <a:rPr lang="en-GB" b="1" i="0" dirty="0">
                <a:solidFill>
                  <a:schemeClr val="tx1"/>
                </a:solidFill>
                <a:effectLst/>
                <a:latin typeface="Tenorite(body)"/>
              </a:rPr>
              <a:t>Insert Data Into MySQL Using </a:t>
            </a:r>
            <a:r>
              <a:rPr lang="en-GB" b="1" i="0" dirty="0" err="1">
                <a:solidFill>
                  <a:schemeClr val="tx1"/>
                </a:solidFill>
                <a:effectLst/>
                <a:latin typeface="Tenorite(body)"/>
              </a:rPr>
              <a:t>MySQLi</a:t>
            </a:r>
            <a:endParaRPr lang="en-GB" b="1" dirty="0">
              <a:solidFill>
                <a:schemeClr val="tx1"/>
              </a:solidFill>
              <a:latin typeface="Tenorite(body)"/>
            </a:endParaRPr>
          </a:p>
          <a:p>
            <a:pPr marL="0" indent="0">
              <a:buNone/>
            </a:pPr>
            <a:r>
              <a:rPr lang="en-GB" b="1" i="0" dirty="0">
                <a:solidFill>
                  <a:schemeClr val="tx1"/>
                </a:solidFill>
                <a:effectLst/>
                <a:latin typeface="Tenorite(body)"/>
              </a:rPr>
              <a:t>Ans</a:t>
            </a:r>
            <a:r>
              <a:rPr lang="en-GB" b="0" i="0" dirty="0">
                <a:solidFill>
                  <a:schemeClr val="tx1"/>
                </a:solidFill>
                <a:effectLst/>
                <a:latin typeface="Tenorite(body)"/>
              </a:rPr>
              <a:t>: INSERT INTO </a:t>
            </a:r>
            <a:r>
              <a:rPr lang="en-GB" b="0" i="0" dirty="0" err="1">
                <a:solidFill>
                  <a:schemeClr val="tx1"/>
                </a:solidFill>
                <a:effectLst/>
                <a:latin typeface="Tenorite(body)"/>
              </a:rPr>
              <a:t>table_name</a:t>
            </a:r>
            <a:r>
              <a:rPr lang="en-GB" b="0" i="0" dirty="0">
                <a:solidFill>
                  <a:schemeClr val="tx1"/>
                </a:solidFill>
                <a:effectLst/>
                <a:latin typeface="Tenorite(body)"/>
              </a:rPr>
              <a:t> (column1, column2, column3,...)</a:t>
            </a:r>
            <a:br>
              <a:rPr lang="en-GB" dirty="0">
                <a:solidFill>
                  <a:schemeClr val="tx1"/>
                </a:solidFill>
                <a:latin typeface="Tenorite(body)"/>
              </a:rPr>
            </a:br>
            <a:r>
              <a:rPr lang="en-GB" b="0" i="0" dirty="0">
                <a:solidFill>
                  <a:schemeClr val="tx1"/>
                </a:solidFill>
                <a:effectLst/>
                <a:latin typeface="Tenorite(body)"/>
              </a:rPr>
              <a:t>VALUES (value1, value2, value3,...)</a:t>
            </a:r>
          </a:p>
          <a:p>
            <a:pPr marL="0" indent="0" algn="l">
              <a:buNone/>
            </a:pPr>
            <a:r>
              <a:rPr lang="en-US" b="1" dirty="0">
                <a:solidFill>
                  <a:schemeClr val="tx1"/>
                </a:solidFill>
                <a:latin typeface="Tenorite(body)"/>
              </a:rPr>
              <a:t>24. What does SELECT statement do?</a:t>
            </a:r>
          </a:p>
          <a:p>
            <a:pPr marL="0" indent="0" algn="l">
              <a:buNone/>
            </a:pPr>
            <a:r>
              <a:rPr lang="en-US" b="1" dirty="0">
                <a:solidFill>
                  <a:schemeClr val="tx1"/>
                </a:solidFill>
                <a:latin typeface="Tenorite(body)"/>
              </a:rPr>
              <a:t>Ans : </a:t>
            </a:r>
            <a:r>
              <a:rPr lang="en-GB" b="0" i="0" dirty="0">
                <a:solidFill>
                  <a:schemeClr val="tx1"/>
                </a:solidFill>
                <a:effectLst/>
                <a:latin typeface="Tenorite(body)"/>
              </a:rPr>
              <a:t>The SELECT statement is used to select data from one or more table</a:t>
            </a:r>
          </a:p>
          <a:p>
            <a:pPr marL="0" indent="0" algn="l">
              <a:buNone/>
            </a:pPr>
            <a:r>
              <a:rPr lang="en-US" b="1" dirty="0">
                <a:solidFill>
                  <a:schemeClr val="tx1"/>
                </a:solidFill>
                <a:latin typeface="Tenorite(body)"/>
              </a:rPr>
              <a:t>25. </a:t>
            </a:r>
            <a:r>
              <a:rPr lang="en-GB" b="1" i="0" dirty="0">
                <a:solidFill>
                  <a:schemeClr val="tx1"/>
                </a:solidFill>
                <a:effectLst/>
                <a:latin typeface="Tenorite(body)"/>
              </a:rPr>
              <a:t>Select Data From a MySQL Database</a:t>
            </a:r>
          </a:p>
          <a:p>
            <a:pPr marL="0" indent="0">
              <a:buNone/>
            </a:pPr>
            <a:r>
              <a:rPr lang="en-US" b="1" dirty="0">
                <a:solidFill>
                  <a:schemeClr val="tx1"/>
                </a:solidFill>
                <a:latin typeface="Tenorite(body)"/>
              </a:rPr>
              <a:t>Ans</a:t>
            </a:r>
            <a:r>
              <a:rPr lang="en-US" dirty="0">
                <a:solidFill>
                  <a:schemeClr val="tx1"/>
                </a:solidFill>
                <a:latin typeface="Tenorite(body)"/>
              </a:rPr>
              <a:t>:  </a:t>
            </a:r>
          </a:p>
          <a:p>
            <a:r>
              <a:rPr lang="en-GB" i="0" dirty="0">
                <a:solidFill>
                  <a:schemeClr val="tx1"/>
                </a:solidFill>
                <a:effectLst/>
                <a:latin typeface="Tenorite(body)"/>
              </a:rPr>
              <a:t>SELECT </a:t>
            </a:r>
            <a:r>
              <a:rPr lang="en-GB" i="0" dirty="0" err="1">
                <a:solidFill>
                  <a:schemeClr val="tx1"/>
                </a:solidFill>
                <a:effectLst/>
                <a:latin typeface="Tenorite(body)"/>
              </a:rPr>
              <a:t>column_name</a:t>
            </a:r>
            <a:r>
              <a:rPr lang="en-GB" i="0" dirty="0">
                <a:solidFill>
                  <a:schemeClr val="tx1"/>
                </a:solidFill>
                <a:effectLst/>
                <a:latin typeface="Tenorite(body)"/>
              </a:rPr>
              <a:t>(s) FROM </a:t>
            </a:r>
            <a:r>
              <a:rPr lang="en-GB" i="0" dirty="0" err="1">
                <a:solidFill>
                  <a:schemeClr val="tx1"/>
                </a:solidFill>
                <a:effectLst/>
                <a:latin typeface="Tenorite(body)"/>
              </a:rPr>
              <a:t>table_name</a:t>
            </a:r>
            <a:r>
              <a:rPr lang="en-GB" i="0" dirty="0">
                <a:solidFill>
                  <a:schemeClr val="tx1"/>
                </a:solidFill>
                <a:effectLst/>
                <a:latin typeface="Tenorite(body)"/>
              </a:rPr>
              <a:t>.</a:t>
            </a:r>
          </a:p>
          <a:p>
            <a:pPr algn="l"/>
            <a:r>
              <a:rPr lang="en-US" b="0" i="0" dirty="0">
                <a:solidFill>
                  <a:schemeClr val="tx1"/>
                </a:solidFill>
                <a:effectLst/>
                <a:latin typeface="Tenorite(body)"/>
              </a:rPr>
              <a:t>SELECT * FROM </a:t>
            </a:r>
            <a:r>
              <a:rPr lang="en-US" b="0" i="0" dirty="0" err="1">
                <a:solidFill>
                  <a:schemeClr val="tx1"/>
                </a:solidFill>
                <a:effectLst/>
                <a:latin typeface="Tenorite(body)"/>
              </a:rPr>
              <a:t>table_name</a:t>
            </a:r>
            <a:endParaRPr lang="en-GB" i="0" dirty="0">
              <a:solidFill>
                <a:schemeClr val="tx1"/>
              </a:solidFill>
              <a:effectLst/>
              <a:latin typeface="Tenorite(body)"/>
            </a:endParaRPr>
          </a:p>
          <a:p>
            <a:pPr marL="0" indent="0" algn="l">
              <a:buNone/>
            </a:pPr>
            <a:endParaRPr lang="en-US" b="1" dirty="0">
              <a:solidFill>
                <a:schemeClr val="tx1"/>
              </a:solidFill>
              <a:latin typeface="Tenorite(body)"/>
            </a:endParaRPr>
          </a:p>
        </p:txBody>
      </p:sp>
      <p:sp>
        <p:nvSpPr>
          <p:cNvPr id="2" name="Slide Number Placeholder 1">
            <a:extLst>
              <a:ext uri="{FF2B5EF4-FFF2-40B4-BE49-F238E27FC236}">
                <a16:creationId xmlns:a16="http://schemas.microsoft.com/office/drawing/2014/main" id="{B1C22F68-84AC-2E36-085E-98AF446F5BA8}"/>
              </a:ext>
            </a:extLst>
          </p:cNvPr>
          <p:cNvSpPr>
            <a:spLocks noGrp="1"/>
          </p:cNvSpPr>
          <p:nvPr>
            <p:ph type="sldNum" sz="quarter" idx="12"/>
          </p:nvPr>
        </p:nvSpPr>
        <p:spPr/>
        <p:txBody>
          <a:bodyPr/>
          <a:lstStyle/>
          <a:p>
            <a:fld id="{186B55E0-8579-4FA9-BDC4-2D733933EE8B}" type="slidenum">
              <a:rPr lang="en-US" sz="1400" smtClean="0"/>
              <a:t>7</a:t>
            </a:fld>
            <a:endParaRPr lang="en-US" dirty="0"/>
          </a:p>
        </p:txBody>
      </p:sp>
    </p:spTree>
    <p:extLst>
      <p:ext uri="{BB962C8B-B14F-4D97-AF65-F5344CB8AC3E}">
        <p14:creationId xmlns:p14="http://schemas.microsoft.com/office/powerpoint/2010/main" val="1733565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2A59C-3591-4311-80E0-A596402F1415}"/>
              </a:ext>
            </a:extLst>
          </p:cNvPr>
          <p:cNvSpPr>
            <a:spLocks noGrp="1"/>
          </p:cNvSpPr>
          <p:nvPr>
            <p:ph idx="1"/>
          </p:nvPr>
        </p:nvSpPr>
        <p:spPr>
          <a:xfrm>
            <a:off x="1810931" y="1021023"/>
            <a:ext cx="9849257" cy="5116008"/>
          </a:xfrm>
        </p:spPr>
        <p:txBody>
          <a:bodyPr>
            <a:noAutofit/>
          </a:bodyPr>
          <a:lstStyle/>
          <a:p>
            <a:pPr marL="0" indent="0" algn="just">
              <a:buNone/>
            </a:pPr>
            <a:r>
              <a:rPr lang="en-GB" b="1" dirty="0">
                <a:solidFill>
                  <a:schemeClr val="tx1"/>
                </a:solidFill>
                <a:latin typeface="Tenorite(body)"/>
              </a:rPr>
              <a:t>26. </a:t>
            </a:r>
            <a:r>
              <a:rPr lang="en-US" b="1" dirty="0">
                <a:solidFill>
                  <a:schemeClr val="tx1"/>
                </a:solidFill>
                <a:latin typeface="Tenorite(body)"/>
              </a:rPr>
              <a:t>What does WHERE statement do?</a:t>
            </a:r>
          </a:p>
          <a:p>
            <a:pPr marL="0" indent="0" algn="just">
              <a:buNone/>
            </a:pPr>
            <a:r>
              <a:rPr lang="en-US" b="1" dirty="0">
                <a:solidFill>
                  <a:schemeClr val="tx1"/>
                </a:solidFill>
                <a:latin typeface="Tenorite(body)"/>
              </a:rPr>
              <a:t>Ans : </a:t>
            </a:r>
            <a:r>
              <a:rPr lang="en-GB" b="0" i="0" dirty="0">
                <a:solidFill>
                  <a:schemeClr val="tx1"/>
                </a:solidFill>
                <a:effectLst/>
                <a:latin typeface="Tenorite(body)"/>
              </a:rPr>
              <a:t>The WHERE clause is used to filter records. The WHERE clause is used to extract only those records that fulfil a specified condition.</a:t>
            </a:r>
          </a:p>
          <a:p>
            <a:pPr marL="0" indent="0" algn="just">
              <a:buNone/>
            </a:pPr>
            <a:r>
              <a:rPr lang="en-GB" b="1" dirty="0">
                <a:solidFill>
                  <a:schemeClr val="tx1"/>
                </a:solidFill>
                <a:latin typeface="Tenorite(body)"/>
              </a:rPr>
              <a:t>27.</a:t>
            </a:r>
            <a:r>
              <a:rPr lang="en-GB" b="1" i="0" dirty="0">
                <a:solidFill>
                  <a:schemeClr val="tx1"/>
                </a:solidFill>
                <a:effectLst/>
                <a:latin typeface="Tenorite(body)"/>
              </a:rPr>
              <a:t>  Select and Filter Data From a MySQL Database</a:t>
            </a:r>
          </a:p>
          <a:p>
            <a:pPr marL="0" indent="0" algn="just">
              <a:buNone/>
            </a:pPr>
            <a:r>
              <a:rPr lang="en-GB" b="1" dirty="0">
                <a:solidFill>
                  <a:schemeClr val="tx1"/>
                </a:solidFill>
                <a:latin typeface="Tenorite(body)"/>
              </a:rPr>
              <a:t>Ans</a:t>
            </a:r>
            <a:r>
              <a:rPr lang="en-GB" dirty="0">
                <a:solidFill>
                  <a:schemeClr val="tx1"/>
                </a:solidFill>
                <a:latin typeface="Tenorite(body)"/>
              </a:rPr>
              <a:t> : </a:t>
            </a:r>
            <a:r>
              <a:rPr lang="en-GB" b="0" i="0" dirty="0">
                <a:solidFill>
                  <a:schemeClr val="tx1"/>
                </a:solidFill>
                <a:effectLst/>
                <a:latin typeface="Tenorite(body)"/>
              </a:rPr>
              <a:t>SELECT </a:t>
            </a:r>
            <a:r>
              <a:rPr lang="en-GB" b="0" i="0" dirty="0" err="1">
                <a:solidFill>
                  <a:schemeClr val="tx1"/>
                </a:solidFill>
                <a:effectLst/>
                <a:latin typeface="Tenorite(body)"/>
              </a:rPr>
              <a:t>column_name</a:t>
            </a:r>
            <a:r>
              <a:rPr lang="en-GB" b="0" i="0" dirty="0">
                <a:solidFill>
                  <a:schemeClr val="tx1"/>
                </a:solidFill>
                <a:effectLst/>
                <a:latin typeface="Tenorite(body)"/>
              </a:rPr>
              <a:t>(s) FROM </a:t>
            </a:r>
            <a:r>
              <a:rPr lang="en-GB" b="0" i="0" dirty="0" err="1">
                <a:solidFill>
                  <a:schemeClr val="tx1"/>
                </a:solidFill>
                <a:effectLst/>
                <a:latin typeface="Tenorite(body)"/>
              </a:rPr>
              <a:t>table_name</a:t>
            </a:r>
            <a:r>
              <a:rPr lang="en-GB" b="0" i="0" dirty="0">
                <a:solidFill>
                  <a:schemeClr val="tx1"/>
                </a:solidFill>
                <a:effectLst/>
                <a:latin typeface="Tenorite(body)"/>
              </a:rPr>
              <a:t> WHERE </a:t>
            </a:r>
            <a:r>
              <a:rPr lang="en-GB" b="0" i="0" dirty="0" err="1">
                <a:solidFill>
                  <a:schemeClr val="tx1"/>
                </a:solidFill>
                <a:effectLst/>
                <a:latin typeface="Tenorite(body)"/>
              </a:rPr>
              <a:t>column_name</a:t>
            </a:r>
            <a:r>
              <a:rPr lang="en-GB" b="0" i="0" dirty="0">
                <a:solidFill>
                  <a:schemeClr val="tx1"/>
                </a:solidFill>
                <a:effectLst/>
                <a:latin typeface="Tenorite(body)"/>
              </a:rPr>
              <a:t> operator value .</a:t>
            </a:r>
          </a:p>
          <a:p>
            <a:pPr marL="0" indent="0" algn="just">
              <a:buNone/>
            </a:pPr>
            <a:r>
              <a:rPr lang="en-GB" b="1" dirty="0">
                <a:solidFill>
                  <a:schemeClr val="tx1"/>
                </a:solidFill>
                <a:latin typeface="Tenorite(body)"/>
              </a:rPr>
              <a:t>28.Give an Example of WHERE statement.</a:t>
            </a:r>
          </a:p>
          <a:p>
            <a:pPr marL="0" indent="0" algn="just">
              <a:buNone/>
            </a:pPr>
            <a:r>
              <a:rPr lang="en-GB" b="1" i="0" dirty="0">
                <a:solidFill>
                  <a:schemeClr val="tx1"/>
                </a:solidFill>
                <a:effectLst/>
                <a:latin typeface="Tenorite(body)"/>
              </a:rPr>
              <a:t>Ans</a:t>
            </a:r>
            <a:r>
              <a:rPr lang="en-GB" b="0" i="0" dirty="0">
                <a:solidFill>
                  <a:schemeClr val="tx1"/>
                </a:solidFill>
                <a:effectLst/>
                <a:latin typeface="Tenorite(body)"/>
              </a:rPr>
              <a:t> : </a:t>
            </a:r>
            <a:r>
              <a:rPr lang="en-US" dirty="0" err="1">
                <a:solidFill>
                  <a:schemeClr val="tx1"/>
                </a:solidFill>
                <a:latin typeface="Tenorite(body)"/>
              </a:rPr>
              <a:t>s</a:t>
            </a:r>
            <a:r>
              <a:rPr lang="en-US" b="0" i="0" dirty="0" err="1">
                <a:solidFill>
                  <a:schemeClr val="tx1"/>
                </a:solidFill>
                <a:effectLst/>
                <a:latin typeface="Tenorite(body)"/>
              </a:rPr>
              <a:t>ql</a:t>
            </a:r>
            <a:r>
              <a:rPr lang="en-US" b="0" i="0" dirty="0">
                <a:solidFill>
                  <a:schemeClr val="tx1"/>
                </a:solidFill>
                <a:effectLst/>
                <a:latin typeface="Tenorite(body)"/>
              </a:rPr>
              <a:t> = "SELECT id, </a:t>
            </a:r>
            <a:r>
              <a:rPr lang="en-US" b="0" i="0" dirty="0" err="1">
                <a:solidFill>
                  <a:schemeClr val="tx1"/>
                </a:solidFill>
                <a:effectLst/>
                <a:latin typeface="Tenorite(body)"/>
              </a:rPr>
              <a:t>firstname</a:t>
            </a:r>
            <a:r>
              <a:rPr lang="en-US" b="0" i="0" dirty="0">
                <a:solidFill>
                  <a:schemeClr val="tx1"/>
                </a:solidFill>
                <a:effectLst/>
                <a:latin typeface="Tenorite(body)"/>
              </a:rPr>
              <a:t>, </a:t>
            </a:r>
            <a:r>
              <a:rPr lang="en-US" b="0" i="0" dirty="0" err="1">
                <a:solidFill>
                  <a:schemeClr val="tx1"/>
                </a:solidFill>
                <a:effectLst/>
                <a:latin typeface="Tenorite(body)"/>
              </a:rPr>
              <a:t>lastname</a:t>
            </a:r>
            <a:r>
              <a:rPr lang="en-US" b="0" i="0" dirty="0">
                <a:solidFill>
                  <a:schemeClr val="tx1"/>
                </a:solidFill>
                <a:effectLst/>
                <a:latin typeface="Tenorite(body)"/>
              </a:rPr>
              <a:t> FROM </a:t>
            </a:r>
            <a:r>
              <a:rPr lang="en-US" b="0" i="0" dirty="0" err="1">
                <a:solidFill>
                  <a:schemeClr val="tx1"/>
                </a:solidFill>
                <a:effectLst/>
                <a:latin typeface="Tenorite(body)"/>
              </a:rPr>
              <a:t>MyGuests</a:t>
            </a:r>
            <a:r>
              <a:rPr lang="en-US" b="0" i="0" dirty="0">
                <a:solidFill>
                  <a:schemeClr val="tx1"/>
                </a:solidFill>
                <a:effectLst/>
                <a:latin typeface="Tenorite(body)"/>
              </a:rPr>
              <a:t> WHERE </a:t>
            </a:r>
            <a:r>
              <a:rPr lang="en-US" b="0" i="0" dirty="0" err="1">
                <a:solidFill>
                  <a:schemeClr val="tx1"/>
                </a:solidFill>
                <a:effectLst/>
                <a:latin typeface="Tenorite(body)"/>
              </a:rPr>
              <a:t>lastname</a:t>
            </a:r>
            <a:r>
              <a:rPr lang="en-US" b="0" i="0" dirty="0">
                <a:solidFill>
                  <a:schemeClr val="tx1"/>
                </a:solidFill>
                <a:effectLst/>
                <a:latin typeface="Tenorite(body)"/>
              </a:rPr>
              <a:t>='Doe’”;</a:t>
            </a:r>
            <a:endParaRPr lang="en-US" dirty="0">
              <a:solidFill>
                <a:schemeClr val="tx1"/>
              </a:solidFill>
              <a:latin typeface="Tenorite(body)"/>
            </a:endParaRPr>
          </a:p>
          <a:p>
            <a:pPr marL="0" indent="0" algn="just">
              <a:buNone/>
            </a:pPr>
            <a:r>
              <a:rPr lang="en-GB" b="1" dirty="0">
                <a:solidFill>
                  <a:schemeClr val="tx1"/>
                </a:solidFill>
                <a:latin typeface="Tenorite(body)"/>
              </a:rPr>
              <a:t>29.</a:t>
            </a:r>
            <a:r>
              <a:rPr lang="en-GB" dirty="0">
                <a:solidFill>
                  <a:schemeClr val="tx1"/>
                </a:solidFill>
                <a:latin typeface="Tenorite(body)"/>
              </a:rPr>
              <a:t> </a:t>
            </a:r>
            <a:r>
              <a:rPr lang="en-GB" b="1" dirty="0">
                <a:solidFill>
                  <a:schemeClr val="tx1"/>
                </a:solidFill>
                <a:latin typeface="Tenorite(body)"/>
              </a:rPr>
              <a:t> </a:t>
            </a:r>
            <a:r>
              <a:rPr lang="en-US" b="1" dirty="0">
                <a:solidFill>
                  <a:schemeClr val="tx1"/>
                </a:solidFill>
                <a:latin typeface="Tenorite(body)"/>
              </a:rPr>
              <a:t>What does WHERE statement do?</a:t>
            </a:r>
          </a:p>
          <a:p>
            <a:pPr marL="0" indent="0" algn="just">
              <a:buNone/>
            </a:pPr>
            <a:r>
              <a:rPr lang="en-GB" b="1" dirty="0">
                <a:solidFill>
                  <a:schemeClr val="tx1"/>
                </a:solidFill>
                <a:latin typeface="Tenorite(body)"/>
              </a:rPr>
              <a:t>Ans</a:t>
            </a:r>
            <a:r>
              <a:rPr lang="en-GB" dirty="0">
                <a:solidFill>
                  <a:schemeClr val="tx1"/>
                </a:solidFill>
                <a:latin typeface="Tenorite(body)"/>
              </a:rPr>
              <a:t> : </a:t>
            </a:r>
            <a:r>
              <a:rPr lang="en-GB" b="0" i="0" dirty="0">
                <a:solidFill>
                  <a:schemeClr val="tx1"/>
                </a:solidFill>
                <a:effectLst/>
                <a:latin typeface="Tenorite(body)"/>
              </a:rPr>
              <a:t>The ORDER BY clause is used to sort the result-set in ascending or descending order. The ORDER BY clause sorts the records in ascending order by default. To sort the records in descending order, use the DESC keyword.</a:t>
            </a:r>
          </a:p>
          <a:p>
            <a:pPr marL="0" indent="0" algn="just">
              <a:buNone/>
            </a:pPr>
            <a:r>
              <a:rPr lang="en-GB" b="1" i="0" dirty="0">
                <a:solidFill>
                  <a:schemeClr val="tx1"/>
                </a:solidFill>
                <a:effectLst/>
                <a:latin typeface="Tenorite(body)"/>
              </a:rPr>
              <a:t>30. Select and Order Data From a MySQL Database</a:t>
            </a:r>
          </a:p>
          <a:p>
            <a:pPr marL="0" indent="0" algn="just">
              <a:buNone/>
            </a:pPr>
            <a:r>
              <a:rPr lang="en-GB" dirty="0">
                <a:solidFill>
                  <a:schemeClr val="tx1"/>
                </a:solidFill>
                <a:latin typeface="Tenorite(body)"/>
              </a:rPr>
              <a:t> </a:t>
            </a:r>
            <a:r>
              <a:rPr lang="en-GB" b="1" dirty="0">
                <a:solidFill>
                  <a:schemeClr val="tx1"/>
                </a:solidFill>
                <a:latin typeface="Tenorite(body)"/>
              </a:rPr>
              <a:t>Ans</a:t>
            </a:r>
            <a:r>
              <a:rPr lang="en-GB" dirty="0">
                <a:solidFill>
                  <a:schemeClr val="tx1"/>
                </a:solidFill>
                <a:latin typeface="Tenorite(body)"/>
              </a:rPr>
              <a:t>:  </a:t>
            </a:r>
            <a:r>
              <a:rPr lang="en-US" b="0" i="0" dirty="0">
                <a:solidFill>
                  <a:schemeClr val="tx1"/>
                </a:solidFill>
                <a:effectLst/>
                <a:latin typeface="Tenorite(body)"/>
              </a:rPr>
              <a:t>$</a:t>
            </a:r>
            <a:r>
              <a:rPr lang="en-US" b="0" i="0" dirty="0" err="1">
                <a:solidFill>
                  <a:schemeClr val="tx1"/>
                </a:solidFill>
                <a:effectLst/>
                <a:latin typeface="Tenorite(body)"/>
              </a:rPr>
              <a:t>sql</a:t>
            </a:r>
            <a:r>
              <a:rPr lang="en-US" b="0" i="0" dirty="0">
                <a:solidFill>
                  <a:schemeClr val="tx1"/>
                </a:solidFill>
                <a:effectLst/>
                <a:latin typeface="Tenorite(body)"/>
              </a:rPr>
              <a:t> = "SELECT id, </a:t>
            </a:r>
            <a:r>
              <a:rPr lang="en-US" b="0" i="0" dirty="0" err="1">
                <a:solidFill>
                  <a:schemeClr val="tx1"/>
                </a:solidFill>
                <a:effectLst/>
                <a:latin typeface="Tenorite(body)"/>
              </a:rPr>
              <a:t>firstname</a:t>
            </a:r>
            <a:r>
              <a:rPr lang="en-US" b="0" i="0" dirty="0">
                <a:solidFill>
                  <a:schemeClr val="tx1"/>
                </a:solidFill>
                <a:effectLst/>
                <a:latin typeface="Tenorite(body)"/>
              </a:rPr>
              <a:t>, </a:t>
            </a:r>
            <a:r>
              <a:rPr lang="en-US" b="0" i="0" dirty="0" err="1">
                <a:solidFill>
                  <a:schemeClr val="tx1"/>
                </a:solidFill>
                <a:effectLst/>
                <a:latin typeface="Tenorite(body)"/>
              </a:rPr>
              <a:t>lastname</a:t>
            </a:r>
            <a:r>
              <a:rPr lang="en-US" b="0" i="0" dirty="0">
                <a:solidFill>
                  <a:schemeClr val="tx1"/>
                </a:solidFill>
                <a:effectLst/>
                <a:latin typeface="Tenorite(body)"/>
              </a:rPr>
              <a:t> FROM </a:t>
            </a:r>
            <a:r>
              <a:rPr lang="en-US" b="0" i="0" dirty="0" err="1">
                <a:solidFill>
                  <a:schemeClr val="tx1"/>
                </a:solidFill>
                <a:effectLst/>
                <a:latin typeface="Tenorite(body)"/>
              </a:rPr>
              <a:t>MyGuests</a:t>
            </a:r>
            <a:r>
              <a:rPr lang="en-US" b="0" i="0" dirty="0">
                <a:solidFill>
                  <a:schemeClr val="tx1"/>
                </a:solidFill>
                <a:effectLst/>
                <a:latin typeface="Tenorite(body)"/>
              </a:rPr>
              <a:t> ORDER BY </a:t>
            </a:r>
            <a:r>
              <a:rPr lang="en-US" b="0" i="0" dirty="0" err="1">
                <a:solidFill>
                  <a:schemeClr val="tx1"/>
                </a:solidFill>
                <a:effectLst/>
                <a:latin typeface="Tenorite(body)"/>
              </a:rPr>
              <a:t>lastname</a:t>
            </a:r>
            <a:r>
              <a:rPr lang="en-US" b="0" i="0" dirty="0">
                <a:solidFill>
                  <a:schemeClr val="tx1"/>
                </a:solidFill>
                <a:effectLst/>
                <a:latin typeface="Tenorite(body)"/>
              </a:rPr>
              <a:t>";</a:t>
            </a:r>
          </a:p>
          <a:p>
            <a:pPr marL="0" indent="0" algn="just">
              <a:buNone/>
            </a:pPr>
            <a:endParaRPr lang="en-GB" b="0" i="0" dirty="0">
              <a:solidFill>
                <a:schemeClr val="tx1"/>
              </a:solidFill>
              <a:effectLst/>
              <a:latin typeface="Tenorite(body)"/>
            </a:endParaRPr>
          </a:p>
        </p:txBody>
      </p:sp>
      <p:sp>
        <p:nvSpPr>
          <p:cNvPr id="2" name="Slide Number Placeholder 1">
            <a:extLst>
              <a:ext uri="{FF2B5EF4-FFF2-40B4-BE49-F238E27FC236}">
                <a16:creationId xmlns:a16="http://schemas.microsoft.com/office/drawing/2014/main" id="{7B2D0966-2C58-2CBC-338C-22AE0433D892}"/>
              </a:ext>
            </a:extLst>
          </p:cNvPr>
          <p:cNvSpPr>
            <a:spLocks noGrp="1"/>
          </p:cNvSpPr>
          <p:nvPr>
            <p:ph type="sldNum" sz="quarter" idx="12"/>
          </p:nvPr>
        </p:nvSpPr>
        <p:spPr/>
        <p:txBody>
          <a:bodyPr/>
          <a:lstStyle/>
          <a:p>
            <a:fld id="{186B55E0-8579-4FA9-BDC4-2D733933EE8B}" type="slidenum">
              <a:rPr lang="en-US" sz="1400" smtClean="0"/>
              <a:t>8</a:t>
            </a:fld>
            <a:endParaRPr lang="en-US" sz="1400" dirty="0"/>
          </a:p>
        </p:txBody>
      </p:sp>
    </p:spTree>
    <p:extLst>
      <p:ext uri="{BB962C8B-B14F-4D97-AF65-F5344CB8AC3E}">
        <p14:creationId xmlns:p14="http://schemas.microsoft.com/office/powerpoint/2010/main" val="2160414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75247-8B72-4025-A2E6-B8A58AD46BF3}"/>
              </a:ext>
            </a:extLst>
          </p:cNvPr>
          <p:cNvSpPr>
            <a:spLocks noGrp="1"/>
          </p:cNvSpPr>
          <p:nvPr>
            <p:ph idx="1"/>
          </p:nvPr>
        </p:nvSpPr>
        <p:spPr>
          <a:xfrm>
            <a:off x="1817494" y="970344"/>
            <a:ext cx="9084968" cy="5659056"/>
          </a:xfrm>
        </p:spPr>
        <p:txBody>
          <a:bodyPr>
            <a:noAutofit/>
          </a:bodyPr>
          <a:lstStyle/>
          <a:p>
            <a:pPr marL="0" indent="0" algn="just">
              <a:buNone/>
            </a:pPr>
            <a:r>
              <a:rPr lang="en-US" b="1" dirty="0">
                <a:solidFill>
                  <a:schemeClr val="tx1"/>
                </a:solidFill>
                <a:latin typeface="Tenorite(body)"/>
              </a:rPr>
              <a:t>31</a:t>
            </a:r>
            <a:r>
              <a:rPr lang="en-US" dirty="0">
                <a:solidFill>
                  <a:schemeClr val="tx1"/>
                </a:solidFill>
                <a:latin typeface="Tenorite(body)"/>
              </a:rPr>
              <a:t>. </a:t>
            </a:r>
            <a:r>
              <a:rPr lang="en-US" b="1" dirty="0">
                <a:solidFill>
                  <a:schemeClr val="tx1"/>
                </a:solidFill>
                <a:latin typeface="Tenorite(body)"/>
              </a:rPr>
              <a:t>What does </a:t>
            </a:r>
            <a:r>
              <a:rPr lang="en-GB" b="0" i="0" dirty="0">
                <a:solidFill>
                  <a:schemeClr val="tx1"/>
                </a:solidFill>
                <a:effectLst/>
                <a:latin typeface="Tenorite(body)"/>
              </a:rPr>
              <a:t>DELETE</a:t>
            </a:r>
            <a:r>
              <a:rPr lang="en-US" b="1" dirty="0">
                <a:solidFill>
                  <a:schemeClr val="tx1"/>
                </a:solidFill>
                <a:latin typeface="Tenorite(body)"/>
              </a:rPr>
              <a:t> statement do?</a:t>
            </a:r>
          </a:p>
          <a:p>
            <a:pPr marL="0" indent="0" algn="just">
              <a:buNone/>
            </a:pPr>
            <a:r>
              <a:rPr lang="en-US" b="1" dirty="0">
                <a:solidFill>
                  <a:schemeClr val="tx1"/>
                </a:solidFill>
                <a:latin typeface="Tenorite(body)"/>
              </a:rPr>
              <a:t>Ans : </a:t>
            </a:r>
            <a:r>
              <a:rPr lang="en-GB" b="0" i="0" dirty="0">
                <a:solidFill>
                  <a:schemeClr val="tx1"/>
                </a:solidFill>
                <a:effectLst/>
                <a:latin typeface="Tenorite(body)"/>
              </a:rPr>
              <a:t>The DELETE statement is used to delete records from a table.</a:t>
            </a:r>
          </a:p>
          <a:p>
            <a:pPr marL="0" indent="0" algn="just">
              <a:buNone/>
            </a:pPr>
            <a:r>
              <a:rPr lang="en-GB" b="1" dirty="0">
                <a:solidFill>
                  <a:schemeClr val="tx1"/>
                </a:solidFill>
                <a:latin typeface="Tenorite(body)"/>
              </a:rPr>
              <a:t>32. Give an example of DELETE statement.</a:t>
            </a:r>
            <a:endParaRPr lang="en-US" b="1" dirty="0">
              <a:solidFill>
                <a:schemeClr val="tx1"/>
              </a:solidFill>
              <a:latin typeface="Tenorite(body)"/>
            </a:endParaRPr>
          </a:p>
          <a:p>
            <a:pPr marL="0" indent="0" algn="just">
              <a:buNone/>
            </a:pPr>
            <a:r>
              <a:rPr lang="en-GB" b="1" i="0" dirty="0">
                <a:solidFill>
                  <a:schemeClr val="tx1"/>
                </a:solidFill>
                <a:effectLst/>
                <a:latin typeface="Tenorite(body)"/>
              </a:rPr>
              <a:t>Ans</a:t>
            </a:r>
            <a:r>
              <a:rPr lang="en-GB" b="0" i="0" dirty="0">
                <a:solidFill>
                  <a:schemeClr val="tx1"/>
                </a:solidFill>
                <a:effectLst/>
                <a:latin typeface="Tenorite(body)"/>
              </a:rPr>
              <a:t> : DELETE FROM </a:t>
            </a:r>
            <a:r>
              <a:rPr lang="en-GB" b="0" i="1" dirty="0" err="1">
                <a:solidFill>
                  <a:schemeClr val="tx1"/>
                </a:solidFill>
                <a:effectLst/>
                <a:latin typeface="Tenorite(body)"/>
              </a:rPr>
              <a:t>table_name</a:t>
            </a:r>
            <a:r>
              <a:rPr lang="en-GB" b="0" i="1" dirty="0">
                <a:solidFill>
                  <a:schemeClr val="tx1"/>
                </a:solidFill>
                <a:effectLst/>
                <a:latin typeface="Tenorite(body)"/>
              </a:rPr>
              <a:t> </a:t>
            </a:r>
            <a:r>
              <a:rPr lang="en-GB" b="0" i="0" dirty="0">
                <a:solidFill>
                  <a:schemeClr val="tx1"/>
                </a:solidFill>
                <a:effectLst/>
                <a:latin typeface="Tenorite(body)"/>
              </a:rPr>
              <a:t>WHERE </a:t>
            </a:r>
            <a:r>
              <a:rPr lang="en-GB" b="0" i="1" dirty="0">
                <a:solidFill>
                  <a:schemeClr val="tx1"/>
                </a:solidFill>
                <a:effectLst/>
                <a:latin typeface="Tenorite(body)"/>
              </a:rPr>
              <a:t>condition</a:t>
            </a:r>
            <a:r>
              <a:rPr lang="en-GB" b="0" i="0" dirty="0">
                <a:solidFill>
                  <a:schemeClr val="tx1"/>
                </a:solidFill>
                <a:effectLst/>
                <a:latin typeface="Tenorite(body)"/>
              </a:rPr>
              <a:t>;</a:t>
            </a:r>
          </a:p>
          <a:p>
            <a:pPr marL="0" indent="0" algn="just">
              <a:buNone/>
            </a:pPr>
            <a:r>
              <a:rPr lang="en-GB" b="1" dirty="0">
                <a:solidFill>
                  <a:schemeClr val="tx1"/>
                </a:solidFill>
                <a:latin typeface="Tenorite(body)"/>
              </a:rPr>
              <a:t>33. Give an example of</a:t>
            </a:r>
            <a:r>
              <a:rPr lang="en-GB" b="1" i="0" dirty="0">
                <a:solidFill>
                  <a:schemeClr val="tx1"/>
                </a:solidFill>
                <a:effectLst/>
                <a:latin typeface="Tenorite(body)"/>
              </a:rPr>
              <a:t> SQL SELECT TOP Clause.</a:t>
            </a:r>
          </a:p>
          <a:p>
            <a:pPr marL="0" indent="0" algn="just">
              <a:buNone/>
            </a:pPr>
            <a:r>
              <a:rPr lang="en-GB" b="1" dirty="0">
                <a:solidFill>
                  <a:schemeClr val="tx1"/>
                </a:solidFill>
                <a:latin typeface="Tenorite(body)"/>
              </a:rPr>
              <a:t>Ans</a:t>
            </a:r>
            <a:r>
              <a:rPr lang="en-GB" dirty="0">
                <a:solidFill>
                  <a:schemeClr val="tx1"/>
                </a:solidFill>
                <a:latin typeface="Tenorite(body)"/>
              </a:rPr>
              <a:t> : </a:t>
            </a:r>
            <a:r>
              <a:rPr lang="en-GB" b="0" i="0" dirty="0">
                <a:solidFill>
                  <a:schemeClr val="tx1"/>
                </a:solidFill>
                <a:effectLst/>
                <a:latin typeface="Tenorite(body)"/>
              </a:rPr>
              <a:t>SELECT TOP 3 * FROM Customers;</a:t>
            </a:r>
          </a:p>
          <a:p>
            <a:pPr marL="0" indent="0" algn="just">
              <a:buNone/>
            </a:pPr>
            <a:r>
              <a:rPr lang="en-GB" b="1" dirty="0">
                <a:solidFill>
                  <a:schemeClr val="tx1"/>
                </a:solidFill>
                <a:latin typeface="Tenorite(body)"/>
              </a:rPr>
              <a:t>34. What are  t</a:t>
            </a:r>
            <a:r>
              <a:rPr lang="en-GB" b="1" i="0" dirty="0">
                <a:solidFill>
                  <a:schemeClr val="tx1"/>
                </a:solidFill>
                <a:effectLst/>
                <a:latin typeface="Tenorite(body)"/>
              </a:rPr>
              <a:t>he SQL MIN() and MAX() Functions?</a:t>
            </a:r>
          </a:p>
          <a:p>
            <a:pPr marL="0" indent="0" algn="just">
              <a:buNone/>
            </a:pPr>
            <a:r>
              <a:rPr lang="en-GB" b="1" i="0" dirty="0">
                <a:solidFill>
                  <a:schemeClr val="tx1"/>
                </a:solidFill>
                <a:effectLst/>
                <a:latin typeface="Tenorite(body)"/>
              </a:rPr>
              <a:t>Ans</a:t>
            </a:r>
            <a:r>
              <a:rPr lang="en-GB" b="0" i="0" dirty="0">
                <a:solidFill>
                  <a:schemeClr val="tx1"/>
                </a:solidFill>
                <a:effectLst/>
                <a:latin typeface="Tenorite(body)"/>
              </a:rPr>
              <a:t> :The MIN() function returns the smallest value of the selected column.</a:t>
            </a:r>
          </a:p>
          <a:p>
            <a:pPr marL="0" indent="0" algn="just">
              <a:buNone/>
            </a:pPr>
            <a:r>
              <a:rPr lang="en-GB" b="0" i="0" dirty="0">
                <a:solidFill>
                  <a:schemeClr val="tx1"/>
                </a:solidFill>
                <a:effectLst/>
                <a:latin typeface="Tenorite(body)"/>
              </a:rPr>
              <a:t>The MAX() function returns the largest value of the selected column.</a:t>
            </a:r>
          </a:p>
          <a:p>
            <a:pPr marL="0" indent="0" algn="just">
              <a:buNone/>
            </a:pPr>
            <a:r>
              <a:rPr lang="en-GB" b="1" dirty="0">
                <a:solidFill>
                  <a:schemeClr val="tx1"/>
                </a:solidFill>
                <a:latin typeface="Tenorite(body)"/>
              </a:rPr>
              <a:t>35</a:t>
            </a:r>
            <a:r>
              <a:rPr lang="en-GB" b="1" i="0" dirty="0">
                <a:solidFill>
                  <a:schemeClr val="tx1"/>
                </a:solidFill>
                <a:effectLst/>
                <a:latin typeface="Tenorite(body)"/>
              </a:rPr>
              <a:t>. </a:t>
            </a:r>
            <a:r>
              <a:rPr lang="en-GB" b="1" dirty="0">
                <a:solidFill>
                  <a:schemeClr val="tx1"/>
                </a:solidFill>
                <a:latin typeface="Tenorite(body)"/>
              </a:rPr>
              <a:t>Give an example of MIN () and MAX() function?</a:t>
            </a:r>
          </a:p>
          <a:p>
            <a:pPr marL="0" indent="0" algn="just">
              <a:buNone/>
            </a:pPr>
            <a:r>
              <a:rPr lang="en-GB" b="1" i="0" dirty="0">
                <a:solidFill>
                  <a:schemeClr val="tx1"/>
                </a:solidFill>
                <a:effectLst/>
                <a:latin typeface="Tenorite(body)"/>
              </a:rPr>
              <a:t>Ans</a:t>
            </a:r>
            <a:r>
              <a:rPr lang="en-GB" b="0" i="0" dirty="0">
                <a:solidFill>
                  <a:schemeClr val="tx1"/>
                </a:solidFill>
                <a:effectLst/>
                <a:latin typeface="Tenorite(body)"/>
              </a:rPr>
              <a:t>: SELECT MIN(</a:t>
            </a:r>
            <a:r>
              <a:rPr lang="en-GB" b="0" i="1" dirty="0" err="1">
                <a:solidFill>
                  <a:schemeClr val="tx1"/>
                </a:solidFill>
                <a:effectLst/>
                <a:latin typeface="Tenorite(body)"/>
              </a:rPr>
              <a:t>column_name</a:t>
            </a:r>
            <a:r>
              <a:rPr lang="en-GB" b="0" i="0" dirty="0">
                <a:solidFill>
                  <a:schemeClr val="tx1"/>
                </a:solidFill>
                <a:effectLst/>
                <a:latin typeface="Tenorite(body)"/>
              </a:rPr>
              <a:t>) FROM </a:t>
            </a:r>
            <a:r>
              <a:rPr lang="en-GB" b="0" i="1" dirty="0" err="1">
                <a:solidFill>
                  <a:schemeClr val="tx1"/>
                </a:solidFill>
                <a:effectLst/>
                <a:latin typeface="Tenorite(body)"/>
              </a:rPr>
              <a:t>table_name</a:t>
            </a:r>
            <a:r>
              <a:rPr lang="en-GB" b="0" i="1" dirty="0">
                <a:solidFill>
                  <a:schemeClr val="tx1"/>
                </a:solidFill>
                <a:effectLst/>
                <a:latin typeface="Tenorite(body)"/>
              </a:rPr>
              <a:t> </a:t>
            </a:r>
            <a:r>
              <a:rPr lang="en-GB" b="0" i="0" dirty="0">
                <a:solidFill>
                  <a:schemeClr val="tx1"/>
                </a:solidFill>
                <a:effectLst/>
                <a:latin typeface="Tenorite(body)"/>
              </a:rPr>
              <a:t>WHERE </a:t>
            </a:r>
            <a:r>
              <a:rPr lang="en-GB" b="0" i="1" dirty="0">
                <a:solidFill>
                  <a:schemeClr val="tx1"/>
                </a:solidFill>
                <a:effectLst/>
                <a:latin typeface="Tenorite(body)"/>
              </a:rPr>
              <a:t>condition</a:t>
            </a:r>
            <a:r>
              <a:rPr lang="en-GB" b="0" i="0" dirty="0">
                <a:solidFill>
                  <a:schemeClr val="tx1"/>
                </a:solidFill>
                <a:effectLst/>
                <a:latin typeface="Tenorite(body)"/>
              </a:rPr>
              <a:t>;</a:t>
            </a:r>
          </a:p>
          <a:p>
            <a:pPr marL="0" indent="0" algn="just">
              <a:buNone/>
            </a:pPr>
            <a:r>
              <a:rPr lang="en-GB" b="0" i="0" dirty="0">
                <a:solidFill>
                  <a:schemeClr val="tx1"/>
                </a:solidFill>
                <a:effectLst/>
                <a:latin typeface="Tenorite(body)"/>
              </a:rPr>
              <a:t>        SELECT MAX(</a:t>
            </a:r>
            <a:r>
              <a:rPr lang="en-GB" b="0" i="1" dirty="0" err="1">
                <a:solidFill>
                  <a:schemeClr val="tx1"/>
                </a:solidFill>
                <a:effectLst/>
                <a:latin typeface="Tenorite(body)"/>
              </a:rPr>
              <a:t>column_name</a:t>
            </a:r>
            <a:r>
              <a:rPr lang="en-GB" b="0" i="0" dirty="0">
                <a:solidFill>
                  <a:schemeClr val="tx1"/>
                </a:solidFill>
                <a:effectLst/>
                <a:latin typeface="Tenorite(body)"/>
              </a:rPr>
              <a:t>) FROM </a:t>
            </a:r>
            <a:r>
              <a:rPr lang="en-GB" b="0" i="1" dirty="0" err="1">
                <a:solidFill>
                  <a:schemeClr val="tx1"/>
                </a:solidFill>
                <a:effectLst/>
                <a:latin typeface="Tenorite(body)"/>
              </a:rPr>
              <a:t>table_name</a:t>
            </a:r>
            <a:r>
              <a:rPr lang="en-GB" b="0" i="1" dirty="0">
                <a:solidFill>
                  <a:schemeClr val="tx1"/>
                </a:solidFill>
                <a:effectLst/>
                <a:latin typeface="Tenorite(body)"/>
              </a:rPr>
              <a:t> </a:t>
            </a:r>
            <a:r>
              <a:rPr lang="en-GB" b="0" i="0" dirty="0">
                <a:solidFill>
                  <a:schemeClr val="tx1"/>
                </a:solidFill>
                <a:effectLst/>
                <a:latin typeface="Tenorite(body)"/>
              </a:rPr>
              <a:t>WHERE </a:t>
            </a:r>
            <a:r>
              <a:rPr lang="en-GB" b="0" i="1" dirty="0">
                <a:solidFill>
                  <a:schemeClr val="tx1"/>
                </a:solidFill>
                <a:effectLst/>
                <a:latin typeface="Tenorite(body)"/>
              </a:rPr>
              <a:t>condition</a:t>
            </a:r>
            <a:r>
              <a:rPr lang="en-GB" b="0" i="0" dirty="0">
                <a:solidFill>
                  <a:schemeClr val="tx1"/>
                </a:solidFill>
                <a:effectLst/>
                <a:latin typeface="Tenorite(body)"/>
              </a:rPr>
              <a:t>;</a:t>
            </a:r>
          </a:p>
        </p:txBody>
      </p:sp>
      <p:sp>
        <p:nvSpPr>
          <p:cNvPr id="2" name="Slide Number Placeholder 1">
            <a:extLst>
              <a:ext uri="{FF2B5EF4-FFF2-40B4-BE49-F238E27FC236}">
                <a16:creationId xmlns:a16="http://schemas.microsoft.com/office/drawing/2014/main" id="{47AF4C77-DE7E-E49B-3C81-18AA6E6E0A99}"/>
              </a:ext>
            </a:extLst>
          </p:cNvPr>
          <p:cNvSpPr>
            <a:spLocks noGrp="1"/>
          </p:cNvSpPr>
          <p:nvPr>
            <p:ph type="sldNum" sz="quarter" idx="12"/>
          </p:nvPr>
        </p:nvSpPr>
        <p:spPr/>
        <p:txBody>
          <a:bodyPr/>
          <a:lstStyle/>
          <a:p>
            <a:fld id="{186B55E0-8579-4FA9-BDC4-2D733933EE8B}" type="slidenum">
              <a:rPr lang="en-US" sz="1400" smtClean="0"/>
              <a:t>9</a:t>
            </a:fld>
            <a:endParaRPr lang="en-US" sz="1400" dirty="0"/>
          </a:p>
        </p:txBody>
      </p:sp>
    </p:spTree>
    <p:extLst>
      <p:ext uri="{BB962C8B-B14F-4D97-AF65-F5344CB8AC3E}">
        <p14:creationId xmlns:p14="http://schemas.microsoft.com/office/powerpoint/2010/main" val="3512473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A24AEE-25A3-47DF-9752-3690EE8A82E0}"/>
              </a:ext>
            </a:extLst>
          </p:cNvPr>
          <p:cNvSpPr>
            <a:spLocks noGrp="1"/>
          </p:cNvSpPr>
          <p:nvPr>
            <p:ph idx="1"/>
          </p:nvPr>
        </p:nvSpPr>
        <p:spPr>
          <a:xfrm>
            <a:off x="1747456" y="970344"/>
            <a:ext cx="9780848" cy="5577849"/>
          </a:xfrm>
        </p:spPr>
        <p:txBody>
          <a:bodyPr>
            <a:noAutofit/>
          </a:bodyPr>
          <a:lstStyle/>
          <a:p>
            <a:pPr marL="0" indent="0" algn="l">
              <a:buNone/>
            </a:pPr>
            <a:r>
              <a:rPr lang="en-US" b="1" dirty="0">
                <a:solidFill>
                  <a:schemeClr val="tx1"/>
                </a:solidFill>
                <a:latin typeface="Tenorite(body)"/>
              </a:rPr>
              <a:t>36. What is t</a:t>
            </a:r>
            <a:r>
              <a:rPr lang="en-US" b="1" i="0" dirty="0">
                <a:solidFill>
                  <a:schemeClr val="tx1"/>
                </a:solidFill>
                <a:effectLst/>
                <a:latin typeface="Tenorite(body)"/>
              </a:rPr>
              <a:t>he SQL COUNT() ?</a:t>
            </a:r>
          </a:p>
          <a:p>
            <a:pPr marL="0" indent="0">
              <a:buNone/>
            </a:pPr>
            <a:r>
              <a:rPr lang="en-US" b="1" dirty="0">
                <a:solidFill>
                  <a:schemeClr val="tx1"/>
                </a:solidFill>
                <a:latin typeface="Tenorite(body)"/>
              </a:rPr>
              <a:t>Ans</a:t>
            </a:r>
            <a:r>
              <a:rPr lang="en-US" dirty="0">
                <a:solidFill>
                  <a:schemeClr val="tx1"/>
                </a:solidFill>
                <a:latin typeface="Tenorite(body)"/>
              </a:rPr>
              <a:t> : </a:t>
            </a:r>
            <a:r>
              <a:rPr lang="en-GB" b="0" i="0" dirty="0">
                <a:solidFill>
                  <a:schemeClr val="tx1"/>
                </a:solidFill>
                <a:effectLst/>
                <a:latin typeface="Tenorite(body)"/>
              </a:rPr>
              <a:t>SELECT COUNT(</a:t>
            </a:r>
            <a:r>
              <a:rPr lang="en-GB" b="0" i="1" dirty="0" err="1">
                <a:solidFill>
                  <a:schemeClr val="tx1"/>
                </a:solidFill>
                <a:effectLst/>
                <a:latin typeface="Tenorite(body)"/>
              </a:rPr>
              <a:t>column_name</a:t>
            </a:r>
            <a:r>
              <a:rPr lang="en-GB" b="0" i="0" dirty="0">
                <a:solidFill>
                  <a:schemeClr val="tx1"/>
                </a:solidFill>
                <a:effectLst/>
                <a:latin typeface="Tenorite(body)"/>
              </a:rPr>
              <a:t>)</a:t>
            </a:r>
            <a:br>
              <a:rPr lang="en-GB" dirty="0">
                <a:solidFill>
                  <a:schemeClr val="tx1"/>
                </a:solidFill>
                <a:latin typeface="Tenorite(body)"/>
              </a:rPr>
            </a:br>
            <a:r>
              <a:rPr lang="en-GB" b="0" i="0" dirty="0">
                <a:solidFill>
                  <a:schemeClr val="tx1"/>
                </a:solidFill>
                <a:effectLst/>
                <a:latin typeface="Tenorite(body)"/>
              </a:rPr>
              <a:t>FROM </a:t>
            </a:r>
            <a:r>
              <a:rPr lang="en-GB" b="0" i="1" dirty="0" err="1">
                <a:solidFill>
                  <a:schemeClr val="tx1"/>
                </a:solidFill>
                <a:effectLst/>
                <a:latin typeface="Tenorite(body)"/>
              </a:rPr>
              <a:t>table_name</a:t>
            </a:r>
            <a:br>
              <a:rPr lang="en-GB" dirty="0">
                <a:solidFill>
                  <a:schemeClr val="tx1"/>
                </a:solidFill>
                <a:latin typeface="Tenorite(body)"/>
              </a:rPr>
            </a:br>
            <a:r>
              <a:rPr lang="en-GB" b="0" i="0" dirty="0">
                <a:solidFill>
                  <a:schemeClr val="tx1"/>
                </a:solidFill>
                <a:effectLst/>
                <a:latin typeface="Tenorite(body)"/>
              </a:rPr>
              <a:t>WHERE </a:t>
            </a:r>
            <a:r>
              <a:rPr lang="en-GB" b="0" i="1" dirty="0">
                <a:solidFill>
                  <a:schemeClr val="tx1"/>
                </a:solidFill>
                <a:effectLst/>
                <a:latin typeface="Tenorite(body)"/>
              </a:rPr>
              <a:t>condition</a:t>
            </a:r>
            <a:r>
              <a:rPr lang="en-GB" b="0" i="0" dirty="0">
                <a:solidFill>
                  <a:schemeClr val="tx1"/>
                </a:solidFill>
                <a:effectLst/>
                <a:latin typeface="Tenorite(body)"/>
              </a:rPr>
              <a:t>;</a:t>
            </a:r>
            <a:endParaRPr lang="en-US" dirty="0">
              <a:solidFill>
                <a:schemeClr val="tx1"/>
              </a:solidFill>
              <a:latin typeface="Tenorite(body)"/>
            </a:endParaRPr>
          </a:p>
          <a:p>
            <a:pPr marL="0" indent="0">
              <a:buNone/>
            </a:pPr>
            <a:r>
              <a:rPr lang="en-US" b="1" i="0" dirty="0">
                <a:solidFill>
                  <a:schemeClr val="tx1"/>
                </a:solidFill>
                <a:effectLst/>
                <a:latin typeface="Tenorite(body)"/>
              </a:rPr>
              <a:t>37. </a:t>
            </a:r>
            <a:r>
              <a:rPr lang="en-US" b="1" dirty="0">
                <a:solidFill>
                  <a:schemeClr val="tx1"/>
                </a:solidFill>
                <a:latin typeface="Tenorite(body)"/>
              </a:rPr>
              <a:t>What is t</a:t>
            </a:r>
            <a:r>
              <a:rPr lang="en-US" b="1" i="0" dirty="0">
                <a:solidFill>
                  <a:schemeClr val="tx1"/>
                </a:solidFill>
                <a:effectLst/>
                <a:latin typeface="Tenorite(body)"/>
              </a:rPr>
              <a:t>he SQL AVG() ?</a:t>
            </a:r>
          </a:p>
          <a:p>
            <a:pPr marL="0" indent="0">
              <a:buNone/>
            </a:pPr>
            <a:r>
              <a:rPr lang="en-US" b="1" i="0" dirty="0">
                <a:solidFill>
                  <a:schemeClr val="tx1"/>
                </a:solidFill>
                <a:effectLst/>
                <a:latin typeface="Tenorite(body)"/>
              </a:rPr>
              <a:t>Ans</a:t>
            </a:r>
            <a:r>
              <a:rPr lang="en-US" b="0" i="0" dirty="0">
                <a:solidFill>
                  <a:schemeClr val="tx1"/>
                </a:solidFill>
                <a:effectLst/>
                <a:latin typeface="Tenorite(body)"/>
              </a:rPr>
              <a:t>:  </a:t>
            </a:r>
            <a:r>
              <a:rPr lang="en-GB" b="0" i="0" dirty="0">
                <a:solidFill>
                  <a:schemeClr val="tx1"/>
                </a:solidFill>
                <a:effectLst/>
                <a:latin typeface="Tenorite(body)"/>
              </a:rPr>
              <a:t>SELECT AVG(</a:t>
            </a:r>
            <a:r>
              <a:rPr lang="en-GB" b="0" i="1" dirty="0" err="1">
                <a:solidFill>
                  <a:schemeClr val="tx1"/>
                </a:solidFill>
                <a:effectLst/>
                <a:latin typeface="Tenorite(body)"/>
              </a:rPr>
              <a:t>column_name</a:t>
            </a:r>
            <a:r>
              <a:rPr lang="en-GB" b="0" i="0" dirty="0">
                <a:solidFill>
                  <a:schemeClr val="tx1"/>
                </a:solidFill>
                <a:effectLst/>
                <a:latin typeface="Tenorite(body)"/>
              </a:rPr>
              <a:t>)</a:t>
            </a:r>
            <a:br>
              <a:rPr lang="en-GB" dirty="0">
                <a:solidFill>
                  <a:schemeClr val="tx1"/>
                </a:solidFill>
                <a:latin typeface="Tenorite(body)"/>
              </a:rPr>
            </a:br>
            <a:r>
              <a:rPr lang="en-GB" b="0" i="0" dirty="0">
                <a:solidFill>
                  <a:schemeClr val="tx1"/>
                </a:solidFill>
                <a:effectLst/>
                <a:latin typeface="Tenorite(body)"/>
              </a:rPr>
              <a:t>FROM </a:t>
            </a:r>
            <a:r>
              <a:rPr lang="en-GB" b="0" i="1" dirty="0" err="1">
                <a:solidFill>
                  <a:schemeClr val="tx1"/>
                </a:solidFill>
                <a:effectLst/>
                <a:latin typeface="Tenorite(body)"/>
              </a:rPr>
              <a:t>table_name</a:t>
            </a:r>
            <a:br>
              <a:rPr lang="en-GB" dirty="0">
                <a:solidFill>
                  <a:schemeClr val="tx1"/>
                </a:solidFill>
                <a:latin typeface="Tenorite(body)"/>
              </a:rPr>
            </a:br>
            <a:r>
              <a:rPr lang="en-GB" b="0" i="0" dirty="0">
                <a:solidFill>
                  <a:schemeClr val="tx1"/>
                </a:solidFill>
                <a:effectLst/>
                <a:latin typeface="Tenorite(body)"/>
              </a:rPr>
              <a:t>WHERE </a:t>
            </a:r>
            <a:r>
              <a:rPr lang="en-GB" b="0" i="1" dirty="0">
                <a:solidFill>
                  <a:schemeClr val="tx1"/>
                </a:solidFill>
                <a:effectLst/>
                <a:latin typeface="Tenorite(body)"/>
              </a:rPr>
              <a:t>condition</a:t>
            </a:r>
            <a:r>
              <a:rPr lang="en-GB" b="0" i="0" dirty="0">
                <a:solidFill>
                  <a:schemeClr val="tx1"/>
                </a:solidFill>
                <a:effectLst/>
                <a:latin typeface="Tenorite(body)"/>
              </a:rPr>
              <a:t>;</a:t>
            </a:r>
          </a:p>
          <a:p>
            <a:pPr marL="0" indent="0">
              <a:buNone/>
            </a:pPr>
            <a:r>
              <a:rPr lang="en-GB" b="1" dirty="0">
                <a:solidFill>
                  <a:schemeClr val="tx1"/>
                </a:solidFill>
                <a:latin typeface="Tenorite(body)"/>
              </a:rPr>
              <a:t>38.</a:t>
            </a:r>
            <a:r>
              <a:rPr lang="en-US" b="1" i="0" dirty="0">
                <a:solidFill>
                  <a:schemeClr val="tx1"/>
                </a:solidFill>
                <a:effectLst/>
                <a:latin typeface="Tenorite(body)"/>
              </a:rPr>
              <a:t> </a:t>
            </a:r>
            <a:r>
              <a:rPr lang="en-US" b="1" dirty="0">
                <a:solidFill>
                  <a:schemeClr val="tx1"/>
                </a:solidFill>
                <a:latin typeface="Tenorite(body)"/>
              </a:rPr>
              <a:t>What is t</a:t>
            </a:r>
            <a:r>
              <a:rPr lang="en-US" b="1" i="0" dirty="0">
                <a:solidFill>
                  <a:schemeClr val="tx1"/>
                </a:solidFill>
                <a:effectLst/>
                <a:latin typeface="Tenorite(body)"/>
              </a:rPr>
              <a:t>he SQL SUM() ?</a:t>
            </a:r>
          </a:p>
          <a:p>
            <a:pPr marL="0" indent="0">
              <a:buNone/>
            </a:pPr>
            <a:r>
              <a:rPr lang="en-US" b="1" i="0" dirty="0">
                <a:solidFill>
                  <a:schemeClr val="tx1"/>
                </a:solidFill>
                <a:effectLst/>
                <a:latin typeface="Tenorite(body)"/>
              </a:rPr>
              <a:t>Ans</a:t>
            </a:r>
            <a:r>
              <a:rPr lang="en-US" b="0" i="0" dirty="0">
                <a:solidFill>
                  <a:schemeClr val="tx1"/>
                </a:solidFill>
                <a:effectLst/>
                <a:latin typeface="Tenorite(body)"/>
              </a:rPr>
              <a:t> : </a:t>
            </a:r>
            <a:r>
              <a:rPr lang="en-GB" b="0" i="0" dirty="0">
                <a:solidFill>
                  <a:schemeClr val="tx1"/>
                </a:solidFill>
                <a:effectLst/>
                <a:latin typeface="Tenorite(body)"/>
              </a:rPr>
              <a:t>SELECT SUM(</a:t>
            </a:r>
            <a:r>
              <a:rPr lang="en-GB" b="0" i="1" dirty="0" err="1">
                <a:solidFill>
                  <a:schemeClr val="tx1"/>
                </a:solidFill>
                <a:effectLst/>
                <a:latin typeface="Tenorite(body)"/>
              </a:rPr>
              <a:t>column_name</a:t>
            </a:r>
            <a:r>
              <a:rPr lang="en-GB" b="0" i="0" dirty="0">
                <a:solidFill>
                  <a:schemeClr val="tx1"/>
                </a:solidFill>
                <a:effectLst/>
                <a:latin typeface="Tenorite(body)"/>
              </a:rPr>
              <a:t>)</a:t>
            </a:r>
            <a:br>
              <a:rPr lang="en-GB" dirty="0">
                <a:solidFill>
                  <a:schemeClr val="tx1"/>
                </a:solidFill>
                <a:latin typeface="Tenorite(body)"/>
              </a:rPr>
            </a:br>
            <a:r>
              <a:rPr lang="en-GB" b="0" i="0" dirty="0">
                <a:solidFill>
                  <a:schemeClr val="tx1"/>
                </a:solidFill>
                <a:effectLst/>
                <a:latin typeface="Tenorite(body)"/>
              </a:rPr>
              <a:t>FROM </a:t>
            </a:r>
            <a:r>
              <a:rPr lang="en-GB" b="0" i="1" dirty="0" err="1">
                <a:solidFill>
                  <a:schemeClr val="tx1"/>
                </a:solidFill>
                <a:effectLst/>
                <a:latin typeface="Tenorite(body)"/>
              </a:rPr>
              <a:t>table_name</a:t>
            </a:r>
            <a:br>
              <a:rPr lang="en-GB" dirty="0">
                <a:solidFill>
                  <a:schemeClr val="tx1"/>
                </a:solidFill>
                <a:latin typeface="Tenorite(body)"/>
              </a:rPr>
            </a:br>
            <a:r>
              <a:rPr lang="en-GB" b="0" i="0" dirty="0">
                <a:solidFill>
                  <a:schemeClr val="tx1"/>
                </a:solidFill>
                <a:effectLst/>
                <a:latin typeface="Tenorite(body)"/>
              </a:rPr>
              <a:t>WHERE </a:t>
            </a:r>
            <a:r>
              <a:rPr lang="en-GB" b="0" i="1" dirty="0">
                <a:solidFill>
                  <a:schemeClr val="tx1"/>
                </a:solidFill>
                <a:effectLst/>
                <a:latin typeface="Tenorite(body)"/>
              </a:rPr>
              <a:t>condition</a:t>
            </a:r>
            <a:r>
              <a:rPr lang="en-GB" b="0" i="0" dirty="0">
                <a:solidFill>
                  <a:schemeClr val="tx1"/>
                </a:solidFill>
                <a:effectLst/>
                <a:latin typeface="Tenorite(body)"/>
              </a:rPr>
              <a:t>;</a:t>
            </a:r>
            <a:endParaRPr lang="en-US" b="0" i="0" dirty="0">
              <a:solidFill>
                <a:schemeClr val="tx1"/>
              </a:solidFill>
              <a:effectLst/>
              <a:latin typeface="Tenorite(body)"/>
            </a:endParaRPr>
          </a:p>
          <a:p>
            <a:pPr marL="0" indent="0">
              <a:buNone/>
            </a:pPr>
            <a:r>
              <a:rPr lang="en-US" b="1" dirty="0">
                <a:solidFill>
                  <a:schemeClr val="tx1"/>
                </a:solidFill>
                <a:latin typeface="Tenorite(body)"/>
              </a:rPr>
              <a:t>39. What is</a:t>
            </a:r>
            <a:r>
              <a:rPr lang="en-GB" b="1" dirty="0">
                <a:solidFill>
                  <a:schemeClr val="tx1"/>
                </a:solidFill>
                <a:latin typeface="Tenorite(body)"/>
              </a:rPr>
              <a:t> the SQL IN Operator?</a:t>
            </a:r>
          </a:p>
          <a:p>
            <a:pPr marL="0" indent="0">
              <a:buNone/>
            </a:pPr>
            <a:r>
              <a:rPr lang="en-GB" b="1" dirty="0">
                <a:solidFill>
                  <a:schemeClr val="tx1"/>
                </a:solidFill>
                <a:latin typeface="Tenorite(body)"/>
              </a:rPr>
              <a:t>Ans</a:t>
            </a:r>
            <a:r>
              <a:rPr lang="en-GB" dirty="0">
                <a:solidFill>
                  <a:schemeClr val="tx1"/>
                </a:solidFill>
                <a:latin typeface="Tenorite(body)"/>
              </a:rPr>
              <a:t> : The IN operator allows you to specify multiple values in a WHERE clause.</a:t>
            </a:r>
          </a:p>
          <a:p>
            <a:pPr marL="0" indent="0">
              <a:buNone/>
            </a:pPr>
            <a:r>
              <a:rPr lang="en-GB" sz="1800" b="1" dirty="0">
                <a:solidFill>
                  <a:schemeClr val="tx1"/>
                </a:solidFill>
                <a:latin typeface="Tenorite(body)"/>
              </a:rPr>
              <a:t>40. SQL INNER JOIN Keyword</a:t>
            </a:r>
          </a:p>
          <a:p>
            <a:pPr marL="0" indent="0">
              <a:buNone/>
            </a:pPr>
            <a:r>
              <a:rPr lang="en-GB" sz="1800" b="1" dirty="0">
                <a:solidFill>
                  <a:schemeClr val="tx1"/>
                </a:solidFill>
                <a:latin typeface="Tenorite(body)"/>
              </a:rPr>
              <a:t>Ans</a:t>
            </a:r>
            <a:r>
              <a:rPr lang="en-GB" sz="1800" dirty="0">
                <a:solidFill>
                  <a:schemeClr val="tx1"/>
                </a:solidFill>
                <a:latin typeface="Tenorite(body)"/>
              </a:rPr>
              <a:t> : The INNER JOIN keyword selects records that have matching values in both tables.</a:t>
            </a:r>
          </a:p>
          <a:p>
            <a:pPr marL="0" indent="0">
              <a:buNone/>
            </a:pPr>
            <a:endParaRPr lang="en-GB" sz="1800" b="1" dirty="0">
              <a:solidFill>
                <a:schemeClr val="tx1"/>
              </a:solidFill>
              <a:latin typeface="Tenorite(body)"/>
            </a:endParaRPr>
          </a:p>
          <a:p>
            <a:pPr marL="0" indent="0">
              <a:buNone/>
            </a:pPr>
            <a:endParaRPr lang="en-GB" sz="1800" b="1" dirty="0">
              <a:solidFill>
                <a:schemeClr val="tx1"/>
              </a:solidFill>
            </a:endParaRPr>
          </a:p>
          <a:p>
            <a:pPr marL="0" indent="0">
              <a:buNone/>
            </a:pPr>
            <a:endParaRPr lang="en-GB" dirty="0">
              <a:solidFill>
                <a:schemeClr val="tx1"/>
              </a:solidFill>
              <a:latin typeface="Tenorite(body)"/>
            </a:endParaRPr>
          </a:p>
        </p:txBody>
      </p:sp>
      <p:sp>
        <p:nvSpPr>
          <p:cNvPr id="5" name="Slide Number Placeholder 4">
            <a:extLst>
              <a:ext uri="{FF2B5EF4-FFF2-40B4-BE49-F238E27FC236}">
                <a16:creationId xmlns:a16="http://schemas.microsoft.com/office/drawing/2014/main" id="{BCC30AA7-9A85-02AA-7DF1-5CA3ED33D986}"/>
              </a:ext>
            </a:extLst>
          </p:cNvPr>
          <p:cNvSpPr>
            <a:spLocks noGrp="1"/>
          </p:cNvSpPr>
          <p:nvPr>
            <p:ph type="sldNum" sz="quarter" idx="12"/>
          </p:nvPr>
        </p:nvSpPr>
        <p:spPr/>
        <p:txBody>
          <a:bodyPr/>
          <a:lstStyle/>
          <a:p>
            <a:fld id="{186B55E0-8579-4FA9-BDC4-2D733933EE8B}" type="slidenum">
              <a:rPr lang="en-US" sz="1400" smtClean="0"/>
              <a:t>10</a:t>
            </a:fld>
            <a:endParaRPr lang="en-US" sz="1400" dirty="0"/>
          </a:p>
        </p:txBody>
      </p:sp>
    </p:spTree>
    <p:extLst>
      <p:ext uri="{BB962C8B-B14F-4D97-AF65-F5344CB8AC3E}">
        <p14:creationId xmlns:p14="http://schemas.microsoft.com/office/powerpoint/2010/main" val="4185208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1A20B-2AF0-4589-9909-5C2FC2CA8535}"/>
              </a:ext>
            </a:extLst>
          </p:cNvPr>
          <p:cNvSpPr>
            <a:spLocks noGrp="1"/>
          </p:cNvSpPr>
          <p:nvPr>
            <p:ph idx="1"/>
          </p:nvPr>
        </p:nvSpPr>
        <p:spPr>
          <a:xfrm>
            <a:off x="1900665" y="970344"/>
            <a:ext cx="10212204" cy="5621122"/>
          </a:xfrm>
        </p:spPr>
        <p:txBody>
          <a:bodyPr>
            <a:noAutofit/>
          </a:bodyPr>
          <a:lstStyle/>
          <a:p>
            <a:pPr marL="0" indent="0">
              <a:buNone/>
            </a:pPr>
            <a:r>
              <a:rPr lang="en-GB" b="1" dirty="0">
                <a:solidFill>
                  <a:schemeClr val="tx1"/>
                </a:solidFill>
                <a:latin typeface="Tenorite(body)"/>
              </a:rPr>
              <a:t>41. Give an example of IN operator.</a:t>
            </a:r>
          </a:p>
          <a:p>
            <a:pPr marL="0" indent="0">
              <a:buNone/>
            </a:pPr>
            <a:r>
              <a:rPr lang="en-GB" b="1" dirty="0">
                <a:solidFill>
                  <a:schemeClr val="tx1"/>
                </a:solidFill>
                <a:latin typeface="Tenorite(body)"/>
              </a:rPr>
              <a:t>Ans</a:t>
            </a:r>
            <a:r>
              <a:rPr lang="en-GB" dirty="0">
                <a:solidFill>
                  <a:schemeClr val="tx1"/>
                </a:solidFill>
                <a:latin typeface="Tenorite(body)"/>
              </a:rPr>
              <a:t> : </a:t>
            </a:r>
            <a:r>
              <a:rPr lang="en-GB" b="0" i="0" dirty="0">
                <a:solidFill>
                  <a:schemeClr val="tx1"/>
                </a:solidFill>
                <a:effectLst/>
                <a:latin typeface="Tenorite(body)"/>
              </a:rPr>
              <a:t>SELECT </a:t>
            </a:r>
            <a:r>
              <a:rPr lang="en-GB" b="0" i="1" dirty="0" err="1">
                <a:solidFill>
                  <a:schemeClr val="tx1"/>
                </a:solidFill>
                <a:effectLst/>
                <a:latin typeface="Tenorite(body)"/>
              </a:rPr>
              <a:t>column_name</a:t>
            </a:r>
            <a:r>
              <a:rPr lang="en-GB" b="0" i="1" dirty="0">
                <a:solidFill>
                  <a:schemeClr val="tx1"/>
                </a:solidFill>
                <a:effectLst/>
                <a:latin typeface="Tenorite(body)"/>
              </a:rPr>
              <a:t>(s)</a:t>
            </a:r>
            <a:br>
              <a:rPr lang="en-GB" dirty="0">
                <a:solidFill>
                  <a:schemeClr val="tx1"/>
                </a:solidFill>
                <a:latin typeface="Tenorite(body)"/>
              </a:rPr>
            </a:br>
            <a:r>
              <a:rPr lang="en-GB" b="0" i="0" dirty="0">
                <a:solidFill>
                  <a:schemeClr val="tx1"/>
                </a:solidFill>
                <a:effectLst/>
                <a:latin typeface="Tenorite(body)"/>
              </a:rPr>
              <a:t>FROM </a:t>
            </a:r>
            <a:r>
              <a:rPr lang="en-GB" b="0" i="1" dirty="0" err="1">
                <a:solidFill>
                  <a:schemeClr val="tx1"/>
                </a:solidFill>
                <a:effectLst/>
                <a:latin typeface="Tenorite(body)"/>
              </a:rPr>
              <a:t>table_name</a:t>
            </a:r>
            <a:br>
              <a:rPr lang="en-GB" dirty="0">
                <a:solidFill>
                  <a:schemeClr val="tx1"/>
                </a:solidFill>
                <a:latin typeface="Tenorite(body)"/>
              </a:rPr>
            </a:br>
            <a:r>
              <a:rPr lang="en-GB" b="0" i="0" dirty="0">
                <a:solidFill>
                  <a:schemeClr val="tx1"/>
                </a:solidFill>
                <a:effectLst/>
                <a:latin typeface="Tenorite(body)"/>
              </a:rPr>
              <a:t>WHERE </a:t>
            </a:r>
            <a:r>
              <a:rPr lang="en-GB" b="0" i="1" dirty="0" err="1">
                <a:solidFill>
                  <a:schemeClr val="tx1"/>
                </a:solidFill>
                <a:effectLst/>
                <a:latin typeface="Tenorite(body)"/>
              </a:rPr>
              <a:t>column_name</a:t>
            </a:r>
            <a:r>
              <a:rPr lang="en-GB" b="0" i="0" dirty="0">
                <a:solidFill>
                  <a:schemeClr val="tx1"/>
                </a:solidFill>
                <a:effectLst/>
                <a:latin typeface="Tenorite(body)"/>
              </a:rPr>
              <a:t> IN (</a:t>
            </a:r>
            <a:r>
              <a:rPr lang="en-GB" b="0" i="1" dirty="0">
                <a:solidFill>
                  <a:schemeClr val="tx1"/>
                </a:solidFill>
                <a:effectLst/>
                <a:latin typeface="Tenorite(body)"/>
              </a:rPr>
              <a:t>value1</a:t>
            </a:r>
            <a:r>
              <a:rPr lang="en-GB" b="0" i="0" dirty="0">
                <a:solidFill>
                  <a:schemeClr val="tx1"/>
                </a:solidFill>
                <a:effectLst/>
                <a:latin typeface="Tenorite(body)"/>
              </a:rPr>
              <a:t>,</a:t>
            </a:r>
            <a:r>
              <a:rPr lang="en-GB" b="0" i="1" dirty="0">
                <a:solidFill>
                  <a:schemeClr val="tx1"/>
                </a:solidFill>
                <a:effectLst/>
                <a:latin typeface="Tenorite(body)"/>
              </a:rPr>
              <a:t> value2</a:t>
            </a:r>
            <a:r>
              <a:rPr lang="en-GB" b="0" i="0" dirty="0">
                <a:solidFill>
                  <a:schemeClr val="tx1"/>
                </a:solidFill>
                <a:effectLst/>
                <a:latin typeface="Tenorite(body)"/>
              </a:rPr>
              <a:t>, ...);</a:t>
            </a:r>
          </a:p>
          <a:p>
            <a:pPr marL="0" indent="0">
              <a:buNone/>
            </a:pPr>
            <a:r>
              <a:rPr lang="en-GB" b="1" dirty="0">
                <a:solidFill>
                  <a:schemeClr val="tx1"/>
                </a:solidFill>
                <a:latin typeface="Tenorite(body)"/>
              </a:rPr>
              <a:t>42. </a:t>
            </a:r>
            <a:r>
              <a:rPr lang="en-US" b="1" dirty="0">
                <a:solidFill>
                  <a:schemeClr val="tx1"/>
                </a:solidFill>
                <a:latin typeface="Tenorite(body)"/>
              </a:rPr>
              <a:t>Give an example of INNER JOIN.</a:t>
            </a:r>
          </a:p>
          <a:p>
            <a:pPr marL="0" indent="0">
              <a:buNone/>
            </a:pPr>
            <a:r>
              <a:rPr lang="en-US" b="1" dirty="0">
                <a:solidFill>
                  <a:schemeClr val="tx1"/>
                </a:solidFill>
                <a:latin typeface="Tenorite(body)"/>
              </a:rPr>
              <a:t>Ans</a:t>
            </a:r>
            <a:r>
              <a:rPr lang="en-US" dirty="0">
                <a:solidFill>
                  <a:schemeClr val="tx1"/>
                </a:solidFill>
                <a:latin typeface="Tenorite(body)"/>
              </a:rPr>
              <a:t> : </a:t>
            </a:r>
            <a:r>
              <a:rPr lang="en-GB" b="0" i="0" dirty="0">
                <a:solidFill>
                  <a:schemeClr val="tx1"/>
                </a:solidFill>
                <a:effectLst/>
                <a:latin typeface="Tenorite(body)"/>
              </a:rPr>
              <a:t>SELECT </a:t>
            </a:r>
            <a:r>
              <a:rPr lang="en-GB" b="0" i="1" dirty="0" err="1">
                <a:solidFill>
                  <a:schemeClr val="tx1"/>
                </a:solidFill>
                <a:effectLst/>
                <a:latin typeface="Tenorite(body)"/>
              </a:rPr>
              <a:t>column_name</a:t>
            </a:r>
            <a:r>
              <a:rPr lang="en-GB" b="0" i="1" dirty="0">
                <a:solidFill>
                  <a:schemeClr val="tx1"/>
                </a:solidFill>
                <a:effectLst/>
                <a:latin typeface="Tenorite(body)"/>
              </a:rPr>
              <a:t>(s)</a:t>
            </a:r>
            <a:br>
              <a:rPr lang="en-GB" dirty="0">
                <a:solidFill>
                  <a:schemeClr val="tx1"/>
                </a:solidFill>
                <a:latin typeface="Tenorite(body)"/>
              </a:rPr>
            </a:br>
            <a:r>
              <a:rPr lang="en-GB" b="0" i="0" dirty="0">
                <a:solidFill>
                  <a:schemeClr val="tx1"/>
                </a:solidFill>
                <a:effectLst/>
                <a:latin typeface="Tenorite(body)"/>
              </a:rPr>
              <a:t>FROM </a:t>
            </a:r>
            <a:r>
              <a:rPr lang="en-GB" b="0" i="1" dirty="0">
                <a:solidFill>
                  <a:schemeClr val="tx1"/>
                </a:solidFill>
                <a:effectLst/>
                <a:latin typeface="Tenorite(body)"/>
              </a:rPr>
              <a:t>table1</a:t>
            </a:r>
            <a:br>
              <a:rPr lang="en-GB" dirty="0">
                <a:solidFill>
                  <a:schemeClr val="tx1"/>
                </a:solidFill>
                <a:latin typeface="Tenorite(body)"/>
              </a:rPr>
            </a:br>
            <a:r>
              <a:rPr lang="en-GB" b="0" i="0" dirty="0">
                <a:solidFill>
                  <a:schemeClr val="tx1"/>
                </a:solidFill>
                <a:effectLst/>
                <a:latin typeface="Tenorite(body)"/>
              </a:rPr>
              <a:t>INNER JOIN </a:t>
            </a:r>
            <a:r>
              <a:rPr lang="en-GB" b="0" i="1" dirty="0">
                <a:solidFill>
                  <a:schemeClr val="tx1"/>
                </a:solidFill>
                <a:effectLst/>
                <a:latin typeface="Tenorite(body)"/>
              </a:rPr>
              <a:t>table2</a:t>
            </a:r>
            <a:br>
              <a:rPr lang="en-GB" b="0" i="1" dirty="0">
                <a:solidFill>
                  <a:schemeClr val="tx1"/>
                </a:solidFill>
                <a:effectLst/>
                <a:latin typeface="Tenorite(body)"/>
              </a:rPr>
            </a:br>
            <a:r>
              <a:rPr lang="en-GB" b="0" i="0" dirty="0">
                <a:solidFill>
                  <a:schemeClr val="tx1"/>
                </a:solidFill>
                <a:effectLst/>
                <a:latin typeface="Tenorite(body)"/>
              </a:rPr>
              <a:t>ON </a:t>
            </a:r>
            <a:r>
              <a:rPr lang="en-GB" b="0" i="1" dirty="0">
                <a:solidFill>
                  <a:schemeClr val="tx1"/>
                </a:solidFill>
                <a:effectLst/>
                <a:latin typeface="Tenorite(body)"/>
              </a:rPr>
              <a:t>table1.column_name </a:t>
            </a:r>
            <a:r>
              <a:rPr lang="en-GB" b="0" i="0" dirty="0">
                <a:solidFill>
                  <a:schemeClr val="tx1"/>
                </a:solidFill>
                <a:effectLst/>
                <a:latin typeface="Tenorite(body)"/>
              </a:rPr>
              <a:t>=</a:t>
            </a:r>
            <a:r>
              <a:rPr lang="en-GB" b="0" i="1" dirty="0">
                <a:solidFill>
                  <a:schemeClr val="tx1"/>
                </a:solidFill>
                <a:effectLst/>
                <a:latin typeface="Tenorite(body)"/>
              </a:rPr>
              <a:t> table2.column_name</a:t>
            </a:r>
            <a:r>
              <a:rPr lang="en-GB" b="0" i="0" dirty="0">
                <a:solidFill>
                  <a:schemeClr val="tx1"/>
                </a:solidFill>
                <a:effectLst/>
                <a:latin typeface="Tenorite(body)"/>
              </a:rPr>
              <a:t>;</a:t>
            </a:r>
          </a:p>
          <a:p>
            <a:pPr marL="0" indent="0">
              <a:buNone/>
            </a:pPr>
            <a:r>
              <a:rPr lang="en-GB" b="1" dirty="0">
                <a:solidFill>
                  <a:schemeClr val="tx1"/>
                </a:solidFill>
                <a:latin typeface="Tenorite(body)"/>
              </a:rPr>
              <a:t>43. What is  SQL LEFT JOIN Keyword?</a:t>
            </a:r>
          </a:p>
          <a:p>
            <a:pPr marL="0" indent="0">
              <a:buNone/>
            </a:pPr>
            <a:r>
              <a:rPr lang="en-GB" b="1" dirty="0">
                <a:solidFill>
                  <a:schemeClr val="tx1"/>
                </a:solidFill>
                <a:latin typeface="Tenorite(body)"/>
              </a:rPr>
              <a:t>Ans</a:t>
            </a:r>
            <a:r>
              <a:rPr lang="en-GB" dirty="0">
                <a:solidFill>
                  <a:schemeClr val="tx1"/>
                </a:solidFill>
                <a:latin typeface="Tenorite(body)"/>
              </a:rPr>
              <a:t> : The LEFT JOIN keyword returns all records from the left table (table1), and the matching records from the right table (table2). The result is 0 records from the right side, if there is no match.</a:t>
            </a:r>
          </a:p>
          <a:p>
            <a:pPr marL="0" indent="0">
              <a:buNone/>
            </a:pPr>
            <a:r>
              <a:rPr lang="en-GB" b="1" dirty="0">
                <a:solidFill>
                  <a:schemeClr val="tx1"/>
                </a:solidFill>
                <a:latin typeface="Tenorite(body)"/>
              </a:rPr>
              <a:t>45. What is the SQL DROP TABLE Statement?</a:t>
            </a:r>
          </a:p>
          <a:p>
            <a:pPr marL="0" indent="0">
              <a:buNone/>
            </a:pPr>
            <a:r>
              <a:rPr lang="en-GB" b="1" dirty="0">
                <a:solidFill>
                  <a:schemeClr val="tx1"/>
                </a:solidFill>
                <a:latin typeface="Tenorite(body)"/>
              </a:rPr>
              <a:t>Ans</a:t>
            </a:r>
            <a:r>
              <a:rPr lang="en-GB" dirty="0">
                <a:solidFill>
                  <a:schemeClr val="tx1"/>
                </a:solidFill>
                <a:latin typeface="Tenorite(body)"/>
              </a:rPr>
              <a:t> : The DROP TABLE statement is used to drop an existing table in a database. Exp: </a:t>
            </a:r>
            <a:r>
              <a:rPr lang="en-US" b="0" i="0" dirty="0">
                <a:solidFill>
                  <a:schemeClr val="tx1"/>
                </a:solidFill>
                <a:effectLst/>
                <a:latin typeface="Tenorite(body)"/>
              </a:rPr>
              <a:t>DROP TABLE </a:t>
            </a:r>
            <a:r>
              <a:rPr lang="en-US" b="0" i="1" dirty="0" err="1">
                <a:solidFill>
                  <a:schemeClr val="tx1"/>
                </a:solidFill>
                <a:effectLst/>
                <a:latin typeface="Tenorite(body)"/>
              </a:rPr>
              <a:t>table_name</a:t>
            </a:r>
            <a:r>
              <a:rPr lang="en-US" b="0" i="0" dirty="0">
                <a:solidFill>
                  <a:schemeClr val="tx1"/>
                </a:solidFill>
                <a:effectLst/>
                <a:latin typeface="Tenorite(body)"/>
              </a:rPr>
              <a:t>;</a:t>
            </a:r>
            <a:endParaRPr lang="en-GB" dirty="0">
              <a:solidFill>
                <a:schemeClr val="tx1"/>
              </a:solidFill>
              <a:latin typeface="Tenorite(body)"/>
            </a:endParaRPr>
          </a:p>
        </p:txBody>
      </p:sp>
      <p:sp>
        <p:nvSpPr>
          <p:cNvPr id="2" name="Slide Number Placeholder 1">
            <a:extLst>
              <a:ext uri="{FF2B5EF4-FFF2-40B4-BE49-F238E27FC236}">
                <a16:creationId xmlns:a16="http://schemas.microsoft.com/office/drawing/2014/main" id="{6947D920-7A2E-0CCA-8528-739487C57E48}"/>
              </a:ext>
            </a:extLst>
          </p:cNvPr>
          <p:cNvSpPr>
            <a:spLocks noGrp="1"/>
          </p:cNvSpPr>
          <p:nvPr>
            <p:ph type="sldNum" sz="quarter" idx="12"/>
          </p:nvPr>
        </p:nvSpPr>
        <p:spPr/>
        <p:txBody>
          <a:bodyPr/>
          <a:lstStyle/>
          <a:p>
            <a:fld id="{186B55E0-8579-4FA9-BDC4-2D733933EE8B}" type="slidenum">
              <a:rPr lang="en-US" sz="1400" smtClean="0"/>
              <a:t>11</a:t>
            </a:fld>
            <a:endParaRPr lang="en-US" sz="1400" dirty="0"/>
          </a:p>
        </p:txBody>
      </p:sp>
    </p:spTree>
    <p:extLst>
      <p:ext uri="{BB962C8B-B14F-4D97-AF65-F5344CB8AC3E}">
        <p14:creationId xmlns:p14="http://schemas.microsoft.com/office/powerpoint/2010/main" val="306121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A1FE99-E2F5-46DB-9C2C-BDE94BFDD822}"/>
              </a:ext>
            </a:extLst>
          </p:cNvPr>
          <p:cNvSpPr>
            <a:spLocks noGrp="1"/>
          </p:cNvSpPr>
          <p:nvPr>
            <p:ph idx="1"/>
          </p:nvPr>
        </p:nvSpPr>
        <p:spPr>
          <a:xfrm>
            <a:off x="1707295" y="970344"/>
            <a:ext cx="9793043" cy="5621810"/>
          </a:xfrm>
        </p:spPr>
        <p:txBody>
          <a:bodyPr>
            <a:noAutofit/>
          </a:bodyPr>
          <a:lstStyle/>
          <a:p>
            <a:pPr marL="0" indent="0" algn="just">
              <a:buNone/>
            </a:pPr>
            <a:r>
              <a:rPr lang="en-GB" sz="1600" b="1" dirty="0">
                <a:solidFill>
                  <a:schemeClr val="tx1"/>
                </a:solidFill>
                <a:latin typeface="Tenorite(body)"/>
              </a:rPr>
              <a:t>46. What is the SQL DROP DATABASE Statement?</a:t>
            </a:r>
          </a:p>
          <a:p>
            <a:pPr marL="0" indent="0" algn="just">
              <a:buNone/>
            </a:pPr>
            <a:r>
              <a:rPr lang="en-GB" sz="1600" b="1" dirty="0">
                <a:solidFill>
                  <a:schemeClr val="tx1"/>
                </a:solidFill>
                <a:latin typeface="Tenorite(body)"/>
              </a:rPr>
              <a:t>Ans</a:t>
            </a:r>
            <a:r>
              <a:rPr lang="en-GB" sz="1600" dirty="0">
                <a:solidFill>
                  <a:schemeClr val="tx1"/>
                </a:solidFill>
                <a:latin typeface="Tenorite(body)"/>
              </a:rPr>
              <a:t> : The DROP DATABASE statement is used to drop an existing SQL database.</a:t>
            </a:r>
            <a:endParaRPr lang="en-US" sz="1600" b="1" dirty="0">
              <a:solidFill>
                <a:schemeClr val="tx1"/>
              </a:solidFill>
              <a:latin typeface="Tenorite(body)"/>
            </a:endParaRPr>
          </a:p>
          <a:p>
            <a:pPr marL="0" indent="0" algn="just">
              <a:buNone/>
            </a:pPr>
            <a:r>
              <a:rPr lang="en-US" sz="1600" b="1" dirty="0">
                <a:solidFill>
                  <a:schemeClr val="tx1"/>
                </a:solidFill>
                <a:latin typeface="Tenorite(body)"/>
              </a:rPr>
              <a:t>47. What is </a:t>
            </a:r>
            <a:r>
              <a:rPr lang="en-US" sz="1600" b="1" i="0" dirty="0">
                <a:solidFill>
                  <a:schemeClr val="tx1"/>
                </a:solidFill>
                <a:effectLst/>
                <a:latin typeface="Tenorite(body)"/>
              </a:rPr>
              <a:t>Trigger in SQL?</a:t>
            </a:r>
          </a:p>
          <a:p>
            <a:pPr marL="0" indent="0" algn="just">
              <a:buNone/>
            </a:pPr>
            <a:r>
              <a:rPr lang="en-US" sz="1600" b="1" dirty="0">
                <a:solidFill>
                  <a:schemeClr val="tx1"/>
                </a:solidFill>
                <a:latin typeface="Tenorite(body)"/>
              </a:rPr>
              <a:t>Ans</a:t>
            </a:r>
            <a:r>
              <a:rPr lang="en-US" sz="1600" dirty="0">
                <a:solidFill>
                  <a:schemeClr val="tx1"/>
                </a:solidFill>
                <a:latin typeface="Tenorite(body)"/>
              </a:rPr>
              <a:t> : </a:t>
            </a:r>
            <a:r>
              <a:rPr lang="en-GB" sz="1600" i="0" dirty="0">
                <a:solidFill>
                  <a:schemeClr val="tx1"/>
                </a:solidFill>
                <a:effectLst/>
                <a:latin typeface="Tenorite(body)"/>
              </a:rPr>
              <a:t>A Trigger in Structured Query Language is a set of procedural statements which are executed automatically when there is any response to certain events on the particular table in the database. Triggers are used to protect the data integrity in the database.</a:t>
            </a:r>
          </a:p>
          <a:p>
            <a:pPr marL="0" indent="0" algn="just">
              <a:buNone/>
            </a:pPr>
            <a:r>
              <a:rPr lang="en-GB" sz="1600" b="1" dirty="0">
                <a:solidFill>
                  <a:schemeClr val="tx1"/>
                </a:solidFill>
                <a:latin typeface="Tenorite(body)"/>
              </a:rPr>
              <a:t>48 . What is a recursive queries?</a:t>
            </a:r>
          </a:p>
          <a:p>
            <a:pPr marL="0" indent="0" algn="just">
              <a:buNone/>
            </a:pPr>
            <a:r>
              <a:rPr lang="en-GB" sz="1600" b="1" i="0" dirty="0">
                <a:solidFill>
                  <a:schemeClr val="tx1"/>
                </a:solidFill>
                <a:effectLst/>
                <a:latin typeface="Tenorite(body)"/>
              </a:rPr>
              <a:t>Ans</a:t>
            </a:r>
            <a:r>
              <a:rPr lang="en-GB" sz="1600" i="0" dirty="0">
                <a:solidFill>
                  <a:schemeClr val="tx1"/>
                </a:solidFill>
                <a:effectLst/>
                <a:latin typeface="Tenorite(body)"/>
              </a:rPr>
              <a:t> : A recursive query is one that is defined by a Union All with an initialization </a:t>
            </a:r>
            <a:r>
              <a:rPr lang="en-GB" sz="1600" i="0" dirty="0" err="1">
                <a:solidFill>
                  <a:schemeClr val="tx1"/>
                </a:solidFill>
                <a:effectLst/>
                <a:latin typeface="Tenorite(body)"/>
              </a:rPr>
              <a:t>fullselect</a:t>
            </a:r>
            <a:r>
              <a:rPr lang="en-GB" sz="1600" i="0" dirty="0">
                <a:solidFill>
                  <a:schemeClr val="tx1"/>
                </a:solidFill>
                <a:effectLst/>
                <a:latin typeface="Tenorite(body)"/>
              </a:rPr>
              <a:t> that seeds the recursion.</a:t>
            </a:r>
          </a:p>
          <a:p>
            <a:pPr marL="0" indent="0" algn="just">
              <a:buNone/>
            </a:pPr>
            <a:r>
              <a:rPr lang="en-GB" sz="1600" b="1" dirty="0">
                <a:solidFill>
                  <a:schemeClr val="tx1"/>
                </a:solidFill>
                <a:latin typeface="Tenorite(body)"/>
              </a:rPr>
              <a:t>49. </a:t>
            </a:r>
            <a:r>
              <a:rPr lang="en-US" sz="1600" b="1" i="0" dirty="0">
                <a:solidFill>
                  <a:schemeClr val="tx1"/>
                </a:solidFill>
                <a:effectLst/>
                <a:latin typeface="Tenorite(body)"/>
              </a:rPr>
              <a:t>What is OLAP in database system?</a:t>
            </a:r>
          </a:p>
          <a:p>
            <a:pPr marL="0" indent="0" algn="just">
              <a:buNone/>
            </a:pPr>
            <a:r>
              <a:rPr lang="en-US" sz="1600" b="1" i="0" dirty="0">
                <a:solidFill>
                  <a:schemeClr val="tx1"/>
                </a:solidFill>
                <a:effectLst/>
                <a:latin typeface="Tenorite(body)"/>
              </a:rPr>
              <a:t>Ans</a:t>
            </a:r>
            <a:r>
              <a:rPr lang="en-US" sz="1600" i="0" dirty="0">
                <a:solidFill>
                  <a:schemeClr val="tx1"/>
                </a:solidFill>
                <a:effectLst/>
                <a:latin typeface="Tenorite(body)"/>
              </a:rPr>
              <a:t> : </a:t>
            </a:r>
            <a:r>
              <a:rPr lang="en-GB" sz="1600" i="0" dirty="0">
                <a:solidFill>
                  <a:schemeClr val="tx1"/>
                </a:solidFill>
                <a:effectLst/>
                <a:latin typeface="Tenorite(body)"/>
              </a:rPr>
              <a:t>Online analytical processing (OLAP) is software technology you can use to </a:t>
            </a:r>
            <a:r>
              <a:rPr lang="en-GB" sz="1600" i="0" dirty="0" err="1">
                <a:solidFill>
                  <a:schemeClr val="tx1"/>
                </a:solidFill>
                <a:effectLst/>
                <a:latin typeface="Tenorite(body)"/>
              </a:rPr>
              <a:t>analyze</a:t>
            </a:r>
            <a:r>
              <a:rPr lang="en-GB" sz="1600" i="0" dirty="0">
                <a:solidFill>
                  <a:schemeClr val="tx1"/>
                </a:solidFill>
                <a:effectLst/>
                <a:latin typeface="Tenorite(body)"/>
              </a:rPr>
              <a:t> business data from different points of view.</a:t>
            </a:r>
          </a:p>
          <a:p>
            <a:pPr marL="0" indent="0" algn="just">
              <a:buNone/>
            </a:pPr>
            <a:r>
              <a:rPr lang="en-GB" sz="1600" b="1" dirty="0">
                <a:solidFill>
                  <a:schemeClr val="tx1"/>
                </a:solidFill>
                <a:latin typeface="Tenorite(body)"/>
              </a:rPr>
              <a:t>50. </a:t>
            </a:r>
            <a:r>
              <a:rPr lang="en-GB" sz="1600" b="1" i="0" dirty="0">
                <a:solidFill>
                  <a:schemeClr val="tx1"/>
                </a:solidFill>
                <a:effectLst/>
                <a:latin typeface="Tenorite(body)"/>
              </a:rPr>
              <a:t>What is an example of OLAP?</a:t>
            </a:r>
          </a:p>
          <a:p>
            <a:pPr marL="0" indent="0" algn="just">
              <a:buNone/>
            </a:pPr>
            <a:r>
              <a:rPr lang="en-GB" sz="1600" b="1" i="0" dirty="0">
                <a:solidFill>
                  <a:schemeClr val="tx1"/>
                </a:solidFill>
                <a:effectLst/>
                <a:latin typeface="Tenorite(body)"/>
              </a:rPr>
              <a:t>Ans</a:t>
            </a:r>
            <a:r>
              <a:rPr lang="en-GB" sz="1600" i="0" dirty="0">
                <a:solidFill>
                  <a:schemeClr val="tx1"/>
                </a:solidFill>
                <a:effectLst/>
                <a:latin typeface="Tenorite(body)"/>
              </a:rPr>
              <a:t> : Data Warehouse is the example of OLAP system.</a:t>
            </a:r>
          </a:p>
          <a:p>
            <a:pPr marL="0" indent="0" algn="just">
              <a:buNone/>
            </a:pPr>
            <a:r>
              <a:rPr lang="en-GB" sz="1600" b="1" dirty="0">
                <a:solidFill>
                  <a:schemeClr val="tx1"/>
                </a:solidFill>
                <a:latin typeface="Tenorite(body)"/>
              </a:rPr>
              <a:t>51. What is </a:t>
            </a:r>
            <a:r>
              <a:rPr lang="en-GB" sz="1600" b="1" i="0" dirty="0">
                <a:solidFill>
                  <a:schemeClr val="tx1"/>
                </a:solidFill>
                <a:effectLst/>
                <a:latin typeface="Tenorite(body)"/>
              </a:rPr>
              <a:t>Relational Algebra?</a:t>
            </a:r>
          </a:p>
          <a:p>
            <a:pPr marL="0" indent="0" algn="just">
              <a:buNone/>
            </a:pPr>
            <a:r>
              <a:rPr lang="en-GB" sz="1600" b="1" i="0" dirty="0">
                <a:solidFill>
                  <a:schemeClr val="tx1"/>
                </a:solidFill>
                <a:effectLst/>
                <a:latin typeface="Tenorite(body)"/>
              </a:rPr>
              <a:t>Ans</a:t>
            </a:r>
            <a:r>
              <a:rPr lang="en-GB" sz="1600" i="0" dirty="0">
                <a:solidFill>
                  <a:schemeClr val="tx1"/>
                </a:solidFill>
                <a:effectLst/>
                <a:latin typeface="Tenorite(body)"/>
              </a:rPr>
              <a:t>: Relational algebra is a procedural query language. It gives a step by step process to obtain the result of the query. It uses operators to perform queries.</a:t>
            </a:r>
          </a:p>
          <a:p>
            <a:pPr marL="0" indent="0" algn="just">
              <a:buNone/>
            </a:pPr>
            <a:endParaRPr lang="en-GB" sz="1600" i="0" dirty="0">
              <a:solidFill>
                <a:schemeClr val="tx1"/>
              </a:solidFill>
              <a:effectLst/>
              <a:latin typeface="Tenorite(body)"/>
            </a:endParaRPr>
          </a:p>
          <a:p>
            <a:pPr marL="0" indent="0" algn="just">
              <a:buNone/>
            </a:pPr>
            <a:endParaRPr lang="en-US" sz="1600" i="0" dirty="0">
              <a:solidFill>
                <a:schemeClr val="tx1"/>
              </a:solidFill>
              <a:effectLst/>
              <a:latin typeface="Tenorite(body)"/>
            </a:endParaRPr>
          </a:p>
        </p:txBody>
      </p:sp>
      <p:sp>
        <p:nvSpPr>
          <p:cNvPr id="2" name="Slide Number Placeholder 1">
            <a:extLst>
              <a:ext uri="{FF2B5EF4-FFF2-40B4-BE49-F238E27FC236}">
                <a16:creationId xmlns:a16="http://schemas.microsoft.com/office/drawing/2014/main" id="{08E8A0F8-A689-BC33-77B8-719D7ABB7C30}"/>
              </a:ext>
            </a:extLst>
          </p:cNvPr>
          <p:cNvSpPr>
            <a:spLocks noGrp="1"/>
          </p:cNvSpPr>
          <p:nvPr>
            <p:ph type="sldNum" sz="quarter" idx="12"/>
          </p:nvPr>
        </p:nvSpPr>
        <p:spPr/>
        <p:txBody>
          <a:bodyPr/>
          <a:lstStyle/>
          <a:p>
            <a:fld id="{186B55E0-8579-4FA9-BDC4-2D733933EE8B}" type="slidenum">
              <a:rPr lang="en-US" sz="1400" smtClean="0"/>
              <a:t>12</a:t>
            </a:fld>
            <a:endParaRPr lang="en-US" sz="1400" dirty="0"/>
          </a:p>
        </p:txBody>
      </p:sp>
    </p:spTree>
    <p:extLst>
      <p:ext uri="{BB962C8B-B14F-4D97-AF65-F5344CB8AC3E}">
        <p14:creationId xmlns:p14="http://schemas.microsoft.com/office/powerpoint/2010/main" val="3105715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D181DA-572D-4022-987A-53AC70E14A1C}"/>
              </a:ext>
            </a:extLst>
          </p:cNvPr>
          <p:cNvSpPr>
            <a:spLocks noGrp="1"/>
          </p:cNvSpPr>
          <p:nvPr>
            <p:ph idx="1"/>
          </p:nvPr>
        </p:nvSpPr>
        <p:spPr>
          <a:xfrm>
            <a:off x="1916581" y="994646"/>
            <a:ext cx="9865111" cy="5362194"/>
          </a:xfrm>
        </p:spPr>
        <p:txBody>
          <a:bodyPr>
            <a:noAutofit/>
          </a:bodyPr>
          <a:lstStyle/>
          <a:p>
            <a:pPr marL="0" indent="0" algn="just">
              <a:buNone/>
            </a:pPr>
            <a:r>
              <a:rPr lang="en-US" sz="1600" b="1" dirty="0">
                <a:solidFill>
                  <a:schemeClr val="tx1"/>
                </a:solidFill>
                <a:latin typeface="Tenorite(body)"/>
              </a:rPr>
              <a:t>52. What is Domain relational calculus?</a:t>
            </a:r>
          </a:p>
          <a:p>
            <a:pPr marL="0" indent="0" algn="just">
              <a:buNone/>
            </a:pPr>
            <a:r>
              <a:rPr lang="en-US" sz="1600" b="1" dirty="0">
                <a:solidFill>
                  <a:schemeClr val="tx1"/>
                </a:solidFill>
                <a:latin typeface="Tenorite(body)"/>
              </a:rPr>
              <a:t>Ans</a:t>
            </a:r>
            <a:r>
              <a:rPr lang="en-US" sz="1600" dirty="0">
                <a:solidFill>
                  <a:schemeClr val="tx1"/>
                </a:solidFill>
                <a:latin typeface="Tenorite(body)"/>
              </a:rPr>
              <a:t> : </a:t>
            </a:r>
            <a:r>
              <a:rPr lang="en-GB" sz="1600" i="0" dirty="0">
                <a:solidFill>
                  <a:schemeClr val="tx1"/>
                </a:solidFill>
                <a:effectLst/>
                <a:latin typeface="Tenorite(body)"/>
              </a:rPr>
              <a:t>Domain Relational Calculus is a non-procedural query language equivalent in power to Tuple Relational Calculus. </a:t>
            </a:r>
          </a:p>
          <a:p>
            <a:pPr marL="0" indent="0" algn="just">
              <a:buNone/>
            </a:pPr>
            <a:r>
              <a:rPr lang="en-GB" sz="1600" b="1" dirty="0">
                <a:solidFill>
                  <a:schemeClr val="tx1"/>
                </a:solidFill>
                <a:latin typeface="Tenorite(body)"/>
              </a:rPr>
              <a:t>53. </a:t>
            </a:r>
            <a:r>
              <a:rPr lang="en-GB" sz="1600" b="1" i="0" dirty="0">
                <a:solidFill>
                  <a:schemeClr val="tx1"/>
                </a:solidFill>
                <a:effectLst/>
                <a:latin typeface="Tenorite(body)"/>
              </a:rPr>
              <a:t>What is the ER model in DBMS?</a:t>
            </a:r>
            <a:endParaRPr lang="en-GB" sz="1600" b="1" dirty="0">
              <a:solidFill>
                <a:schemeClr val="tx1"/>
              </a:solidFill>
              <a:latin typeface="Tenorite(body)"/>
            </a:endParaRPr>
          </a:p>
          <a:p>
            <a:pPr marL="0" indent="0" algn="just">
              <a:buNone/>
            </a:pPr>
            <a:r>
              <a:rPr lang="en-GB" sz="1600" b="1" dirty="0">
                <a:solidFill>
                  <a:schemeClr val="tx1"/>
                </a:solidFill>
                <a:latin typeface="Tenorite(body)"/>
              </a:rPr>
              <a:t>Ans</a:t>
            </a:r>
            <a:r>
              <a:rPr lang="en-GB" sz="1600" dirty="0">
                <a:solidFill>
                  <a:schemeClr val="tx1"/>
                </a:solidFill>
                <a:latin typeface="Tenorite(body)"/>
              </a:rPr>
              <a:t> : </a:t>
            </a:r>
            <a:r>
              <a:rPr lang="en-GB" sz="1600" b="0" i="0" dirty="0">
                <a:solidFill>
                  <a:schemeClr val="tx1"/>
                </a:solidFill>
                <a:effectLst/>
                <a:latin typeface="Tenorite(body)"/>
              </a:rPr>
              <a:t>An Entity Relationship Diagram is </a:t>
            </a:r>
            <a:r>
              <a:rPr lang="en-GB" sz="1600" b="1" i="0" dirty="0">
                <a:solidFill>
                  <a:schemeClr val="tx1"/>
                </a:solidFill>
                <a:effectLst/>
                <a:latin typeface="Tenorite(body)"/>
              </a:rPr>
              <a:t>a diagram that represents relationships among entities in a database</a:t>
            </a:r>
            <a:r>
              <a:rPr lang="en-GB" sz="1600" b="0" i="0" dirty="0">
                <a:solidFill>
                  <a:schemeClr val="tx1"/>
                </a:solidFill>
                <a:effectLst/>
                <a:latin typeface="Tenorite(body)"/>
              </a:rPr>
              <a:t>. It is commonly known as an ER Diagram.</a:t>
            </a:r>
          </a:p>
          <a:p>
            <a:pPr marL="0" indent="0" algn="just">
              <a:buNone/>
            </a:pPr>
            <a:r>
              <a:rPr lang="en-GB" sz="1600" b="1" dirty="0">
                <a:solidFill>
                  <a:schemeClr val="tx1"/>
                </a:solidFill>
                <a:latin typeface="Tenorite(body)"/>
              </a:rPr>
              <a:t>54. What is the constraints of DBMS?</a:t>
            </a:r>
          </a:p>
          <a:p>
            <a:pPr marL="0" indent="0" algn="just">
              <a:buNone/>
            </a:pPr>
            <a:r>
              <a:rPr lang="en-GB" sz="1600" b="1" dirty="0">
                <a:solidFill>
                  <a:schemeClr val="tx1"/>
                </a:solidFill>
                <a:latin typeface="Tenorite(body)"/>
              </a:rPr>
              <a:t>Ans</a:t>
            </a:r>
            <a:r>
              <a:rPr lang="en-GB" sz="1600" dirty="0">
                <a:solidFill>
                  <a:schemeClr val="tx1"/>
                </a:solidFill>
                <a:latin typeface="Tenorite(body)"/>
              </a:rPr>
              <a:t>: </a:t>
            </a:r>
            <a:r>
              <a:rPr lang="en-GB" sz="1600" b="0" i="0" dirty="0">
                <a:solidFill>
                  <a:schemeClr val="tx1"/>
                </a:solidFill>
                <a:effectLst/>
                <a:latin typeface="Tenorite(body)"/>
              </a:rPr>
              <a:t>In DBMS (Database Management Systems), constraints are guidelines or limitations imposed on database tables to maintain the integrity, correctness, and consistency of the data</a:t>
            </a:r>
          </a:p>
          <a:p>
            <a:pPr marL="0" indent="0" algn="just">
              <a:buNone/>
            </a:pPr>
            <a:r>
              <a:rPr lang="en-GB" sz="1600" b="1" dirty="0">
                <a:solidFill>
                  <a:schemeClr val="tx1"/>
                </a:solidFill>
                <a:latin typeface="Tenorite(body)"/>
              </a:rPr>
              <a:t>55. What is the Extended ER features?</a:t>
            </a:r>
          </a:p>
          <a:p>
            <a:pPr marL="0" indent="0" algn="just">
              <a:buNone/>
            </a:pPr>
            <a:r>
              <a:rPr lang="en-GB" sz="1600" b="1" dirty="0">
                <a:solidFill>
                  <a:schemeClr val="tx1"/>
                </a:solidFill>
                <a:latin typeface="Tenorite(body)"/>
              </a:rPr>
              <a:t>Ans</a:t>
            </a:r>
            <a:r>
              <a:rPr lang="en-GB" sz="1600" dirty="0">
                <a:solidFill>
                  <a:schemeClr val="tx1"/>
                </a:solidFill>
                <a:latin typeface="Tenorite(body)"/>
              </a:rPr>
              <a:t> : </a:t>
            </a:r>
            <a:r>
              <a:rPr lang="en-GB" sz="1600" b="0" i="0" dirty="0">
                <a:solidFill>
                  <a:schemeClr val="tx1"/>
                </a:solidFill>
                <a:effectLst/>
                <a:latin typeface="Tenorite(body)"/>
              </a:rPr>
              <a:t>The extended E-R features are specialization, generalization, higher- and lower-level entity sets,.</a:t>
            </a:r>
          </a:p>
          <a:p>
            <a:pPr marL="0" indent="0" algn="just">
              <a:buNone/>
            </a:pPr>
            <a:r>
              <a:rPr lang="en-GB" sz="1600" b="1" dirty="0">
                <a:solidFill>
                  <a:schemeClr val="tx1"/>
                </a:solidFill>
                <a:latin typeface="Tenorite(body)"/>
              </a:rPr>
              <a:t>56. What is Array in SQL?</a:t>
            </a:r>
          </a:p>
          <a:p>
            <a:pPr marL="0" indent="0" algn="just">
              <a:buNone/>
            </a:pPr>
            <a:r>
              <a:rPr lang="en-GB" sz="1600" b="1" dirty="0">
                <a:solidFill>
                  <a:schemeClr val="tx1"/>
                </a:solidFill>
                <a:latin typeface="Tenorite(body)"/>
              </a:rPr>
              <a:t>Ans</a:t>
            </a:r>
            <a:r>
              <a:rPr lang="en-GB" sz="1600" dirty="0">
                <a:solidFill>
                  <a:schemeClr val="tx1"/>
                </a:solidFill>
                <a:latin typeface="Tenorite(body)"/>
              </a:rPr>
              <a:t>: </a:t>
            </a:r>
            <a:r>
              <a:rPr lang="en-GB" sz="1600" b="0" i="0" dirty="0">
                <a:solidFill>
                  <a:schemeClr val="tx1"/>
                </a:solidFill>
                <a:effectLst/>
                <a:latin typeface="Tenorite(body)"/>
              </a:rPr>
              <a:t>An array is an ordered set of elements of a single built-in data type.</a:t>
            </a:r>
            <a:endParaRPr lang="en-US" sz="1600" dirty="0">
              <a:solidFill>
                <a:schemeClr val="tx1"/>
              </a:solidFill>
              <a:latin typeface="Tenorite(body)"/>
            </a:endParaRPr>
          </a:p>
        </p:txBody>
      </p:sp>
      <p:sp>
        <p:nvSpPr>
          <p:cNvPr id="2" name="Slide Number Placeholder 1">
            <a:extLst>
              <a:ext uri="{FF2B5EF4-FFF2-40B4-BE49-F238E27FC236}">
                <a16:creationId xmlns:a16="http://schemas.microsoft.com/office/drawing/2014/main" id="{B3E4ABCB-1B03-CCDF-9B20-1C076F7C5566}"/>
              </a:ext>
            </a:extLst>
          </p:cNvPr>
          <p:cNvSpPr>
            <a:spLocks noGrp="1"/>
          </p:cNvSpPr>
          <p:nvPr>
            <p:ph type="sldNum" sz="quarter" idx="12"/>
          </p:nvPr>
        </p:nvSpPr>
        <p:spPr/>
        <p:txBody>
          <a:bodyPr/>
          <a:lstStyle/>
          <a:p>
            <a:fld id="{186B55E0-8579-4FA9-BDC4-2D733933EE8B}" type="slidenum">
              <a:rPr lang="en-US" sz="1400" smtClean="0"/>
              <a:t>13</a:t>
            </a:fld>
            <a:endParaRPr lang="en-US" dirty="0"/>
          </a:p>
        </p:txBody>
      </p:sp>
    </p:spTree>
    <p:extLst>
      <p:ext uri="{BB962C8B-B14F-4D97-AF65-F5344CB8AC3E}">
        <p14:creationId xmlns:p14="http://schemas.microsoft.com/office/powerpoint/2010/main" val="3789718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EE227B-634E-40D9-EA35-0E54196D4858}"/>
              </a:ext>
            </a:extLst>
          </p:cNvPr>
          <p:cNvSpPr>
            <a:spLocks noGrp="1"/>
          </p:cNvSpPr>
          <p:nvPr>
            <p:ph idx="1"/>
          </p:nvPr>
        </p:nvSpPr>
        <p:spPr>
          <a:xfrm>
            <a:off x="3908059" y="2379785"/>
            <a:ext cx="7741749" cy="3229708"/>
          </a:xfrm>
        </p:spPr>
        <p:txBody>
          <a:bodyPr>
            <a:normAutofit/>
          </a:bodyPr>
          <a:lstStyle/>
          <a:p>
            <a:pPr marL="0" indent="0">
              <a:buNone/>
            </a:pPr>
            <a:r>
              <a:rPr lang="en-US" sz="8000" dirty="0">
                <a:latin typeface="Tenorite(b0ody)"/>
              </a:rPr>
              <a:t>THANK YOU</a:t>
            </a:r>
          </a:p>
        </p:txBody>
      </p:sp>
      <p:sp>
        <p:nvSpPr>
          <p:cNvPr id="4" name="Slide Number Placeholder 3">
            <a:extLst>
              <a:ext uri="{FF2B5EF4-FFF2-40B4-BE49-F238E27FC236}">
                <a16:creationId xmlns:a16="http://schemas.microsoft.com/office/drawing/2014/main" id="{24C0362F-6193-002D-A8EE-34D232928AF6}"/>
              </a:ext>
            </a:extLst>
          </p:cNvPr>
          <p:cNvSpPr>
            <a:spLocks noGrp="1"/>
          </p:cNvSpPr>
          <p:nvPr>
            <p:ph type="sldNum" sz="quarter" idx="12"/>
          </p:nvPr>
        </p:nvSpPr>
        <p:spPr/>
        <p:txBody>
          <a:bodyPr/>
          <a:lstStyle/>
          <a:p>
            <a:fld id="{186B55E0-8579-4FA9-BDC4-2D733933EE8B}" type="slidenum">
              <a:rPr lang="en-US" smtClean="0"/>
              <a:t>14</a:t>
            </a:fld>
            <a:endParaRPr lang="en-US"/>
          </a:p>
        </p:txBody>
      </p:sp>
    </p:spTree>
    <p:extLst>
      <p:ext uri="{BB962C8B-B14F-4D97-AF65-F5344CB8AC3E}">
        <p14:creationId xmlns:p14="http://schemas.microsoft.com/office/powerpoint/2010/main" val="165968398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535</TotalTime>
  <Words>1772</Words>
  <Application>Microsoft Office PowerPoint</Application>
  <PresentationFormat>Widescreen</PresentationFormat>
  <Paragraphs>137</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Arial Black</vt:lpstr>
      <vt:lpstr>Book Antiqua</vt:lpstr>
      <vt:lpstr>Calibri</vt:lpstr>
      <vt:lpstr>Century Gothic</vt:lpstr>
      <vt:lpstr>Tenorite(b0dy)</vt:lpstr>
      <vt:lpstr>Tenorite(b0ody)</vt:lpstr>
      <vt:lpstr>Tenorite(body)</vt:lpstr>
      <vt:lpstr>Times New Roman</vt:lpstr>
      <vt:lpstr>Wingdings 3</vt:lpstr>
      <vt:lpstr>Wisp</vt:lpstr>
      <vt:lpstr>General Viva (CCE-4832)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Viva</dc:title>
  <dc:creator>ZIA</dc:creator>
  <cp:lastModifiedBy>Md. Zia ul hassan chowdhury</cp:lastModifiedBy>
  <cp:revision>113</cp:revision>
  <dcterms:created xsi:type="dcterms:W3CDTF">2023-05-14T10:27:21Z</dcterms:created>
  <dcterms:modified xsi:type="dcterms:W3CDTF">2025-10-08T18:27:38Z</dcterms:modified>
</cp:coreProperties>
</file>